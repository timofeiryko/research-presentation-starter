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slides/charts/chart2.xml" ContentType="application/vnd.openxmlformats-officedocument.drawingml.chart+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617db5035c48a4" /><Relationship Type="http://schemas.openxmlformats.org/officeDocument/2006/relationships/extended-properties" Target="/docProps/app.xml" Id="R2d172421a3464a15" /><Relationship Type="http://schemas.openxmlformats.org/officeDocument/2006/relationships/officeDocument" Target="/ppt/presentation.xml" Id="R7f1024a1dc0e475b" /></Relationships>
</file>

<file path=ppt/presentation.xml><?xml version="1.0" encoding="utf-8"?>
<p:presentation xmlns:p="http://schemas.openxmlformats.org/presentationml/2006/main">
  <p:sldMasterIdLst>
    <p:sldMasterId xmlns:r="http://schemas.openxmlformats.org/officeDocument/2006/relationships" id="2147483648" r:id="Rd6a3262d14f04cf3"/>
  </p:sldMasterIdLst>
  <p:notesMasterIdLst>
    <p:notesMasterId xmlns:r="http://schemas.openxmlformats.org/officeDocument/2006/relationships" r:id="R1f779b3af1a74edc"/>
  </p:notesMasterIdLst>
  <p:sldIdLst>
    <p:sldId xmlns:r="http://schemas.openxmlformats.org/officeDocument/2006/relationships" id="256" r:id="R0275ab2311794b0a"/>
    <p:sldId xmlns:r="http://schemas.openxmlformats.org/officeDocument/2006/relationships" id="257" r:id="Rbe1df6523f6d4b7f"/>
    <p:sldId xmlns:r="http://schemas.openxmlformats.org/officeDocument/2006/relationships" id="258" r:id="Refeab6d301174743"/>
    <p:sldId xmlns:r="http://schemas.openxmlformats.org/officeDocument/2006/relationships" id="259" r:id="Rc4e561c3315c4832"/>
    <p:sldId xmlns:r="http://schemas.openxmlformats.org/officeDocument/2006/relationships" id="260" r:id="Rda16137629ca4782"/>
    <p:sldId xmlns:r="http://schemas.openxmlformats.org/officeDocument/2006/relationships" id="261" r:id="R349bffd1ecdf42f2"/>
    <p:sldId xmlns:r="http://schemas.openxmlformats.org/officeDocument/2006/relationships" id="262" r:id="R89bf93af313c48bb"/>
    <p:sldId xmlns:r="http://schemas.openxmlformats.org/officeDocument/2006/relationships" id="263" r:id="R5eea04e9edf14499"/>
    <p:sldId xmlns:r="http://schemas.openxmlformats.org/officeDocument/2006/relationships" id="264" r:id="Rb245762bda9e47c0"/>
    <p:sldId xmlns:r="http://schemas.openxmlformats.org/officeDocument/2006/relationships" id="265" r:id="R5fbb19c9899b4b08"/>
    <p:sldId xmlns:r="http://schemas.openxmlformats.org/officeDocument/2006/relationships" id="266" r:id="Rcfa679f939b14d9c"/>
    <p:sldId xmlns:r="http://schemas.openxmlformats.org/officeDocument/2006/relationships" id="267" r:id="R72191963c60e41a2"/>
    <p:sldId xmlns:r="http://schemas.openxmlformats.org/officeDocument/2006/relationships" id="268" r:id="R676581766b9a4ad7"/>
    <p:sldId xmlns:r="http://schemas.openxmlformats.org/officeDocument/2006/relationships" id="269" r:id="Re0c68e9f2e984420"/>
    <p:sldId xmlns:r="http://schemas.openxmlformats.org/officeDocument/2006/relationships" id="270" r:id="R24457b686aa54bc1"/>
    <p:sldId xmlns:r="http://schemas.openxmlformats.org/officeDocument/2006/relationships" id="271" r:id="Rb3c1960a89d24bf4"/>
    <p:sldId xmlns:r="http://schemas.openxmlformats.org/officeDocument/2006/relationships" id="272" r:id="R6e8dfe0ab150454c"/>
    <p:sldId xmlns:r="http://schemas.openxmlformats.org/officeDocument/2006/relationships" id="273" r:id="R713bf64cab7d457c"/>
    <p:sldId xmlns:r="http://schemas.openxmlformats.org/officeDocument/2006/relationships" id="274" r:id="R969f6053d6e543b4"/>
    <p:sldId xmlns:r="http://schemas.openxmlformats.org/officeDocument/2006/relationships" id="275" r:id="R70bea6fd47574abf"/>
    <p:sldId xmlns:r="http://schemas.openxmlformats.org/officeDocument/2006/relationships" id="276" r:id="R2011fe67bd864cac"/>
    <p:sldId xmlns:r="http://schemas.openxmlformats.org/officeDocument/2006/relationships" id="277" r:id="Rfafbad770243473a"/>
    <p:sldId xmlns:r="http://schemas.openxmlformats.org/officeDocument/2006/relationships" id="278" r:id="R73172fd746d54ef2"/>
    <p:sldId xmlns:r="http://schemas.openxmlformats.org/officeDocument/2006/relationships" id="279" r:id="Ra1ae922cfa694e1b"/>
    <p:sldId xmlns:r="http://schemas.openxmlformats.org/officeDocument/2006/relationships" id="280" r:id="R70e72002fbe8441e"/>
    <p:sldId xmlns:r="http://schemas.openxmlformats.org/officeDocument/2006/relationships" id="281" r:id="Recb2743179d040ac"/>
    <p:sldId xmlns:r="http://schemas.openxmlformats.org/officeDocument/2006/relationships" id="282" r:id="R68fe7ba1411a4a65"/>
    <p:sldId xmlns:r="http://schemas.openxmlformats.org/officeDocument/2006/relationships" id="283" r:id="R1748c2e9de54490c"/>
    <p:sldId xmlns:r="http://schemas.openxmlformats.org/officeDocument/2006/relationships" id="284" r:id="R991575435cd043dd"/>
    <p:sldId xmlns:r="http://schemas.openxmlformats.org/officeDocument/2006/relationships" id="285" r:id="Rd0898a6143f44ced"/>
    <p:sldId xmlns:r="http://schemas.openxmlformats.org/officeDocument/2006/relationships" id="286" r:id="R679f4162769c4829"/>
    <p:sldId xmlns:r="http://schemas.openxmlformats.org/officeDocument/2006/relationships" id="287" r:id="R03bb4d5b28c44293"/>
    <p:sldId xmlns:r="http://schemas.openxmlformats.org/officeDocument/2006/relationships" id="288" r:id="R387adaac1e354a6f"/>
    <p:sldId xmlns:r="http://schemas.openxmlformats.org/officeDocument/2006/relationships" id="289" r:id="Rcc63299ce7e6484a"/>
    <p:sldId xmlns:r="http://schemas.openxmlformats.org/officeDocument/2006/relationships" id="290" r:id="R29047ef5b1d14ca1"/>
    <p:sldId xmlns:r="http://schemas.openxmlformats.org/officeDocument/2006/relationships" id="291" r:id="R4728dd37ae65488f"/>
    <p:sldId xmlns:r="http://schemas.openxmlformats.org/officeDocument/2006/relationships" id="292" r:id="R45fafc02fbff4386"/>
    <p:sldId xmlns:r="http://schemas.openxmlformats.org/officeDocument/2006/relationships" id="293" r:id="Ra04a1770ea5946da"/>
    <p:sldId xmlns:r="http://schemas.openxmlformats.org/officeDocument/2006/relationships" id="294" r:id="R20b51569339f449e"/>
    <p:sldId xmlns:r="http://schemas.openxmlformats.org/officeDocument/2006/relationships" id="295" r:id="R411d9b714b944abb"/>
    <p:sldId xmlns:r="http://schemas.openxmlformats.org/officeDocument/2006/relationships" id="296" r:id="Rbbd522c58d8d4d0e"/>
    <p:sldId xmlns:r="http://schemas.openxmlformats.org/officeDocument/2006/relationships" id="297" r:id="Rba10e1bf696c42ea"/>
    <p:sldId xmlns:r="http://schemas.openxmlformats.org/officeDocument/2006/relationships" id="298" r:id="Rd02463831d914a42"/>
    <p:sldId xmlns:r="http://schemas.openxmlformats.org/officeDocument/2006/relationships" id="299" r:id="R294ba6618bc74d73"/>
    <p:sldId xmlns:r="http://schemas.openxmlformats.org/officeDocument/2006/relationships" id="300" r:id="Raa3d7156cc9a4422"/>
    <p:sldId xmlns:r="http://schemas.openxmlformats.org/officeDocument/2006/relationships" id="301" r:id="R50d695068b184bb8"/>
    <p:sldId xmlns:r="http://schemas.openxmlformats.org/officeDocument/2006/relationships" id="302" r:id="Rfd157e1099d8463c"/>
    <p:sldId xmlns:r="http://schemas.openxmlformats.org/officeDocument/2006/relationships" id="303" r:id="R1ab18edf26414a94"/>
    <p:sldId xmlns:r="http://schemas.openxmlformats.org/officeDocument/2006/relationships" id="304" r:id="R51f1cf851c404aac"/>
    <p:sldId xmlns:r="http://schemas.openxmlformats.org/officeDocument/2006/relationships" id="305" r:id="Reb6236c122f74e68"/>
    <p:sldId xmlns:r="http://schemas.openxmlformats.org/officeDocument/2006/relationships" id="306" r:id="R22c402061f3e48c1"/>
    <p:sldId xmlns:r="http://schemas.openxmlformats.org/officeDocument/2006/relationships" id="307" r:id="R5f3f46d22cc74614"/>
    <p:sldId xmlns:r="http://schemas.openxmlformats.org/officeDocument/2006/relationships" id="308" r:id="Rcd06a25e750747d8"/>
    <p:sldId xmlns:r="http://schemas.openxmlformats.org/officeDocument/2006/relationships" id="309" r:id="R0b98a479e9494e91"/>
    <p:sldId xmlns:r="http://schemas.openxmlformats.org/officeDocument/2006/relationships" id="310" r:id="R110dcbdd9e574657"/>
    <p:sldId xmlns:r="http://schemas.openxmlformats.org/officeDocument/2006/relationships" id="311" r:id="R594c368031f7432a"/>
    <p:sldId xmlns:r="http://schemas.openxmlformats.org/officeDocument/2006/relationships" id="312" r:id="R8d07ee2d8fdf4101"/>
    <p:sldId xmlns:r="http://schemas.openxmlformats.org/officeDocument/2006/relationships" id="313" r:id="R7ef218ad5c22479c"/>
    <p:sldId xmlns:r="http://schemas.openxmlformats.org/officeDocument/2006/relationships" id="314" r:id="R233be8c1afbc432e"/>
    <p:sldId xmlns:r="http://schemas.openxmlformats.org/officeDocument/2006/relationships" id="315" r:id="R0b20d660579744c9"/>
    <p:sldId xmlns:r="http://schemas.openxmlformats.org/officeDocument/2006/relationships" id="316" r:id="R1eff2f56e0234c68"/>
    <p:sldId xmlns:r="http://schemas.openxmlformats.org/officeDocument/2006/relationships" id="317" r:id="R29388458b6ec4fd1"/>
    <p:sldId xmlns:r="http://schemas.openxmlformats.org/officeDocument/2006/relationships" id="318" r:id="R2d549db0f0324275"/>
    <p:sldId xmlns:r="http://schemas.openxmlformats.org/officeDocument/2006/relationships" id="319" r:id="R5f6641ecebbb44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1288ef3fa4448f" /><Relationship Type="http://schemas.openxmlformats.org/officeDocument/2006/relationships/slideMaster" Target="/ppt/slideMasters/slideMaster1.xml" Id="Rd6a3262d14f04cf3" /><Relationship Type="http://schemas.openxmlformats.org/officeDocument/2006/relationships/notesMaster" Target="/ppt/notesMasters/notesMaster1.xml" Id="R1f779b3af1a74edc" /><Relationship Type="http://schemas.openxmlformats.org/officeDocument/2006/relationships/presProps" Target="/ppt/presProps.xml" Id="R3ebc2d73f36a4aa9" /><Relationship Type="http://schemas.openxmlformats.org/officeDocument/2006/relationships/tableStyles" Target="/ppt/tableStyles.xml" Id="Rbd96cdf3a4b8426a" /><Relationship Type="http://schemas.openxmlformats.org/officeDocument/2006/relationships/slide" Target="/ppt/slides/slide1.xml" Id="R0275ab2311794b0a" /><Relationship Type="http://schemas.openxmlformats.org/officeDocument/2006/relationships/slide" Target="/ppt/slides/slide2.xml" Id="Rbe1df6523f6d4b7f" /><Relationship Type="http://schemas.openxmlformats.org/officeDocument/2006/relationships/slide" Target="/ppt/slides/slide3.xml" Id="Refeab6d301174743" /><Relationship Type="http://schemas.openxmlformats.org/officeDocument/2006/relationships/slide" Target="/ppt/slides/slide4.xml" Id="Rc4e561c3315c4832" /><Relationship Type="http://schemas.openxmlformats.org/officeDocument/2006/relationships/slide" Target="/ppt/slides/slide5.xml" Id="Rda16137629ca4782" /><Relationship Type="http://schemas.openxmlformats.org/officeDocument/2006/relationships/slide" Target="/ppt/slides/slide6.xml" Id="R349bffd1ecdf42f2" /><Relationship Type="http://schemas.openxmlformats.org/officeDocument/2006/relationships/slide" Target="/ppt/slides/slide7.xml" Id="R89bf93af313c48bb" /><Relationship Type="http://schemas.openxmlformats.org/officeDocument/2006/relationships/slide" Target="/ppt/slides/slide8.xml" Id="R5eea04e9edf14499" /><Relationship Type="http://schemas.openxmlformats.org/officeDocument/2006/relationships/slide" Target="/ppt/slides/slide9.xml" Id="Rb245762bda9e47c0" /><Relationship Type="http://schemas.openxmlformats.org/officeDocument/2006/relationships/slide" Target="/ppt/slides/slide10.xml" Id="R5fbb19c9899b4b08" /><Relationship Type="http://schemas.openxmlformats.org/officeDocument/2006/relationships/slide" Target="/ppt/slides/slide11.xml" Id="Rcfa679f939b14d9c" /><Relationship Type="http://schemas.openxmlformats.org/officeDocument/2006/relationships/slide" Target="/ppt/slides/slide12.xml" Id="R72191963c60e41a2" /><Relationship Type="http://schemas.openxmlformats.org/officeDocument/2006/relationships/slide" Target="/ppt/slides/slide13.xml" Id="R676581766b9a4ad7" /><Relationship Type="http://schemas.openxmlformats.org/officeDocument/2006/relationships/slide" Target="/ppt/slides/slide14.xml" Id="Re0c68e9f2e984420" /><Relationship Type="http://schemas.openxmlformats.org/officeDocument/2006/relationships/slide" Target="/ppt/slides/slide15.xml" Id="R24457b686aa54bc1" /><Relationship Type="http://schemas.openxmlformats.org/officeDocument/2006/relationships/slide" Target="/ppt/slides/slide16.xml" Id="Rb3c1960a89d24bf4" /><Relationship Type="http://schemas.openxmlformats.org/officeDocument/2006/relationships/slide" Target="/ppt/slides/slide17.xml" Id="R6e8dfe0ab150454c" /><Relationship Type="http://schemas.openxmlformats.org/officeDocument/2006/relationships/slide" Target="/ppt/slides/slide18.xml" Id="R713bf64cab7d457c" /><Relationship Type="http://schemas.openxmlformats.org/officeDocument/2006/relationships/slide" Target="/ppt/slides/slide19.xml" Id="R969f6053d6e543b4" /><Relationship Type="http://schemas.openxmlformats.org/officeDocument/2006/relationships/slide" Target="/ppt/slides/slide20.xml" Id="R70bea6fd47574abf" /><Relationship Type="http://schemas.openxmlformats.org/officeDocument/2006/relationships/slide" Target="/ppt/slides/slide21.xml" Id="R2011fe67bd864cac" /><Relationship Type="http://schemas.openxmlformats.org/officeDocument/2006/relationships/slide" Target="/ppt/slides/slide22.xml" Id="Rfafbad770243473a" /><Relationship Type="http://schemas.openxmlformats.org/officeDocument/2006/relationships/slide" Target="/ppt/slides/slide23.xml" Id="R73172fd746d54ef2" /><Relationship Type="http://schemas.openxmlformats.org/officeDocument/2006/relationships/slide" Target="/ppt/slides/slide24.xml" Id="Ra1ae922cfa694e1b" /><Relationship Type="http://schemas.openxmlformats.org/officeDocument/2006/relationships/slide" Target="/ppt/slides/slide25.xml" Id="R70e72002fbe8441e" /><Relationship Type="http://schemas.openxmlformats.org/officeDocument/2006/relationships/slide" Target="/ppt/slides/slide26.xml" Id="Recb2743179d040ac" /><Relationship Type="http://schemas.openxmlformats.org/officeDocument/2006/relationships/slide" Target="/ppt/slides/slide27.xml" Id="R68fe7ba1411a4a65" /><Relationship Type="http://schemas.openxmlformats.org/officeDocument/2006/relationships/slide" Target="/ppt/slides/slide28.xml" Id="R1748c2e9de54490c" /><Relationship Type="http://schemas.openxmlformats.org/officeDocument/2006/relationships/slide" Target="/ppt/slides/slide29.xml" Id="R991575435cd043dd" /><Relationship Type="http://schemas.openxmlformats.org/officeDocument/2006/relationships/slide" Target="/ppt/slides/slide30.xml" Id="Rd0898a6143f44ced" /><Relationship Type="http://schemas.openxmlformats.org/officeDocument/2006/relationships/slide" Target="/ppt/slides/slide31.xml" Id="R679f4162769c4829" /><Relationship Type="http://schemas.openxmlformats.org/officeDocument/2006/relationships/slide" Target="/ppt/slides/slide32.xml" Id="R03bb4d5b28c44293" /><Relationship Type="http://schemas.openxmlformats.org/officeDocument/2006/relationships/slide" Target="/ppt/slides/slide33.xml" Id="R387adaac1e354a6f" /><Relationship Type="http://schemas.openxmlformats.org/officeDocument/2006/relationships/slide" Target="/ppt/slides/slide34.xml" Id="Rcc63299ce7e6484a" /><Relationship Type="http://schemas.openxmlformats.org/officeDocument/2006/relationships/slide" Target="/ppt/slides/slide35.xml" Id="R29047ef5b1d14ca1" /><Relationship Type="http://schemas.openxmlformats.org/officeDocument/2006/relationships/slide" Target="/ppt/slides/slide36.xml" Id="R4728dd37ae65488f" /><Relationship Type="http://schemas.openxmlformats.org/officeDocument/2006/relationships/slide" Target="/ppt/slides/slide37.xml" Id="R45fafc02fbff4386" /><Relationship Type="http://schemas.openxmlformats.org/officeDocument/2006/relationships/slide" Target="/ppt/slides/slide38.xml" Id="Ra04a1770ea5946da" /><Relationship Type="http://schemas.openxmlformats.org/officeDocument/2006/relationships/slide" Target="/ppt/slides/slide39.xml" Id="R20b51569339f449e" /><Relationship Type="http://schemas.openxmlformats.org/officeDocument/2006/relationships/slide" Target="/ppt/slides/slide40.xml" Id="R411d9b714b944abb" /><Relationship Type="http://schemas.openxmlformats.org/officeDocument/2006/relationships/slide" Target="/ppt/slides/slide41.xml" Id="Rbbd522c58d8d4d0e" /><Relationship Type="http://schemas.openxmlformats.org/officeDocument/2006/relationships/slide" Target="/ppt/slides/slide42.xml" Id="Rba10e1bf696c42ea" /><Relationship Type="http://schemas.openxmlformats.org/officeDocument/2006/relationships/slide" Target="/ppt/slides/slide43.xml" Id="Rd02463831d914a42" /><Relationship Type="http://schemas.openxmlformats.org/officeDocument/2006/relationships/slide" Target="/ppt/slides/slide44.xml" Id="R294ba6618bc74d73" /><Relationship Type="http://schemas.openxmlformats.org/officeDocument/2006/relationships/slide" Target="/ppt/slides/slide45.xml" Id="Raa3d7156cc9a4422" /><Relationship Type="http://schemas.openxmlformats.org/officeDocument/2006/relationships/slide" Target="/ppt/slides/slide46.xml" Id="R50d695068b184bb8" /><Relationship Type="http://schemas.openxmlformats.org/officeDocument/2006/relationships/slide" Target="/ppt/slides/slide47.xml" Id="Rfd157e1099d8463c" /><Relationship Type="http://schemas.openxmlformats.org/officeDocument/2006/relationships/slide" Target="/ppt/slides/slide48.xml" Id="R1ab18edf26414a94" /><Relationship Type="http://schemas.openxmlformats.org/officeDocument/2006/relationships/slide" Target="/ppt/slides/slide49.xml" Id="R51f1cf851c404aac" /><Relationship Type="http://schemas.openxmlformats.org/officeDocument/2006/relationships/slide" Target="/ppt/slides/slide50.xml" Id="Reb6236c122f74e68" /><Relationship Type="http://schemas.openxmlformats.org/officeDocument/2006/relationships/slide" Target="/ppt/slides/slide51.xml" Id="R22c402061f3e48c1" /><Relationship Type="http://schemas.openxmlformats.org/officeDocument/2006/relationships/slide" Target="/ppt/slides/slide52.xml" Id="R5f3f46d22cc74614" /><Relationship Type="http://schemas.openxmlformats.org/officeDocument/2006/relationships/slide" Target="/ppt/slides/slide53.xml" Id="Rcd06a25e750747d8" /><Relationship Type="http://schemas.openxmlformats.org/officeDocument/2006/relationships/slide" Target="/ppt/slides/slide54.xml" Id="R0b98a479e9494e91" /><Relationship Type="http://schemas.openxmlformats.org/officeDocument/2006/relationships/slide" Target="/ppt/slides/slide55.xml" Id="R110dcbdd9e574657" /><Relationship Type="http://schemas.openxmlformats.org/officeDocument/2006/relationships/slide" Target="/ppt/slides/slide56.xml" Id="R594c368031f7432a" /><Relationship Type="http://schemas.openxmlformats.org/officeDocument/2006/relationships/slide" Target="/ppt/slides/slide57.xml" Id="R8d07ee2d8fdf4101" /><Relationship Type="http://schemas.openxmlformats.org/officeDocument/2006/relationships/slide" Target="/ppt/slides/slide58.xml" Id="R7ef218ad5c22479c" /><Relationship Type="http://schemas.openxmlformats.org/officeDocument/2006/relationships/slide" Target="/ppt/slides/slide59.xml" Id="R233be8c1afbc432e" /><Relationship Type="http://schemas.openxmlformats.org/officeDocument/2006/relationships/slide" Target="/ppt/slides/slide60.xml" Id="R0b20d660579744c9" /><Relationship Type="http://schemas.openxmlformats.org/officeDocument/2006/relationships/slide" Target="/ppt/slides/slide61.xml" Id="R1eff2f56e0234c68" /><Relationship Type="http://schemas.openxmlformats.org/officeDocument/2006/relationships/slide" Target="/ppt/slides/slide62.xml" Id="R29388458b6ec4fd1" /><Relationship Type="http://schemas.openxmlformats.org/officeDocument/2006/relationships/slide" Target="/ppt/slides/slide63.xml" Id="R2d549db0f0324275" /><Relationship Type="http://schemas.openxmlformats.org/officeDocument/2006/relationships/slide" Target="/ppt/slides/slide64.xml" Id="R5f6641ecebbb44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10c79341ac4c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9008f458b745c5" /><Relationship Type="http://schemas.openxmlformats.org/officeDocument/2006/relationships/notesMaster" Target="/ppt/notesMasters/notesMaster1.xml" Id="R1159b125986c49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e0cac8598a4b2f" /><Relationship Type="http://schemas.openxmlformats.org/officeDocument/2006/relationships/notesMaster" Target="/ppt/notesMasters/notesMaster1.xml" Id="R68a97968af0c40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1cf1a480384197" /><Relationship Type="http://schemas.openxmlformats.org/officeDocument/2006/relationships/notesMaster" Target="/ppt/notesMasters/notesMaster1.xml" Id="Rc9ffd800b8ac42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e935c0d25b437e" /><Relationship Type="http://schemas.openxmlformats.org/officeDocument/2006/relationships/notesMaster" Target="/ppt/notesMasters/notesMaster1.xml" Id="Ra13048eccf3c41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f6df30ecb44db4" /><Relationship Type="http://schemas.openxmlformats.org/officeDocument/2006/relationships/notesMaster" Target="/ppt/notesMasters/notesMaster1.xml" Id="Rc17d876b8f074d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53985c3fbc411c" /><Relationship Type="http://schemas.openxmlformats.org/officeDocument/2006/relationships/notesMaster" Target="/ppt/notesMasters/notesMaster1.xml" Id="R869f21926f704d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ef12de576f4cbc" /><Relationship Type="http://schemas.openxmlformats.org/officeDocument/2006/relationships/notesMaster" Target="/ppt/notesMasters/notesMaster1.xml" Id="Rb6aa05378ee34c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70b9f3a8854a4d" /><Relationship Type="http://schemas.openxmlformats.org/officeDocument/2006/relationships/notesMaster" Target="/ppt/notesMasters/notesMaster1.xml" Id="R4adffe73cec543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592ea1baa24b35" /><Relationship Type="http://schemas.openxmlformats.org/officeDocument/2006/relationships/notesMaster" Target="/ppt/notesMasters/notesMaster1.xml" Id="R0b191293d58743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d280bff5e14c24" /><Relationship Type="http://schemas.openxmlformats.org/officeDocument/2006/relationships/notesMaster" Target="/ppt/notesMasters/notesMaster1.xml" Id="R1462bc74ad6f4e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56fe9ddbd4401f" /><Relationship Type="http://schemas.openxmlformats.org/officeDocument/2006/relationships/notesMaster" Target="/ppt/notesMasters/notesMaster1.xml" Id="Rfaa01296e6de4a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75777b028f429e" /><Relationship Type="http://schemas.openxmlformats.org/officeDocument/2006/relationships/notesMaster" Target="/ppt/notesMasters/notesMaster1.xml" Id="R70e99f8f722145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355a8bb4a4486e" /><Relationship Type="http://schemas.openxmlformats.org/officeDocument/2006/relationships/notesMaster" Target="/ppt/notesMasters/notesMaster1.xml" Id="R16b108b113224d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50fcf6da7e4359" /><Relationship Type="http://schemas.openxmlformats.org/officeDocument/2006/relationships/notesMaster" Target="/ppt/notesMasters/notesMaster1.xml" Id="R3705ea9ea92d4e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21d3d59292a463c" /><Relationship Type="http://schemas.openxmlformats.org/officeDocument/2006/relationships/notesMaster" Target="/ppt/notesMasters/notesMaster1.xml" Id="R1d7c0c6552d64c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d32f340ef842f9" /><Relationship Type="http://schemas.openxmlformats.org/officeDocument/2006/relationships/notesMaster" Target="/ppt/notesMasters/notesMaster1.xml" Id="R74fee017a90a43d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098b22ab7d4d7b" /><Relationship Type="http://schemas.openxmlformats.org/officeDocument/2006/relationships/notesMaster" Target="/ppt/notesMasters/notesMaster1.xml" Id="Rd2f476ca99484ae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11c6a9226140a5" /><Relationship Type="http://schemas.openxmlformats.org/officeDocument/2006/relationships/notesMaster" Target="/ppt/notesMasters/notesMaster1.xml" Id="Rb63540d89f5648f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e67d29a4f774c0d" /><Relationship Type="http://schemas.openxmlformats.org/officeDocument/2006/relationships/notesMaster" Target="/ppt/notesMasters/notesMaster1.xml" Id="Rc01fccb3324c43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38a7c6f59944e71" /><Relationship Type="http://schemas.openxmlformats.org/officeDocument/2006/relationships/notesMaster" Target="/ppt/notesMasters/notesMaster1.xml" Id="R79e6a693a76c4e2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837b04621fe4adb" /><Relationship Type="http://schemas.openxmlformats.org/officeDocument/2006/relationships/notesMaster" Target="/ppt/notesMasters/notesMaster1.xml" Id="R59c9442b105a40e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c13a9bfe6341c3" /><Relationship Type="http://schemas.openxmlformats.org/officeDocument/2006/relationships/notesMaster" Target="/ppt/notesMasters/notesMaster1.xml" Id="Ref6403e221ab4d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390103711b4e3d" /><Relationship Type="http://schemas.openxmlformats.org/officeDocument/2006/relationships/notesMaster" Target="/ppt/notesMasters/notesMaster1.xml" Id="R34aa7dd92a2a412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3ad8f4a7d754ea5" /><Relationship Type="http://schemas.openxmlformats.org/officeDocument/2006/relationships/notesMaster" Target="/ppt/notesMasters/notesMaster1.xml" Id="R59f012e2a38947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d8a3c5b79624b86" /><Relationship Type="http://schemas.openxmlformats.org/officeDocument/2006/relationships/notesMaster" Target="/ppt/notesMasters/notesMaster1.xml" Id="Rb778380e0f8341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753b0ae3b60488d" /><Relationship Type="http://schemas.openxmlformats.org/officeDocument/2006/relationships/notesMaster" Target="/ppt/notesMasters/notesMaster1.xml" Id="Rf19c77d024d0448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d11cb71a82b4d19" /><Relationship Type="http://schemas.openxmlformats.org/officeDocument/2006/relationships/notesMaster" Target="/ppt/notesMasters/notesMaster1.xml" Id="R6da12e4335f74e4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048b7dee76a4a2b" /><Relationship Type="http://schemas.openxmlformats.org/officeDocument/2006/relationships/notesMaster" Target="/ppt/notesMasters/notesMaster1.xml" Id="R3a0fc54357f348e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4c9d99a5db343b6" /><Relationship Type="http://schemas.openxmlformats.org/officeDocument/2006/relationships/notesMaster" Target="/ppt/notesMasters/notesMaster1.xml" Id="R0fa26affd83a4f0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8a217645c674182" /><Relationship Type="http://schemas.openxmlformats.org/officeDocument/2006/relationships/notesMaster" Target="/ppt/notesMasters/notesMaster1.xml" Id="Rf85a46a9c88d449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3a21921c8f84ad3" /><Relationship Type="http://schemas.openxmlformats.org/officeDocument/2006/relationships/notesMaster" Target="/ppt/notesMasters/notesMaster1.xml" Id="R331ab3ed89f04e8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698b791348144bb" /><Relationship Type="http://schemas.openxmlformats.org/officeDocument/2006/relationships/notesMaster" Target="/ppt/notesMasters/notesMaster1.xml" Id="R7f66f7f6ebd1427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6fa5a15ff764d59" /><Relationship Type="http://schemas.openxmlformats.org/officeDocument/2006/relationships/notesMaster" Target="/ppt/notesMasters/notesMaster1.xml" Id="R511a050c264e43a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e357edb160442b4" /><Relationship Type="http://schemas.openxmlformats.org/officeDocument/2006/relationships/notesMaster" Target="/ppt/notesMasters/notesMaster1.xml" Id="Rd197d576b0e5433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f41292746ba4485" /><Relationship Type="http://schemas.openxmlformats.org/officeDocument/2006/relationships/notesMaster" Target="/ppt/notesMasters/notesMaster1.xml" Id="Raec2f4a6799b4e4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7f23b2d5d2944c4" /><Relationship Type="http://schemas.openxmlformats.org/officeDocument/2006/relationships/notesMaster" Target="/ppt/notesMasters/notesMaster1.xml" Id="R6e0db70e393c425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ca11b2125d64f0e" /><Relationship Type="http://schemas.openxmlformats.org/officeDocument/2006/relationships/notesMaster" Target="/ppt/notesMasters/notesMaster1.xml" Id="R893f729a2a4a4d5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392ca45f0b143f5" /><Relationship Type="http://schemas.openxmlformats.org/officeDocument/2006/relationships/notesMaster" Target="/ppt/notesMasters/notesMaster1.xml" Id="Re6b0a6414f6f4e8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0925ba2f3644d13" /><Relationship Type="http://schemas.openxmlformats.org/officeDocument/2006/relationships/notesMaster" Target="/ppt/notesMasters/notesMaster1.xml" Id="R74eb9832ccc54da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b77980119f04005" /><Relationship Type="http://schemas.openxmlformats.org/officeDocument/2006/relationships/notesMaster" Target="/ppt/notesMasters/notesMaster1.xml" Id="Ra92a0613e2ca4e5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af3d838c0844b6f" /><Relationship Type="http://schemas.openxmlformats.org/officeDocument/2006/relationships/notesMaster" Target="/ppt/notesMasters/notesMaster1.xml" Id="Rfe5d7861ae1b4e8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829c89703ad4fec" /><Relationship Type="http://schemas.openxmlformats.org/officeDocument/2006/relationships/notesMaster" Target="/ppt/notesMasters/notesMaster1.xml" Id="Rbf3ae7e780964c6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509272fd7114b2f" /><Relationship Type="http://schemas.openxmlformats.org/officeDocument/2006/relationships/notesMaster" Target="/ppt/notesMasters/notesMaster1.xml" Id="R65572d846707462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ebfc08ddba0494d" /><Relationship Type="http://schemas.openxmlformats.org/officeDocument/2006/relationships/notesMaster" Target="/ppt/notesMasters/notesMaster1.xml" Id="Red1fb507fc46474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77a2537833741e3" /><Relationship Type="http://schemas.openxmlformats.org/officeDocument/2006/relationships/notesMaster" Target="/ppt/notesMasters/notesMaster1.xml" Id="R857ce202410a413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c1648cb84b74720" /><Relationship Type="http://schemas.openxmlformats.org/officeDocument/2006/relationships/notesMaster" Target="/ppt/notesMasters/notesMaster1.xml" Id="Ra1ee39cd66c14f2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77aebd38d894012" /><Relationship Type="http://schemas.openxmlformats.org/officeDocument/2006/relationships/notesMaster" Target="/ppt/notesMasters/notesMaster1.xml" Id="R98d76beea27c4be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50b02d63bda4118" /><Relationship Type="http://schemas.openxmlformats.org/officeDocument/2006/relationships/notesMaster" Target="/ppt/notesMasters/notesMaster1.xml" Id="Rdc706981538140b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6e06cfd57754377" /><Relationship Type="http://schemas.openxmlformats.org/officeDocument/2006/relationships/notesMaster" Target="/ppt/notesMasters/notesMaster1.xml" Id="R74b987ef73b14de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e19ba21cd0a419a" /><Relationship Type="http://schemas.openxmlformats.org/officeDocument/2006/relationships/notesMaster" Target="/ppt/notesMasters/notesMaster1.xml" Id="R959a8afe1c164c8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17334e0c3e3494d" /><Relationship Type="http://schemas.openxmlformats.org/officeDocument/2006/relationships/notesMaster" Target="/ppt/notesMasters/notesMaster1.xml" Id="R2aecec949791478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172ff18b4634e8c" /><Relationship Type="http://schemas.openxmlformats.org/officeDocument/2006/relationships/notesMaster" Target="/ppt/notesMasters/notesMaster1.xml" Id="Rdeb0cfe7f064484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ccdc9d06c064789" /><Relationship Type="http://schemas.openxmlformats.org/officeDocument/2006/relationships/notesMaster" Target="/ppt/notesMasters/notesMaster1.xml" Id="Rd48df8717027483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da9c3360da34b2b" /><Relationship Type="http://schemas.openxmlformats.org/officeDocument/2006/relationships/notesMaster" Target="/ppt/notesMasters/notesMaster1.xml" Id="Rb7bfda5ca75d44d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b7084b2fd4f46c3" /><Relationship Type="http://schemas.openxmlformats.org/officeDocument/2006/relationships/notesMaster" Target="/ppt/notesMasters/notesMaster1.xml" Id="Rf4a0d53f0361472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785d45ea2574512" /><Relationship Type="http://schemas.openxmlformats.org/officeDocument/2006/relationships/notesMaster" Target="/ppt/notesMasters/notesMaster1.xml" Id="Rb9787579b3dd4e7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cae8a80275a4ad0" /><Relationship Type="http://schemas.openxmlformats.org/officeDocument/2006/relationships/notesMaster" Target="/ppt/notesMasters/notesMaster1.xml" Id="R164d954e1e1d417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aac6051c25f4516" /><Relationship Type="http://schemas.openxmlformats.org/officeDocument/2006/relationships/notesMaster" Target="/ppt/notesMasters/notesMaster1.xml" Id="Re189de626b79411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f0fa4a0bef347dd" /><Relationship Type="http://schemas.openxmlformats.org/officeDocument/2006/relationships/notesMaster" Target="/ppt/notesMasters/notesMaster1.xml" Id="R4db5674eae3a4df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102f0260b514689" /><Relationship Type="http://schemas.openxmlformats.org/officeDocument/2006/relationships/notesMaster" Target="/ppt/notesMasters/notesMaster1.xml" Id="Re45efc6988a24a0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3b95c659b4a4a4f" /><Relationship Type="http://schemas.openxmlformats.org/officeDocument/2006/relationships/notesMaster" Target="/ppt/notesMasters/notesMaster1.xml" Id="Re8dda71babc640f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86f8a86dbd34649" /><Relationship Type="http://schemas.openxmlformats.org/officeDocument/2006/relationships/notesMaster" Target="/ppt/notesMasters/notesMaster1.xml" Id="Rc983f63fc4f9402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137167c1c3a4fa7" /><Relationship Type="http://schemas.openxmlformats.org/officeDocument/2006/relationships/notesMaster" Target="/ppt/notesMasters/notesMaster1.xml" Id="R0b1f9e694fdd4f3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14543e54aff4b87" /><Relationship Type="http://schemas.openxmlformats.org/officeDocument/2006/relationships/notesMaster" Target="/ppt/notesMasters/notesMaster1.xml" Id="R2408a3630fc24d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Предлагаем гипотетическое покрытосеменное дерево с сезонными щёлкающими органами. Сигнал через воздух сообщает социальным летучим мышам о запасе нектара; это позволяет менять стратегию привлечения сородичей. Новое сообщение растения и поведение в ответ являются гипотезами модели.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Вопросы из условия задачи №9. Основная часть отвечает на каждый из них.</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Рабочие границы терминов заданы для решения: высшие растения — Embryophyta, животные — Eumetazoa. Рассматриваемая модель принадлежит покрытосеменным, то есть наземным высшим растениям. В физике звук может распространяться и в твёрдых телах, но в данной работе связь только через ветвь исключена: между источником и получателем обязателен участок воздушного или водного пути.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Преимущество перед химической связью связано с тем, что для передачи звука не требуется переносить молекулы сигнала от растения к адресату. Звук распространяется относительно среды и может идти против ветра или течения. Это не означает постоянный радиус: градиенты скорости ветра и температуры преломляют звуковые лучи, турбулентность, поглощение и шум меняют слышимость. Особенно на больших расстояниях различия по ветру и против него могут быть велики. Рабочая формулировка относится к меньшей зависимости от направления адвективного переноса по сравнению с переносом сигнальных веществ ветром или потоком воды. Источник о влиянии ветра: N. Ovenden, Acoustical Society of America, 2011, https://acoustics.org/pressroom/httpdocs/161st/Ovenden.html. Скорость: 10/343≈0,029 с, без задержек генератора и получателя.</a:t>
            </a:r>
          </a:p>
          <a:p xmlns:a="http://schemas.openxmlformats.org/drawingml/2006/main">
            <a:r>
              <a:t/>
            </a:r>
          </a:p>
          <a:p xmlns:a="http://schemas.openxmlformats.org/drawingml/2006/main">
            <a:r>
              <a:t>[11] OpenStax, University Physics, т. 1</a:t>
            </a:r>
          </a:p>
          <a:p xmlns:a="http://schemas.openxmlformats.org/drawingml/2006/main">
            <a:r>
              <a:t>Разделы 17.2–17.3: скорость и интенсивность звука, сферическое расхождение, децибелы.</a:t>
            </a:r>
          </a:p>
          <a:p xmlns:a="http://schemas.openxmlformats.org/drawingml/2006/main">
            <a:r>
              <a:t>https://openstax.org/books/university-physics-volume-1/pages/17-3-sound-intensity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Показаны функциональные части коммуникационной системы без привязки к конкретному содержанию сообщений. Генератор создаёт механические колебания, внешняя среда передаёт их. В приёмнике механорецепторы преобразуют механическое воздействие в электрические изменения; нервная система анализирует сигнал и управляет реакцией. Система кодировки задаёт соответствие между параметрами сигнала и сообщением и связывает генератор с приёмником. Это соответствие может закрепляться обучением и естественным отбором.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Генератор по условию должен находиться у растения. Получателем выбираем животное с уже существующей системой слухового анализа. Уточнение достаточно развитых органов относится к выбранному животному, а не ко всем Eumetazoa.</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Скорость не равна дальности. В открытой воде многие сигналы могут передаваться далеко, но на мелководье важны отражения от дна и поверхности, пузыри и растительность. Нельзя обещать большую дальность любому небольшому органу только из-за выбора воды. У Thalassia testudinum экспериментально показано участие мелких беспозвоночных в опылении в опытах без потока воды. Это цветковое растение с дифференцированными тканями. Однако работа не доказывает развитого слуха этих животных и различения ими звуковых сообщений. Рыбы могут быть полезны для переноса семян и регулирования потребителей, но обобщать это на опыление и защиту конкретной морской травы нельзя. Выбор суши — результат подбора пары организмов в этом решении, а не физическая непригодность воды.</a:t>
            </a:r>
          </a:p>
          <a:p xmlns:a="http://schemas.openxmlformats.org/drawingml/2006/main">
            <a:r>
              <a:t/>
            </a:r>
          </a:p>
          <a:p xmlns:a="http://schemas.openxmlformats.org/drawingml/2006/main">
            <a:r>
              <a:t>[1] van Tussenbroek et al., 2016</a:t>
            </a:r>
          </a:p>
          <a:p xmlns:a="http://schemas.openxmlformats.org/drawingml/2006/main">
            <a:r>
              <a:t>Experimental evidence of pollination in marine flowers by invertebrate fauna. Nature Communications 7, 12980.</a:t>
            </a:r>
          </a:p>
          <a:p xmlns:a="http://schemas.openxmlformats.org/drawingml/2006/main">
            <a:r>
              <a:t>https://doi.org/10.1038/ncomms12980</a:t>
            </a:r>
          </a:p>
          <a:p xmlns:a="http://schemas.openxmlformats.org/drawingml/2006/main">
            <a:r>
              <a:t/>
            </a:r>
          </a:p>
          <a:p xmlns:a="http://schemas.openxmlformats.org/drawingml/2006/main">
            <a:r>
              <a:t>[11] OpenStax, University Physics, т. 1</a:t>
            </a:r>
          </a:p>
          <a:p xmlns:a="http://schemas.openxmlformats.org/drawingml/2006/main">
            <a:r>
              <a:t>Разделы 17.2–17.3: скорость и интенсивность звука, сферическое расхождение, децибелы.</a:t>
            </a:r>
          </a:p>
          <a:p xmlns:a="http://schemas.openxmlformats.org/drawingml/2006/main">
            <a:r>
              <a:t>https://openstax.org/books/university-physics-volume-1/pages/17-3-sound-intensity</a:t>
            </a:r>
          </a:p>
          <a:p xmlns:a="http://schemas.openxmlformats.org/drawingml/2006/main">
            <a:r>
              <a:t/>
            </a:r>
          </a:p>
          <a:p xmlns:a="http://schemas.openxmlformats.org/drawingml/2006/main">
            <a:r>
              <a:t>[13] NOAA, National Ocean Service</a:t>
            </a:r>
          </a:p>
          <a:p xmlns:a="http://schemas.openxmlformats.org/drawingml/2006/main">
            <a:r>
              <a:t>How far does sound travel in the ocean? Скорость и влияние условий среды на распространение.</a:t>
            </a:r>
          </a:p>
          <a:p xmlns:a="http://schemas.openxmlformats.org/drawingml/2006/main">
            <a:r>
              <a:t>https://oceanservice.noaa.gov/facts/sound.html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Условные оценки относятся к доставке внешнего сигнала на метры в растительной среде. Для скорости сравниваем приход уже сформированного сигнала, не скорость физиологического переключения источника. Дальность нельзя ранжировать без мощности, среды и чувствительности получателя, поэтому стоят условные ± с объяснениями. Для света препятствия ограничивают прямую видимость. Вещества могут переноситься далеко течением. В последней строке сравнивается кодирование параметрами волнового сигнала: частота определяет высоту чистого тона у звука и цвет монохроматического света; длительность можно менять у обоих. Оба плюса предполагают источник, способный менять соответствующие параметры, и получателя, который их различает. Это возможность канала, а не утверждение, что растение быстро меняет окраску. Химические сигналы кодируют информацию составом и концентрацией, возможны и серии выбросов; в рассматриваемой среде перенос и сохранение вещества затрудняют передачу чётких коротких импульсов.</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Крупный размер не является универсальным условием звукообразования. Он выбран для предлагаемого сантиметрового органа. Социальность желательна, но не обязательна: достаточно индивидуального обучения. У выбранных летучих мышей известны слух и социальные сигналы, но распознавание сообщений данного гипотетического растения не установлено.</a:t>
            </a:r>
          </a:p>
          <a:p xmlns:a="http://schemas.openxmlformats.org/drawingml/2006/main">
            <a:r>
              <a:t/>
            </a:r>
          </a:p>
          <a:p xmlns:a="http://schemas.openxmlformats.org/drawingml/2006/main">
            <a:r>
              <a:t>[8] Calderón-Capote et al., 2025</a:t>
            </a:r>
          </a:p>
          <a:p xmlns:a="http://schemas.openxmlformats.org/drawingml/2006/main">
            <a:r>
              <a:t>Intraspecific variability of social structure and linked foraging behavior in Phyllostomus hastatus. PLOS ONE 20, e0313782.</a:t>
            </a:r>
          </a:p>
          <a:p xmlns:a="http://schemas.openxmlformats.org/drawingml/2006/main">
            <a:r>
              <a:t>https://doi.org/10.1371/journal.pone.0313782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Предлагаем дерево с ночными соцветиями по мотивам бальсы Ochroma pyramidale. Само звучащее дерево и его органы гипотетические. У реального P. hastatus есть чувствительный слух и звуковая координация группового кормления в популяции Тринидада; это не универсальная характеристика всех популяций. В модели животное учится связывать сообщения растения с доступностью нектара. Целевой радиус сигнала — около 20 м, в пределах которого животные могут изменить маршрут. Передача сигнала о нападении насекомых и переключение на охоту — дополнительная гипотеза. Смешанное питание выбранного вида известно, включая нектар и насекомых.</a:t>
            </a:r>
          </a:p>
          <a:p xmlns:a="http://schemas.openxmlformats.org/drawingml/2006/main">
            <a:r>
              <a:t/>
            </a:r>
          </a:p>
          <a:p xmlns:a="http://schemas.openxmlformats.org/drawingml/2006/main">
            <a:r>
              <a:t>[5] Koay et al., 2002</a:t>
            </a:r>
          </a:p>
          <a:p xmlns:a="http://schemas.openxmlformats.org/drawingml/2006/main">
            <a:r>
              <a:t>Hearing in American leaf-nosed bats. I: Phyllostomus hastatus. Hearing Research 171, 96–102.</a:t>
            </a:r>
          </a:p>
          <a:p xmlns:a="http://schemas.openxmlformats.org/drawingml/2006/main">
            <a:r>
              <a:t>https://doi.org/10.1016/S0378-5955(02)00458-6</a:t>
            </a:r>
          </a:p>
          <a:p xmlns:a="http://schemas.openxmlformats.org/drawingml/2006/main">
            <a:r>
              <a:t/>
            </a:r>
          </a:p>
          <a:p xmlns:a="http://schemas.openxmlformats.org/drawingml/2006/main">
            <a:r>
              <a:t>[6] Wilkinson &amp; Boughman, 1998</a:t>
            </a:r>
          </a:p>
          <a:p xmlns:a="http://schemas.openxmlformats.org/drawingml/2006/main">
            <a:r>
              <a:t>Social calls coordinate foraging in greater spear-nosed bats. Animal Behaviour 55, 337–350.</a:t>
            </a:r>
          </a:p>
          <a:p xmlns:a="http://schemas.openxmlformats.org/drawingml/2006/main">
            <a:r>
              <a:t>https://doi.org/10.1006/anbe.1997.0557</a:t>
            </a:r>
          </a:p>
          <a:p xmlns:a="http://schemas.openxmlformats.org/drawingml/2006/main">
            <a:r>
              <a:t/>
            </a:r>
          </a:p>
          <a:p xmlns:a="http://schemas.openxmlformats.org/drawingml/2006/main">
            <a:r>
              <a:t>[7] Kays et al., 2012</a:t>
            </a:r>
          </a:p>
          <a:p xmlns:a="http://schemas.openxmlformats.org/drawingml/2006/main">
            <a:r>
              <a:t>Animal visitation and pollination of flowering balsa trees (Ochroma pyramidale) in Panama. Mesoamericana 16(3).</a:t>
            </a:r>
          </a:p>
          <a:p xmlns:a="http://schemas.openxmlformats.org/drawingml/2006/main">
            <a:r>
              <a:t>https://research.si.edu/publication-details/?id=115785</a:t>
            </a:r>
          </a:p>
          <a:p xmlns:a="http://schemas.openxmlformats.org/drawingml/2006/main">
            <a:r>
              <a:t/>
            </a:r>
          </a:p>
          <a:p xmlns:a="http://schemas.openxmlformats.org/drawingml/2006/main">
            <a:r>
              <a:t>[8] Calderón-Capote et al., 2025</a:t>
            </a:r>
          </a:p>
          <a:p xmlns:a="http://schemas.openxmlformats.org/drawingml/2006/main">
            <a:r>
              <a:t>Intraspecific variability of social structure and linked foraging behavior in Phyllostomus hastatus. PLOS ONE 20, e0313782.</a:t>
            </a:r>
          </a:p>
          <a:p xmlns:a="http://schemas.openxmlformats.org/drawingml/2006/main">
            <a:r>
              <a:t>https://doi.org/10.1371/journal.pone.0313782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Натуралистическая иллюстрация гипотетического дерева, сгенерирована imagegen. Звуковой орган рядом с цветками не существует как описанный природный объект. Первая мышь могла бы обследовать цветки сама, но сообщение экономит время, если надёжно передаёт актуальный запас. Известны социальные крики при кормлении, но считывание растительного сигнала и экономия времени в модели ещё не показаны.</a:t>
            </a:r>
          </a:p>
          <a:p xmlns:a="http://schemas.openxmlformats.org/drawingml/2006/main">
            <a:r>
              <a:t/>
            </a:r>
          </a:p>
          <a:p xmlns:a="http://schemas.openxmlformats.org/drawingml/2006/main">
            <a:r>
              <a:t>[6] Wilkinson &amp; Boughman, 1998</a:t>
            </a:r>
          </a:p>
          <a:p xmlns:a="http://schemas.openxmlformats.org/drawingml/2006/main">
            <a:r>
              <a:t>Social calls coordinate foraging in greater spear-nosed bats. Animal Behaviour 55, 337–350.</a:t>
            </a:r>
          </a:p>
          <a:p xmlns:a="http://schemas.openxmlformats.org/drawingml/2006/main">
            <a:r>
              <a:t>https://doi.org/10.1006/anbe.1997.0557</a:t>
            </a:r>
          </a:p>
          <a:p xmlns:a="http://schemas.openxmlformats.org/drawingml/2006/main">
            <a:r>
              <a:t/>
            </a:r>
          </a:p>
          <a:p xmlns:a="http://schemas.openxmlformats.org/drawingml/2006/main">
            <a:r>
              <a:t>[8] Calderón-Capote et al., 2025</a:t>
            </a:r>
          </a:p>
          <a:p xmlns:a="http://schemas.openxmlformats.org/drawingml/2006/main">
            <a:r>
              <a:t>Intraspecific variability of social structure and linked foraging behavior in Phyllostomus hastatus. PLOS ONE 20, e0313782.</a:t>
            </a:r>
          </a:p>
          <a:p xmlns:a="http://schemas.openxmlformats.org/drawingml/2006/main">
            <a:r>
              <a:t>https://doi.org/10.1371/journal.pone.0313782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Все связи между сообщением растения и реакцией животного являются гипотезами модели. Смешанный рацион P. hastatus включает насекомых и растительную пищу. Употребление жуков подтверждено, но их принадлежность к вредителям этого растения и распознавание нового сигнала не установлены. Сообщение о повреждении сообщает о возможной добыче, а не гарантирует её наличие: при ненадёжной связи животное перестанет реагировать. Пустое соцветие передаёт отдельную серию при истощении, затем прекращает регулярную сигнализацию.</a:t>
            </a:r>
          </a:p>
          <a:p xmlns:a="http://schemas.openxmlformats.org/drawingml/2006/main">
            <a:r>
              <a:t/>
            </a:r>
          </a:p>
          <a:p xmlns:a="http://schemas.openxmlformats.org/drawingml/2006/main">
            <a:r>
              <a:t>[6] Wilkinson &amp; Boughman, 1998</a:t>
            </a:r>
          </a:p>
          <a:p xmlns:a="http://schemas.openxmlformats.org/drawingml/2006/main">
            <a:r>
              <a:t>Social calls coordinate foraging in greater spear-nosed bats. Animal Behaviour 55, 337–350.</a:t>
            </a:r>
          </a:p>
          <a:p xmlns:a="http://schemas.openxmlformats.org/drawingml/2006/main">
            <a:r>
              <a:t>https://doi.org/10.1006/anbe.1997.0557</a:t>
            </a:r>
          </a:p>
          <a:p xmlns:a="http://schemas.openxmlformats.org/drawingml/2006/main">
            <a:r>
              <a:t/>
            </a:r>
          </a:p>
          <a:p xmlns:a="http://schemas.openxmlformats.org/drawingml/2006/main">
            <a:r>
              <a:t>[15] Aguirre et al., 2003</a:t>
            </a:r>
          </a:p>
          <a:p xmlns:a="http://schemas.openxmlformats.org/drawingml/2006/main">
            <a:r>
              <a:t>The implications of food hardness for diet in bats. Functional Ecology 17, 201–212.</a:t>
            </a:r>
          </a:p>
          <a:p xmlns:a="http://schemas.openxmlformats.org/drawingml/2006/main">
            <a:r>
              <a:t>https://doi.org/10.1046/j.1365-2435.2003.00721.x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Смешанное питание P. hastatus известно: растение не должно превращать нектароядного специалиста в хищника. По данным Aguirre et al., в изученной популяции среди поедаемых членистоногих преобладали жуки. Это не доказывает защиту данного растения. Допущения: повреждение запускает специфический сигнал, сигнал надёжно связан с доступной добычей, мышь учится его распознавать и действительно снижает ущерб. Настоящие вампиры специализированы на крови и не подходят для предложенного поедания листоядных насекомых. Иллюстрация гипотетического взаимодействия сгенерирована imagegen.</a:t>
            </a:r>
          </a:p>
          <a:p xmlns:a="http://schemas.openxmlformats.org/drawingml/2006/main">
            <a:r>
              <a:t/>
            </a:r>
          </a:p>
          <a:p xmlns:a="http://schemas.openxmlformats.org/drawingml/2006/main">
            <a:r>
              <a:t>[15] Aguirre et al., 2003</a:t>
            </a:r>
          </a:p>
          <a:p xmlns:a="http://schemas.openxmlformats.org/drawingml/2006/main">
            <a:r>
              <a:t>The implications of food hardness for diet in bats. Functional Ecology 17, 201–212.</a:t>
            </a:r>
          </a:p>
          <a:p xmlns:a="http://schemas.openxmlformats.org/drawingml/2006/main">
            <a:r>
              <a:t>https://doi.org/10.1046/j.1365-2435.2003.00721.x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Предлагается видоизменённый прицветник, то есть лист при соцветии, а не особая известная таксономическая структура. Сухая тонкая пластинка и усиленные краевые жилки содержат одревесневшие волокна склеренхимы. Центральная жилка образует тяж, нижний участок — подвижный рычаг с колленхимным шарниром. Живая вакуолизированная паренхима находится НАД рычагом под жёсткой опорой: расширение толкает рычаг вниз, а жилка тянет центр пластинки. Утолщённые жилки и основание передают реакцию на побег. Проводящие ткани снабжают живые участки водой и ассимилятами; эпидерма с кутикулой ограничивает потери воды. После натяжения склеренхимный выступ удерживает рычаг. Подушка уменьшается и освобождает путь возврата. Малый живой участок должен отвести упор: надёжность быстрого спуска под нагрузкой ещё не обоснована. Показана стадия зарядки. Рисунок сгенерирован; анатомия нового органа является гипотезой. Реальные двигательные органы служат аналогами живых тканей, но не доказывают эту конструкцию.</a:t>
            </a:r>
          </a:p>
          <a:p xmlns:a="http://schemas.openxmlformats.org/drawingml/2006/main">
            <a:r>
              <a:t/>
            </a:r>
          </a:p>
          <a:p xmlns:a="http://schemas.openxmlformats.org/drawingml/2006/main">
            <a:r>
              <a:t>[19] Moshelion et al., 2002</a:t>
            </a:r>
          </a:p>
          <a:p xmlns:a="http://schemas.openxmlformats.org/drawingml/2006/main">
            <a:r>
              <a:t>Plasma Membrane Aquaporins in the Motor Cells of Samanea saman: Diurnal and Circadian Regulation. Plant Cell 14, 727–739.</a:t>
            </a:r>
          </a:p>
          <a:p xmlns:a="http://schemas.openxmlformats.org/drawingml/2006/main">
            <a:r>
              <a:t>https://doi.org/10.1105/tpc.010351</a:t>
            </a:r>
          </a:p>
          <a:p xmlns:a="http://schemas.openxmlformats.org/drawingml/2006/main">
            <a:r>
              <a:t/>
            </a:r>
          </a:p>
          <a:p xmlns:a="http://schemas.openxmlformats.org/drawingml/2006/main">
            <a:r>
              <a:t>[20] Fleurat-Lessard et al., 1997</a:t>
            </a:r>
          </a:p>
          <a:p xmlns:a="http://schemas.openxmlformats.org/drawingml/2006/main">
            <a:r>
              <a:t>Increased Expression of Vacuolar Aquaporin and H+-ATPase Related to Motor Cell Function in Mimosa pudica L. Plant Physiology 114, 827–834.</a:t>
            </a:r>
          </a:p>
          <a:p xmlns:a="http://schemas.openxmlformats.org/drawingml/2006/main">
            <a:r>
              <a:t>https://doi.org/10.1104/pp.114.3.827</a:t>
            </a:r>
          </a:p>
          <a:p xmlns:a="http://schemas.openxmlformats.org/drawingml/2006/main">
            <a:r>
              <a:t/>
            </a:r>
          </a:p>
          <a:p xmlns:a="http://schemas.openxmlformats.org/drawingml/2006/main">
            <a:r>
              <a:t>[21] Song, Yeom &amp; Lee, 2014</a:t>
            </a:r>
          </a:p>
          <a:p xmlns:a="http://schemas.openxmlformats.org/drawingml/2006/main">
            <a:r>
              <a:t>Real-time imaging of pulvinus bending in Mimosa pudica. Scientific Reports 4, 6466.</a:t>
            </a:r>
          </a:p>
          <a:p xmlns:a="http://schemas.openxmlformats.org/drawingml/2006/main">
            <a:r>
              <a:t>https://doi.org/10.1038/srep06466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Рабочая цепь: работа мембранных насосов и переносчиков → изменение осмотического потенциала → поток воды → изменение объёма и тургора → механическая работа. Тургор не сокращает тяж как мышца. Подушка упирается в жёсткую верхнюю стенку и расширяется вниз; рычаг преобразует это движение в натяжение жилки. Усилие оценивается через эффективную площадь и передаточное отношение. Жёсткость стенок, направление деформации и гидравлическое сопротивление задаются конструкцией и ещё не измерены. Осмотический и механический этапы не работают на частоте звука: один медленный цикл подготавливает одно быстрое высвобождение.</a:t>
            </a:r>
          </a:p>
          <a:p xmlns:a="http://schemas.openxmlformats.org/drawingml/2006/main">
            <a:r>
              <a:t/>
            </a:r>
          </a:p>
          <a:p xmlns:a="http://schemas.openxmlformats.org/drawingml/2006/main">
            <a:r>
              <a:t>[3] Fleurat-Lessard et al., 1997</a:t>
            </a:r>
          </a:p>
          <a:p xmlns:a="http://schemas.openxmlformats.org/drawingml/2006/main">
            <a:r>
              <a:t>Distribution and activity of the plasma membrane H⁺-ATPase in Mimosa pudica. Plant Physiology 113, 747–754.</a:t>
            </a:r>
          </a:p>
          <a:p xmlns:a="http://schemas.openxmlformats.org/drawingml/2006/main">
            <a:r>
              <a:t>https://doi.org/10.1104/pp.113.3.747</a:t>
            </a:r>
          </a:p>
          <a:p xmlns:a="http://schemas.openxmlformats.org/drawingml/2006/main">
            <a:r>
              <a:t/>
            </a:r>
          </a:p>
          <a:p xmlns:a="http://schemas.openxmlformats.org/drawingml/2006/main">
            <a:r>
              <a:t>[19] Moshelion et al., 2002</a:t>
            </a:r>
          </a:p>
          <a:p xmlns:a="http://schemas.openxmlformats.org/drawingml/2006/main">
            <a:r>
              <a:t>Plasma Membrane Aquaporins in the Motor Cells of Samanea saman: Diurnal and Circadian Regulation. Plant Cell 14, 727–739.</a:t>
            </a:r>
          </a:p>
          <a:p xmlns:a="http://schemas.openxmlformats.org/drawingml/2006/main">
            <a:r>
              <a:t>https://doi.org/10.1105/tpc.010351</a:t>
            </a:r>
          </a:p>
          <a:p xmlns:a="http://schemas.openxmlformats.org/drawingml/2006/main">
            <a:r>
              <a:t/>
            </a:r>
          </a:p>
          <a:p xmlns:a="http://schemas.openxmlformats.org/drawingml/2006/main">
            <a:r>
              <a:t>[20] Fleurat-Lessard et al., 1997</a:t>
            </a:r>
          </a:p>
          <a:p xmlns:a="http://schemas.openxmlformats.org/drawingml/2006/main">
            <a:r>
              <a:t>Increased Expression of Vacuolar Aquaporin and H+-ATPase Related to Motor Cell Function in Mimosa pudica L. Plant Physiology 114, 827–834.</a:t>
            </a:r>
          </a:p>
          <a:p xmlns:a="http://schemas.openxmlformats.org/drawingml/2006/main">
            <a:r>
              <a:t>https://doi.org/10.1104/pp.114.3.827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заменяет прежний неопределённый порог потери устойчивости. Здесь момент щелчка задаёт явный удерживающий выступ. Пластинка должна быть упруго возвращаемой, без обязательной двустабильности. На стадии зарядки упор допускает ход вниз, затем удерживает рычаг от подъёма. После фиксации двигательная подушка уходит вверх; свободный зазор обязателен, иначе подушка погасит быстрое движение. Предлагаемый спуск устроен по аналогии с моторными клетками мимозы: электрический сигнал и локальный подъём Ca²⁺ включают выход ионов и воды. Малая тургорная подушка уменьшается, и упругая основа отводит выступ в сторону. Она управляет упором, а большая подушка отдельно заряжает пластинку. Нужны малая сила отвода, малая подвижная масса и упругое разъединение привода с высокочастотной пластинкой. В идеализированном расчёте тяж разгружается и допускает свободное колебание после начального возврата; реальное соединение не должно зажимать колебательную моду. Эти геометрия контакта, трение, скорость спуска и тихая повторная зарядка пока не рассчитаны. Поэтому рисунок объясняет путь усилий, но не является доказательством работающего органа. Быстрые упругие движения растений известны, однако именно такой управляемый упор у этого гипотетического прицветника не установлен.</a:t>
            </a:r>
          </a:p>
          <a:p xmlns:a="http://schemas.openxmlformats.org/drawingml/2006/main">
            <a:r>
              <a:t/>
            </a:r>
          </a:p>
          <a:p xmlns:a="http://schemas.openxmlformats.org/drawingml/2006/main">
            <a:r>
              <a:t>[2] Forterre et al., 2005</a:t>
            </a:r>
          </a:p>
          <a:p xmlns:a="http://schemas.openxmlformats.org/drawingml/2006/main">
            <a:r>
              <a:t>How the Venus flytrap snaps. Nature 433, 421–425.</a:t>
            </a:r>
          </a:p>
          <a:p xmlns:a="http://schemas.openxmlformats.org/drawingml/2006/main">
            <a:r>
              <a:t>https://doi.org/10.1038/nature03185</a:t>
            </a:r>
          </a:p>
          <a:p xmlns:a="http://schemas.openxmlformats.org/drawingml/2006/main">
            <a:r>
              <a:t/>
            </a:r>
          </a:p>
          <a:p xmlns:a="http://schemas.openxmlformats.org/drawingml/2006/main">
            <a:r>
              <a:t>[21] Song, Yeom &amp; Lee, 2014</a:t>
            </a:r>
          </a:p>
          <a:p xmlns:a="http://schemas.openxmlformats.org/drawingml/2006/main">
            <a:r>
              <a:t>Real-time imaging of pulvinus bending in Mimosa pudica. Scientific Reports 4, 6466.</a:t>
            </a:r>
          </a:p>
          <a:p xmlns:a="http://schemas.openxmlformats.org/drawingml/2006/main">
            <a:r>
              <a:t>https://doi.org/10.1038/srep06466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Зелёный объединяет сообщения о нектаре, охристый выделяет нападение насекомых. Цвет существует только на схеме; животное различает число щелчков. Схема показывает огибающие отдельных щелчков; несущие колебания намного быстрее. Значения сообщений условны и должны закрепиться обучением. Вместо двух точно настроенных высот используем счёт коротких серий: это меньше зависит от влажности ткани. Между концом щелчка и началом следующего — 0,5 с; четыре разных прицветника дают серию длительностью 1,54 с. Разделитель серий — не меньше 3 с, но это не обещание повторять серию каждые 3 с. После освобождения каждый орган медленно восстанавливается. Спуск готовых органов с нужными задержками остаётся требованием к гипотетической регуляции. Различение серий животным также не измерено. Пустое соцветие передаёт отдельную серию при истощении, затем прекращает регулярные сообщения.</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Проектный уровень 33 дБ за окно 10 мс на 20 м в области 20 кГц не равен доказанному порогу различения в лесу. Из сферического расхождения и заданных потерь 10 дБ получаем P≈10^-4 Вт и Eзв≈1 мкДж. При η=1% работа цикла W≈0,1 мДж. Радиус пластинки 3,2 мм, толщина 0,2 мм, плотность 700 кг/м³. Задаём форму скорости φ(r)=[1-(r/a)^2]^2, площадь-среднее φ²=1/5, и экспоненциальное затухание амплитуды с τ=1 мс. При σ=0,1 поверхность имеет v_rms≈0,275 м/с, но пик центра v0≈v_rms·sqrt(4T/(0,2τ))≈3,9 м/с; A≈31 мкм. mэфф≈0,90 мг, k=mэфф(2πf)^2≈14 кН/м. Для согласованного линейного приближения зарядки δ=sqrt(2W/k)≈0,12 мм, Fmax=kδ≈1,7 Н. Прежний ход 0,5 мм с этой жёсткостью требовал бы ≈1,8 мДж, поэтому он заменён. Для требуемого звука достаточно около 7% работы в выбранной моде; эта доля является дополнительным допущением о переходе энергии. Если вся работа перейдёт в кинетическую энергию этой моды, скорость достигнет sqrt(2W/mэфф)≈14,9 м/с. Это энергетическая верхняя оценка при принятой эффективной массе, а не предсказание временной формы реального спуска. Реальная пиковая скорость переходного движения пока неизвестна. Действительные кривизна, контакт, влажность, σ и τ неизвестны. Это согласование порядков величин, а не испытание нового органа.</a:t>
            </a:r>
          </a:p>
          <a:p xmlns:a="http://schemas.openxmlformats.org/drawingml/2006/main">
            <a:r>
              <a:t/>
            </a:r>
          </a:p>
          <a:p xmlns:a="http://schemas.openxmlformats.org/drawingml/2006/main">
            <a:r>
              <a:t>[5] Koay et al., 2002</a:t>
            </a:r>
          </a:p>
          <a:p xmlns:a="http://schemas.openxmlformats.org/drawingml/2006/main">
            <a:r>
              <a:t>Hearing in American leaf-nosed bats. I: Phyllostomus hastatus. Hearing Research 171, 96–102.</a:t>
            </a:r>
          </a:p>
          <a:p xmlns:a="http://schemas.openxmlformats.org/drawingml/2006/main">
            <a:r>
              <a:t>https://doi.org/10.1016/S0378-5955(02)00458-6</a:t>
            </a:r>
          </a:p>
          <a:p xmlns:a="http://schemas.openxmlformats.org/drawingml/2006/main">
            <a:r>
              <a:t/>
            </a:r>
          </a:p>
          <a:p xmlns:a="http://schemas.openxmlformats.org/drawingml/2006/main">
            <a:r>
              <a:t>[11] OpenStax, University Physics, т. 1</a:t>
            </a:r>
          </a:p>
          <a:p xmlns:a="http://schemas.openxmlformats.org/drawingml/2006/main">
            <a:r>
              <a:t>Разделы 17.2–17.3: скорость и интенсивность звука, сферическое расхождение, децибелы.</a:t>
            </a:r>
          </a:p>
          <a:p xmlns:a="http://schemas.openxmlformats.org/drawingml/2006/main">
            <a:r>
              <a:t>https://openstax.org/books/university-physics-volume-1/pages/17-3-sound-intensity</a:t>
            </a:r>
          </a:p>
          <a:p xmlns:a="http://schemas.openxmlformats.org/drawingml/2006/main">
            <a:r>
              <a:t/>
            </a:r>
          </a:p>
          <a:p xmlns:a="http://schemas.openxmlformats.org/drawingml/2006/main">
            <a:r>
              <a:t>[14] Leissa, 1969</a:t>
            </a:r>
          </a:p>
          <a:p xmlns:a="http://schemas.openxmlformats.org/drawingml/2006/main">
            <a:r>
              <a:t>Vibration of Plates. NASA SP-160. Основная частота круглой пластинки с закреплённым краем.</a:t>
            </a:r>
          </a:p>
          <a:p xmlns:a="http://schemas.openxmlformats.org/drawingml/2006/main">
            <a:r>
              <a:t>https://ntrs.nasa.gov/citations/19700009156</a:t>
            </a:r>
          </a:p>
          <a:p xmlns:a="http://schemas.openxmlformats.org/drawingml/2006/main">
            <a:r>
              <a:t/>
            </a:r>
          </a:p>
          <a:p xmlns:a="http://schemas.openxmlformats.org/drawingml/2006/main">
            <a:r>
              <a:t>[16] Goerlitz, 2018</a:t>
            </a:r>
          </a:p>
          <a:p xmlns:a="http://schemas.openxmlformats.org/drawingml/2006/main">
            <a:r>
              <a:t>Weather conditions determine attenuation and speed of sound. Ecology and Evolution 8, 5090–5100.</a:t>
            </a:r>
          </a:p>
          <a:p xmlns:a="http://schemas.openxmlformats.org/drawingml/2006/main">
            <a:r>
              <a:t>https://doi.org/10.1002/ece3.4088</a:t>
            </a:r>
          </a:p>
          <a:p xmlns:a="http://schemas.openxmlformats.org/drawingml/2006/main">
            <a:r>
              <a:t/>
            </a:r>
          </a:p>
          <a:p xmlns:a="http://schemas.openxmlformats.org/drawingml/2006/main">
            <a:r>
              <a:t>[17] Squicciarini et al., 2014</a:t>
            </a:r>
          </a:p>
          <a:p xmlns:a="http://schemas.openxmlformats.org/drawingml/2006/main">
            <a:r>
              <a:t>Boundary conditions and radiation efficiency of rectangular plates. J. Sound Vib. 333, 3931–3948.</a:t>
            </a:r>
          </a:p>
          <a:p xmlns:a="http://schemas.openxmlformats.org/drawingml/2006/main">
            <a:r>
              <a:t>https://doi.org/10.1016/j.jsv.2014.04.022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Краткое изложение расчёта. Время не выводится из одной силы: задаём работу, линейную упругость, геометрию привода и водопроницаемость. Из W=Fпик·δ/2 при W=0,1мДж и Fпик≈1,687Н получаем δ≈0,1186мм. Идеальный рычаг с отношением сил χ=0,5 даёт ход подушки δ/2≈0,0593мм. При высоте0,593мм это10% объёма. Для клетки радиусом10мкм берём Pf=5мкм/с по порядку наблюдений Samanea; Lp=Pf·18e-6/(8,314·298)=3,63e-14м/(Па·с). При заданном остаточном перепаде водного потенциала0,1МПа j=LpΔΨ≈3,63нм/с. j — объёмный поток воды, делённый на площадь мембраны. Для сферической клетки V/S=r/3, поэтому t=0,1r/(3j)≈91,8с. Это приблизительное время одного притока воды, не полный цикл восстановления. При эффективной площади подушки16мм² и χ=0,5 для натяжения требуется полезное давление≈0,211МПа; выбранные0,3МПа его обеспечивают в идеальном расчёте. При таком механическом давлении и остаточном градиенте0,1МПа осмотическая разность должна соответствовать примерно0,4МПа. Полные расчёты силы, давления, хода и осмотической зарядки находятся в приложении. Четыре предварительно заряженные пластинки отделяют длительность серии от медленного поступления воды.</a:t>
            </a:r>
          </a:p>
          <a:p xmlns:a="http://schemas.openxmlformats.org/drawingml/2006/main">
            <a:r>
              <a:t/>
            </a:r>
          </a:p>
          <a:p xmlns:a="http://schemas.openxmlformats.org/drawingml/2006/main">
            <a:r>
              <a:t>[18] Weber et al., 2015</a:t>
            </a:r>
          </a:p>
          <a:p xmlns:a="http://schemas.openxmlformats.org/drawingml/2006/main">
            <a:r>
              <a:t>Mechanical properties of plant cells: micro-indentation and osmotic treatments. J. Exp. Bot. 66, 3229–3241.</a:t>
            </a:r>
          </a:p>
          <a:p xmlns:a="http://schemas.openxmlformats.org/drawingml/2006/main">
            <a:r>
              <a:t>https://doi.org/10.1093/jxb/erv135</a:t>
            </a:r>
          </a:p>
          <a:p xmlns:a="http://schemas.openxmlformats.org/drawingml/2006/main">
            <a:r>
              <a:t/>
            </a:r>
          </a:p>
          <a:p xmlns:a="http://schemas.openxmlformats.org/drawingml/2006/main">
            <a:r>
              <a:t>[19] Moshelion et al., 2002</a:t>
            </a:r>
          </a:p>
          <a:p xmlns:a="http://schemas.openxmlformats.org/drawingml/2006/main">
            <a:r>
              <a:t>Plasma Membrane Aquaporins in the Motor Cells of Samanea saman: Diurnal and Circadian Regulation. Plant Cell 14, 727–739.</a:t>
            </a:r>
          </a:p>
          <a:p xmlns:a="http://schemas.openxmlformats.org/drawingml/2006/main">
            <a:r>
              <a:t>https://doi.org/10.1105/tpc.010351</a:t>
            </a:r>
          </a:p>
          <a:p xmlns:a="http://schemas.openxmlformats.org/drawingml/2006/main">
            <a:r>
              <a:t/>
            </a:r>
          </a:p>
          <a:p xmlns:a="http://schemas.openxmlformats.org/drawingml/2006/main">
            <a:r>
              <a:t>[22] Volkov et al., 2010</a:t>
            </a:r>
          </a:p>
          <a:p xmlns:a="http://schemas.openxmlformats.org/drawingml/2006/main">
            <a:r>
              <a:t>Mechanical and electrical anisotropy in Mimosa pudica pulvini. Plant Signaling &amp; Behavior 5, 1211–1221.</a:t>
            </a:r>
          </a:p>
          <a:p xmlns:a="http://schemas.openxmlformats.org/drawingml/2006/main">
            <a:r>
              <a:t>https://doi.org/10.4161/psb.5.10.12658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Предлагаемая организация узла: четыре механически заряженных прицветника имеют общую основу с анатомически выделенной полоской возбудимых живых клеток и четырьмя короткими ответвлениями к спусковым клеткам. Вдоль общей полоски распространяется один потенциал действия. Механическая энергия остаётся запасённой отдельно в каждой пластинке. Точки ответвления расположены последовательно, поэтому сигнал приходит к ним в разное время. Передача по основной полоске не зависит от разрешения отдельного спуска: неактивное ответвление не обрывает общий путь. Для природного аналога Hagihara et al. наблюдали последовательные движения листочков Mimosa, связанные с распространяющимися электрическими и кальциевыми сигналами. Общая полоска, её изоляция от обходных путей, ветвления и связь с упорами являются частями предлагаемой конструкции, а не описанием обнаруженного звукового органа. В изображении показаны функции и связи, не масштаб расположения тканей.</a:t>
            </a:r>
          </a:p>
          <a:p xmlns:a="http://schemas.openxmlformats.org/drawingml/2006/main">
            <a:r>
              <a:t/>
            </a:r>
          </a:p>
          <a:p xmlns:a="http://schemas.openxmlformats.org/drawingml/2006/main">
            <a:r>
              <a:t>[23] Hagihara et al., 2022</a:t>
            </a:r>
          </a:p>
          <a:p xmlns:a="http://schemas.openxmlformats.org/drawingml/2006/main">
            <a:r>
              <a:t>Calcium-mediated rapid movements defend against herbivorous insects in Mimosa pudica. Nature Communications 13, 6412.</a:t>
            </a:r>
          </a:p>
          <a:p xmlns:a="http://schemas.openxmlformats.org/drawingml/2006/main">
            <a:r>
              <a:t>https://doi.org/10.1038/s41467-022-34106-x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звуковом узле регулируется локальная концентрация абсцизовой кислоты (АБК). В протопластах двигательных клеток фасоли АБК вызывает уменьшение объёма, а в замыкающих клетках Arabidopsis повышает чувствительность ионных каналов к цитозольному Ca²⁺. Перенос этих свойств в спусковые клетки — предложение модели. Четыре уровня АБК и их связь с сообщениями не являются установленной функцией АБК. До пуска его концентрация меняет чувствительность клеток каждого ответвления. В модели у этих клеток различается количество или чувствительность рецепторов и связанных с ними ионных каналов: пороги разрешения θ1&lt;θ2&lt;θ3&lt;θ4. При уровне АБК между θ1 и θ2 отвечает только спуск1; выше θ4 — все четыре. Промежуточные интервалы разрешают первые два или три спуска. Электрический сигнал приходит ко всем ответвлениям. После локального подъёма Ca²⁺ только достаточно подготовленные АБК спусковые клетки теряют нужный для отвода упора объём воды. Уровень АБК меняет порог моторного ответа, не блокируя приход самого электрического сигнала. Изменение уровня АБК не служит зарядкой большой двигательной подушки: все четыре пластинки уже натянуты. Потенциал действия в общей полоске используется как пусковой импульс, а не как градуированная команда количества. Работа Favre &amp; Agosti показывает принцип ответа по типу всё или ничего у Arabidopsis; она не доказывает предложенную регуляторную схему. В реальной ткани необходимы различимые диапазоны уровня АБК, устойчивое состояние настройки на время серии и согласованные задержки локальных ответов. Это параметры гипотетического узла.</a:t>
            </a:r>
          </a:p>
          <a:p xmlns:a="http://schemas.openxmlformats.org/drawingml/2006/main">
            <a:r>
              <a:t/>
            </a:r>
          </a:p>
          <a:p xmlns:a="http://schemas.openxmlformats.org/drawingml/2006/main">
            <a:r>
              <a:t>[24] Favre &amp; Agosti, 2007</a:t>
            </a:r>
          </a:p>
          <a:p xmlns:a="http://schemas.openxmlformats.org/drawingml/2006/main">
            <a:r>
              <a:t>Voltage-dependent action potentials in Arabidopsis thaliana. Physiologia Plantarum.</a:t>
            </a:r>
          </a:p>
          <a:p xmlns:a="http://schemas.openxmlformats.org/drawingml/2006/main">
            <a:r>
              <a:t>https://doi.org/10.1111/j.1399-3054.2007.00954.x</a:t>
            </a:r>
          </a:p>
          <a:p xmlns:a="http://schemas.openxmlformats.org/drawingml/2006/main">
            <a:r>
              <a:t/>
            </a:r>
          </a:p>
          <a:p xmlns:a="http://schemas.openxmlformats.org/drawingml/2006/main">
            <a:r>
              <a:t>[25] Iino, Long &amp; Wang, 2001</a:t>
            </a:r>
          </a:p>
          <a:p xmlns:a="http://schemas.openxmlformats.org/drawingml/2006/main">
            <a:r>
              <a:t>Auxin- and Abscisic Acid-Dependent Osmoregulation in Protoplasts of Phaseolus vulgaris Pulvini. Plant and Cell Physiology 42, 1219–1227.</a:t>
            </a:r>
          </a:p>
          <a:p xmlns:a="http://schemas.openxmlformats.org/drawingml/2006/main">
            <a:r>
              <a:t>https://doi.org/10.1093/pcp/pce157</a:t>
            </a:r>
          </a:p>
          <a:p xmlns:a="http://schemas.openxmlformats.org/drawingml/2006/main">
            <a:r>
              <a:t/>
            </a:r>
          </a:p>
          <a:p xmlns:a="http://schemas.openxmlformats.org/drawingml/2006/main">
            <a:r>
              <a:t>[26] Siegel et al., 2009</a:t>
            </a:r>
          </a:p>
          <a:p xmlns:a="http://schemas.openxmlformats.org/drawingml/2006/main">
            <a:r>
              <a:t>Calcium elevation-dependent and attenuated resting calcium-dependent abscisic acid induction of stomatal closure and abscisic acid-induced enhancement of calcium sensitivities of S-type anion and inward-rectifying K+ channels in Arabidopsis guard cells. The Plant Journal.</a:t>
            </a:r>
          </a:p>
          <a:p xmlns:a="http://schemas.openxmlformats.org/drawingml/2006/main">
            <a:r>
              <a:t>https://doi.org/10.1111/j.1365-313X.2009.03872.x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Приблизительный ресурсный бюджет за один сезон, а не измерение и не доказательство адаптивной окупаемости. В бюджете один звуковой узел — четыре прицветника вместе; 10 узлов, всего 40 прицветников. Масса 0,5 г задана на весь узел, не на каждый прицветник. Создание: 5 г сухой массы × 1,5 г глюкозы/г × 15,6 кДж/г = 117 кДж. Обслуживание: 0,5 г живой сухой массы × 0,01 г глюкозы/(г·день) × 100 дней × 15,6 кДж/г = 7,8 кДж. Работа: 100000 циклов × 0,0001 Дж / КПД привода 1% = 1 кДж. Итого 125,8≈130 кДж. Доля создания 117/125,8≈93%, обслуживания 6,2%, работы 0,8%. Диаграмма сохраняет исходные значения, поэтому узкая часть работы действительно мала. Строительная стоимость включает углерод самой ткани и синтез. Численно не учтены ремонт, снабжение водой и минеральные ограничения. Неопределённость гипотетической конструкции гораздо больше ошибки округления.</a:t>
            </a:r>
          </a:p>
          <a:p xmlns:a="http://schemas.openxmlformats.org/drawingml/2006/main">
            <a:r>
              <a:t/>
            </a:r>
          </a:p>
          <a:p xmlns:a="http://schemas.openxmlformats.org/drawingml/2006/main">
            <a:r>
              <a:t>[9] Amthor et al., 1994</a:t>
            </a:r>
          </a:p>
          <a:p xmlns:a="http://schemas.openxmlformats.org/drawingml/2006/main">
            <a:r>
              <a:t>Energy content, construction cost and phytomass accumulation of Glycine max and Sorghum bicolor. New Phytologist 128, 443–450.</a:t>
            </a:r>
          </a:p>
          <a:p xmlns:a="http://schemas.openxmlformats.org/drawingml/2006/main">
            <a:r>
              <a:t>https://doi.org/10.1111/j.1469-8137.1994.tb02990.x</a:t>
            </a:r>
          </a:p>
          <a:p xmlns:a="http://schemas.openxmlformats.org/drawingml/2006/main">
            <a:r>
              <a:t/>
            </a:r>
          </a:p>
          <a:p xmlns:a="http://schemas.openxmlformats.org/drawingml/2006/main">
            <a:r>
              <a:t>[10] Penning de Vries, 1975</a:t>
            </a:r>
          </a:p>
          <a:p xmlns:a="http://schemas.openxmlformats.org/drawingml/2006/main">
            <a:r>
              <a:t>The cost of maintenance processes in plant cells. Annals of Botany 39, 77–92.</a:t>
            </a:r>
          </a:p>
          <a:p xmlns:a="http://schemas.openxmlformats.org/drawingml/2006/main">
            <a:r>
              <a:t>https://doi.org/10.1093/oxfordjournals.aob.a084919</a:t>
            </a:r>
          </a:p>
          <a:p xmlns:a="http://schemas.openxmlformats.org/drawingml/2006/main">
            <a:r>
              <a:t/>
            </a:r>
          </a:p>
          <a:p xmlns:a="http://schemas.openxmlformats.org/drawingml/2006/main">
            <a:r>
              <a:t>[12] NIST Chemistry WebBook</a:t>
            </a:r>
          </a:p>
          <a:p xmlns:a="http://schemas.openxmlformats.org/drawingml/2006/main">
            <a:r>
              <a:t>α-D-Glucopyranose. Теплота сгорания ≈2800 кДж/моль, или ≈15,6 кДж/г.</a:t>
            </a:r>
          </a:p>
          <a:p xmlns:a="http://schemas.openxmlformats.org/drawingml/2006/main">
            <a:r>
              <a:t>https://webbook.nist.gov/cgi/cbook.cgi?ID=C26655345&amp;Mask=2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Опыление и защитный эффект нужно оценивать раздельно. Больше визитов не равно большему числу жизнеспособных семян: важны совместимость и перенос между разными растениями. Поедание жуков не автоматически полезно, если они не повреждают растение. Эволюционная выгода должна превышать стоимость нектара, органов и возможный ущерб от посетителей. Картинка — сгенерированная иллюстрация опыления, не фотография наблюдаемого события.</a:t>
            </a:r>
          </a:p>
          <a:p xmlns:a="http://schemas.openxmlformats.org/drawingml/2006/main">
            <a:r>
              <a:t/>
            </a:r>
          </a:p>
          <a:p xmlns:a="http://schemas.openxmlformats.org/drawingml/2006/main">
            <a:r>
              <a:t>[7] Kays et al., 2012</a:t>
            </a:r>
          </a:p>
          <a:p xmlns:a="http://schemas.openxmlformats.org/drawingml/2006/main">
            <a:r>
              <a:t>Animal visitation and pollination of flowering balsa trees (Ochroma pyramidale) in Panama. Mesoamericana 16(3).</a:t>
            </a:r>
          </a:p>
          <a:p xmlns:a="http://schemas.openxmlformats.org/drawingml/2006/main">
            <a:r>
              <a:t>https://research.si.edu/publication-details/?id=115785</a:t>
            </a:r>
          </a:p>
          <a:p xmlns:a="http://schemas.openxmlformats.org/drawingml/2006/main">
            <a:r>
              <a:t/>
            </a:r>
          </a:p>
          <a:p xmlns:a="http://schemas.openxmlformats.org/drawingml/2006/main">
            <a:r>
              <a:t>[15] Aguirre et al., 2003</a:t>
            </a:r>
          </a:p>
          <a:p xmlns:a="http://schemas.openxmlformats.org/drawingml/2006/main">
            <a:r>
              <a:t>The implications of food hardness for diet in bats. Functional Ecology 17, 201–212.</a:t>
            </a:r>
          </a:p>
          <a:p xmlns:a="http://schemas.openxmlformats.org/drawingml/2006/main">
            <a:r>
              <a:t>https://doi.org/10.1046/j.1365-2435.2003.00721.x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Предполагаемые последствия при работающей системе: перераспределение посещений, пыльцы и конкуренции. Акустическая маскировка, обман и подслушивание ограничивают выигрыш. Нельзя заранее утверждать, что суммарное биоразнообразие повысится.</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Краткие темы и DOI на слайде; полные библиографические записи в заметках. Источники подтверждают отдельные факты и ориентиры, а не всю гипотетическую конструкцию.</a:t>
            </a:r>
          </a:p>
          <a:p xmlns:a="http://schemas.openxmlformats.org/drawingml/2006/main">
            <a:r>
              <a:t/>
            </a:r>
          </a:p>
          <a:p xmlns:a="http://schemas.openxmlformats.org/drawingml/2006/main">
            <a:r>
              <a:t>[1] van Tussenbroek et al., 2016</a:t>
            </a:r>
          </a:p>
          <a:p xmlns:a="http://schemas.openxmlformats.org/drawingml/2006/main">
            <a:r>
              <a:t>Experimental evidence of pollination in marine flowers by invertebrate fauna. Nature Communications 7, 12980.</a:t>
            </a:r>
          </a:p>
          <a:p xmlns:a="http://schemas.openxmlformats.org/drawingml/2006/main">
            <a:r>
              <a:t>https://doi.org/10.1038/ncomms12980</a:t>
            </a:r>
          </a:p>
          <a:p xmlns:a="http://schemas.openxmlformats.org/drawingml/2006/main">
            <a:r>
              <a:t/>
            </a:r>
          </a:p>
          <a:p xmlns:a="http://schemas.openxmlformats.org/drawingml/2006/main">
            <a:r>
              <a:t>[2] Forterre et al., 2005</a:t>
            </a:r>
          </a:p>
          <a:p xmlns:a="http://schemas.openxmlformats.org/drawingml/2006/main">
            <a:r>
              <a:t>How the Venus flytrap snaps. Nature 433, 421–425.</a:t>
            </a:r>
          </a:p>
          <a:p xmlns:a="http://schemas.openxmlformats.org/drawingml/2006/main">
            <a:r>
              <a:t>https://doi.org/10.1038/nature03185</a:t>
            </a:r>
          </a:p>
          <a:p xmlns:a="http://schemas.openxmlformats.org/drawingml/2006/main">
            <a:r>
              <a:t/>
            </a:r>
          </a:p>
          <a:p xmlns:a="http://schemas.openxmlformats.org/drawingml/2006/main">
            <a:r>
              <a:t>[3] Fleurat-Lessard et al., 1997</a:t>
            </a:r>
          </a:p>
          <a:p xmlns:a="http://schemas.openxmlformats.org/drawingml/2006/main">
            <a:r>
              <a:t>Distribution and activity of the plasma membrane H⁺-ATPase in Mimosa pudica. Plant Physiology 113, 747–754.</a:t>
            </a:r>
          </a:p>
          <a:p xmlns:a="http://schemas.openxmlformats.org/drawingml/2006/main">
            <a:r>
              <a:t>https://doi.org/10.1104/pp.113.3.747</a:t>
            </a:r>
          </a:p>
          <a:p xmlns:a="http://schemas.openxmlformats.org/drawingml/2006/main">
            <a:r>
              <a:t/>
            </a:r>
          </a:p>
          <a:p xmlns:a="http://schemas.openxmlformats.org/drawingml/2006/main">
            <a:r>
              <a:t>[4] Bennet-Clark &amp; Daws, 1999</a:t>
            </a:r>
          </a:p>
          <a:p xmlns:a="http://schemas.openxmlformats.org/drawingml/2006/main">
            <a:r>
              <a:t>Transduction of mechanical energy into sound energy in the cicada Cyclochila australasiae. J. Exp. Biol. 202, 1803–1817.</a:t>
            </a:r>
          </a:p>
          <a:p xmlns:a="http://schemas.openxmlformats.org/drawingml/2006/main">
            <a:r>
              <a:t>https://doi.org/10.1242/jeb.202.13.1803</a:t>
            </a:r>
          </a:p>
          <a:p xmlns:a="http://schemas.openxmlformats.org/drawingml/2006/main">
            <a:r>
              <a:t/>
            </a:r>
          </a:p>
          <a:p xmlns:a="http://schemas.openxmlformats.org/drawingml/2006/main">
            <a:r>
              <a:t>[5] Koay et al., 2002</a:t>
            </a:r>
          </a:p>
          <a:p xmlns:a="http://schemas.openxmlformats.org/drawingml/2006/main">
            <a:r>
              <a:t>Hearing in American leaf-nosed bats. I: Phyllostomus hastatus. Hearing Research 171, 96–102.</a:t>
            </a:r>
          </a:p>
          <a:p xmlns:a="http://schemas.openxmlformats.org/drawingml/2006/main">
            <a:r>
              <a:t>https://doi.org/10.1016/S0378-5955(02)00458-6</a:t>
            </a:r>
          </a:p>
          <a:p xmlns:a="http://schemas.openxmlformats.org/drawingml/2006/main">
            <a:r>
              <a:t/>
            </a:r>
          </a:p>
          <a:p xmlns:a="http://schemas.openxmlformats.org/drawingml/2006/main">
            <a:r>
              <a:t>[6] Wilkinson &amp; Boughman, 1998</a:t>
            </a:r>
          </a:p>
          <a:p xmlns:a="http://schemas.openxmlformats.org/drawingml/2006/main">
            <a:r>
              <a:t>Social calls coordinate foraging in greater spear-nosed bats. Animal Behaviour 55, 337–350.</a:t>
            </a:r>
          </a:p>
          <a:p xmlns:a="http://schemas.openxmlformats.org/drawingml/2006/main">
            <a:r>
              <a:t>https://doi.org/10.1006/anbe.1997.0557</a:t>
            </a:r>
          </a:p>
          <a:p xmlns:a="http://schemas.openxmlformats.org/drawingml/2006/main">
            <a:r>
              <a:t/>
            </a:r>
          </a:p>
          <a:p xmlns:a="http://schemas.openxmlformats.org/drawingml/2006/main">
            <a:r>
              <a:t>[7] Kays et al., 2012</a:t>
            </a:r>
          </a:p>
          <a:p xmlns:a="http://schemas.openxmlformats.org/drawingml/2006/main">
            <a:r>
              <a:t>Animal visitation and pollination of flowering balsa trees (Ochroma pyramidale) in Panama. Mesoamericana 16(3).</a:t>
            </a:r>
          </a:p>
          <a:p xmlns:a="http://schemas.openxmlformats.org/drawingml/2006/main">
            <a:r>
              <a:t>https://research.si.edu/publication-details/?id=115785</a:t>
            </a:r>
          </a:p>
          <a:p xmlns:a="http://schemas.openxmlformats.org/drawingml/2006/main">
            <a:r>
              <a:t/>
            </a:r>
          </a:p>
          <a:p xmlns:a="http://schemas.openxmlformats.org/drawingml/2006/main">
            <a:r>
              <a:t>[8] Calderón-Capote et al., 2025</a:t>
            </a:r>
          </a:p>
          <a:p xmlns:a="http://schemas.openxmlformats.org/drawingml/2006/main">
            <a:r>
              <a:t>Intraspecific variability of social structure and linked foraging behavior in Phyllostomus hastatus. PLOS ONE 20, e0313782.</a:t>
            </a:r>
          </a:p>
          <a:p xmlns:a="http://schemas.openxmlformats.org/drawingml/2006/main">
            <a:r>
              <a:t>https://doi.org/10.1371/journal.pone.0313782</a:t>
            </a:r>
          </a:p>
          <a:p xmlns:a="http://schemas.openxmlformats.org/drawingml/2006/main">
            <a:r>
              <a:t/>
            </a:r>
          </a:p>
          <a:p xmlns:a="http://schemas.openxmlformats.org/drawingml/2006/main">
            <a:r>
              <a:t>[9] Amthor et al., 1994</a:t>
            </a:r>
          </a:p>
          <a:p xmlns:a="http://schemas.openxmlformats.org/drawingml/2006/main">
            <a:r>
              <a:t>Energy content, construction cost and phytomass accumulation of Glycine max and Sorghum bicolor. New Phytologist 128, 443–450.</a:t>
            </a:r>
          </a:p>
          <a:p xmlns:a="http://schemas.openxmlformats.org/drawingml/2006/main">
            <a:r>
              <a:t>https://doi.org/10.1111/j.1469-8137.1994.tb02990.x</a:t>
            </a:r>
          </a:p>
          <a:p xmlns:a="http://schemas.openxmlformats.org/drawingml/2006/main">
            <a:r>
              <a:t/>
            </a:r>
          </a:p>
          <a:p xmlns:a="http://schemas.openxmlformats.org/drawingml/2006/main">
            <a:r>
              <a:t>[10] Penning de Vries, 1975</a:t>
            </a:r>
          </a:p>
          <a:p xmlns:a="http://schemas.openxmlformats.org/drawingml/2006/main">
            <a:r>
              <a:t>The cost of maintenance processes in plant cells. Annals of Botany 39, 77–92.</a:t>
            </a:r>
          </a:p>
          <a:p xmlns:a="http://schemas.openxmlformats.org/drawingml/2006/main">
            <a:r>
              <a:t>https://doi.org/10.1093/oxfordjournals.aob.a084919</a:t>
            </a:r>
          </a:p>
          <a:p xmlns:a="http://schemas.openxmlformats.org/drawingml/2006/main">
            <a:r>
              <a:t/>
            </a:r>
          </a:p>
          <a:p xmlns:a="http://schemas.openxmlformats.org/drawingml/2006/main">
            <a:r>
              <a:t>[11] OpenStax, University Physics, т. 1</a:t>
            </a:r>
          </a:p>
          <a:p xmlns:a="http://schemas.openxmlformats.org/drawingml/2006/main">
            <a:r>
              <a:t>Разделы 17.2–17.3: скорость и интенсивность звука, сферическое расхождение, децибелы.</a:t>
            </a:r>
          </a:p>
          <a:p xmlns:a="http://schemas.openxmlformats.org/drawingml/2006/main">
            <a:r>
              <a:t>https://openstax.org/books/university-physics-volume-1/pages/17-3-sound-intensity</a:t>
            </a:r>
          </a:p>
          <a:p xmlns:a="http://schemas.openxmlformats.org/drawingml/2006/main">
            <a:r>
              <a:t/>
            </a:r>
          </a:p>
          <a:p xmlns:a="http://schemas.openxmlformats.org/drawingml/2006/main">
            <a:r>
              <a:t>[12] NIST Chemistry WebBook</a:t>
            </a:r>
          </a:p>
          <a:p xmlns:a="http://schemas.openxmlformats.org/drawingml/2006/main">
            <a:r>
              <a:t>α-D-Glucopyranose. Теплота сгорания ≈2800 кДж/моль, или ≈15,6 кДж/г.</a:t>
            </a:r>
          </a:p>
          <a:p xmlns:a="http://schemas.openxmlformats.org/drawingml/2006/main">
            <a:r>
              <a:t>https://webbook.nist.gov/cgi/cbook.cgi?ID=C26655345&amp;Mask=2</a:t>
            </a:r>
          </a:p>
          <a:p xmlns:a="http://schemas.openxmlformats.org/drawingml/2006/main">
            <a:r>
              <a:t/>
            </a:r>
          </a:p>
          <a:p xmlns:a="http://schemas.openxmlformats.org/drawingml/2006/main">
            <a:r>
              <a:t>[13] NOAA, National Ocean Service</a:t>
            </a:r>
          </a:p>
          <a:p xmlns:a="http://schemas.openxmlformats.org/drawingml/2006/main">
            <a:r>
              <a:t>How far does sound travel in the ocean? Скорость и влияние условий среды на распространение.</a:t>
            </a:r>
          </a:p>
          <a:p xmlns:a="http://schemas.openxmlformats.org/drawingml/2006/main">
            <a:r>
              <a:t>https://oceanservice.noaa.gov/facts/sound.html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Краткие темы и DOI на слайде; полные библиографические записи в заметках. Источники подтверждают отдельные факты и ориентиры, а не всю гипотетическую конструкцию.</a:t>
            </a:r>
          </a:p>
          <a:p xmlns:a="http://schemas.openxmlformats.org/drawingml/2006/main">
            <a:r>
              <a:t/>
            </a:r>
          </a:p>
          <a:p xmlns:a="http://schemas.openxmlformats.org/drawingml/2006/main">
            <a:r>
              <a:t>[14] Leissa, 1969</a:t>
            </a:r>
          </a:p>
          <a:p xmlns:a="http://schemas.openxmlformats.org/drawingml/2006/main">
            <a:r>
              <a:t>Vibration of Plates. NASA SP-160. Основная частота круглой пластинки с закреплённым краем.</a:t>
            </a:r>
          </a:p>
          <a:p xmlns:a="http://schemas.openxmlformats.org/drawingml/2006/main">
            <a:r>
              <a:t>https://ntrs.nasa.gov/citations/19700009156</a:t>
            </a:r>
          </a:p>
          <a:p xmlns:a="http://schemas.openxmlformats.org/drawingml/2006/main">
            <a:r>
              <a:t/>
            </a:r>
          </a:p>
          <a:p xmlns:a="http://schemas.openxmlformats.org/drawingml/2006/main">
            <a:r>
              <a:t>[15] Aguirre et al., 2003</a:t>
            </a:r>
          </a:p>
          <a:p xmlns:a="http://schemas.openxmlformats.org/drawingml/2006/main">
            <a:r>
              <a:t>The implications of food hardness for diet in bats. Functional Ecology 17, 201–212.</a:t>
            </a:r>
          </a:p>
          <a:p xmlns:a="http://schemas.openxmlformats.org/drawingml/2006/main">
            <a:r>
              <a:t>https://doi.org/10.1046/j.1365-2435.2003.00721.x</a:t>
            </a:r>
          </a:p>
          <a:p xmlns:a="http://schemas.openxmlformats.org/drawingml/2006/main">
            <a:r>
              <a:t/>
            </a:r>
          </a:p>
          <a:p xmlns:a="http://schemas.openxmlformats.org/drawingml/2006/main">
            <a:r>
              <a:t>[16] Goerlitz, 2018</a:t>
            </a:r>
          </a:p>
          <a:p xmlns:a="http://schemas.openxmlformats.org/drawingml/2006/main">
            <a:r>
              <a:t>Weather conditions determine attenuation and speed of sound. Ecology and Evolution 8, 5090–5100.</a:t>
            </a:r>
          </a:p>
          <a:p xmlns:a="http://schemas.openxmlformats.org/drawingml/2006/main">
            <a:r>
              <a:t>https://doi.org/10.1002/ece3.4088</a:t>
            </a:r>
          </a:p>
          <a:p xmlns:a="http://schemas.openxmlformats.org/drawingml/2006/main">
            <a:r>
              <a:t/>
            </a:r>
          </a:p>
          <a:p xmlns:a="http://schemas.openxmlformats.org/drawingml/2006/main">
            <a:r>
              <a:t>[17] Squicciarini et al., 2014</a:t>
            </a:r>
          </a:p>
          <a:p xmlns:a="http://schemas.openxmlformats.org/drawingml/2006/main">
            <a:r>
              <a:t>Boundary conditions and radiation efficiency of rectangular plates. J. Sound Vib. 333, 3931–3948.</a:t>
            </a:r>
          </a:p>
          <a:p xmlns:a="http://schemas.openxmlformats.org/drawingml/2006/main">
            <a:r>
              <a:t>https://doi.org/10.1016/j.jsv.2014.04.022</a:t>
            </a:r>
          </a:p>
          <a:p xmlns:a="http://schemas.openxmlformats.org/drawingml/2006/main">
            <a:r>
              <a:t/>
            </a:r>
          </a:p>
          <a:p xmlns:a="http://schemas.openxmlformats.org/drawingml/2006/main">
            <a:r>
              <a:t>[18] Weber et al., 2015</a:t>
            </a:r>
          </a:p>
          <a:p xmlns:a="http://schemas.openxmlformats.org/drawingml/2006/main">
            <a:r>
              <a:t>Mechanical properties of plant cells: micro-indentation and osmotic treatments. J. Exp. Bot. 66, 3229–3241.</a:t>
            </a:r>
          </a:p>
          <a:p xmlns:a="http://schemas.openxmlformats.org/drawingml/2006/main">
            <a:r>
              <a:t>https://doi.org/10.1093/jxb/erv135</a:t>
            </a:r>
          </a:p>
          <a:p xmlns:a="http://schemas.openxmlformats.org/drawingml/2006/main">
            <a:r>
              <a:t/>
            </a:r>
          </a:p>
          <a:p xmlns:a="http://schemas.openxmlformats.org/drawingml/2006/main">
            <a:r>
              <a:t>[19] Moshelion et al., 2002</a:t>
            </a:r>
          </a:p>
          <a:p xmlns:a="http://schemas.openxmlformats.org/drawingml/2006/main">
            <a:r>
              <a:t>Plasma Membrane Aquaporins in the Motor Cells of Samanea saman: Diurnal and Circadian Regulation. Plant Cell 14, 727–739.</a:t>
            </a:r>
          </a:p>
          <a:p xmlns:a="http://schemas.openxmlformats.org/drawingml/2006/main">
            <a:r>
              <a:t>https://doi.org/10.1105/tpc.010351</a:t>
            </a:r>
          </a:p>
          <a:p xmlns:a="http://schemas.openxmlformats.org/drawingml/2006/main">
            <a:r>
              <a:t/>
            </a:r>
          </a:p>
          <a:p xmlns:a="http://schemas.openxmlformats.org/drawingml/2006/main">
            <a:r>
              <a:t>[20] Fleurat-Lessard et al., 1997</a:t>
            </a:r>
          </a:p>
          <a:p xmlns:a="http://schemas.openxmlformats.org/drawingml/2006/main">
            <a:r>
              <a:t>Increased Expression of Vacuolar Aquaporin and H+-ATPase Related to Motor Cell Function in Mimosa pudica L. Plant Physiology 114, 827–834.</a:t>
            </a:r>
          </a:p>
          <a:p xmlns:a="http://schemas.openxmlformats.org/drawingml/2006/main">
            <a:r>
              <a:t>https://doi.org/10.1104/pp.114.3.827</a:t>
            </a:r>
          </a:p>
          <a:p xmlns:a="http://schemas.openxmlformats.org/drawingml/2006/main">
            <a:r>
              <a:t/>
            </a:r>
          </a:p>
          <a:p xmlns:a="http://schemas.openxmlformats.org/drawingml/2006/main">
            <a:r>
              <a:t>[21] Song, Yeom &amp; Lee, 2014</a:t>
            </a:r>
          </a:p>
          <a:p xmlns:a="http://schemas.openxmlformats.org/drawingml/2006/main">
            <a:r>
              <a:t>Real-time imaging of pulvinus bending in Mimosa pudica. Scientific Reports 4, 6466.</a:t>
            </a:r>
          </a:p>
          <a:p xmlns:a="http://schemas.openxmlformats.org/drawingml/2006/main">
            <a:r>
              <a:t>https://doi.org/10.1038/srep06466</a:t>
            </a:r>
          </a:p>
          <a:p xmlns:a="http://schemas.openxmlformats.org/drawingml/2006/main">
            <a:r>
              <a:t/>
            </a:r>
          </a:p>
          <a:p xmlns:a="http://schemas.openxmlformats.org/drawingml/2006/main">
            <a:r>
              <a:t>[22] Volkov et al., 2010</a:t>
            </a:r>
          </a:p>
          <a:p xmlns:a="http://schemas.openxmlformats.org/drawingml/2006/main">
            <a:r>
              <a:t>Mechanical and electrical anisotropy in Mimosa pudica pulvini. Plant Signaling &amp; Behavior 5, 1211–1221.</a:t>
            </a:r>
          </a:p>
          <a:p xmlns:a="http://schemas.openxmlformats.org/drawingml/2006/main">
            <a:r>
              <a:t>https://doi.org/10.4161/psb.5.10.12658</a:t>
            </a:r>
          </a:p>
          <a:p xmlns:a="http://schemas.openxmlformats.org/drawingml/2006/main">
            <a:r>
              <a:t/>
            </a:r>
          </a:p>
          <a:p xmlns:a="http://schemas.openxmlformats.org/drawingml/2006/main">
            <a:r>
              <a:t>[23] Hagihara et al., 2022</a:t>
            </a:r>
          </a:p>
          <a:p xmlns:a="http://schemas.openxmlformats.org/drawingml/2006/main">
            <a:r>
              <a:t>Calcium-mediated rapid movements defend against herbivorous insects in Mimosa pudica. Nature Communications 13, 6412.</a:t>
            </a:r>
          </a:p>
          <a:p xmlns:a="http://schemas.openxmlformats.org/drawingml/2006/main">
            <a:r>
              <a:t>https://doi.org/10.1038/s41467-022-34106-x</a:t>
            </a:r>
          </a:p>
          <a:p xmlns:a="http://schemas.openxmlformats.org/drawingml/2006/main">
            <a:r>
              <a:t/>
            </a:r>
          </a:p>
          <a:p xmlns:a="http://schemas.openxmlformats.org/drawingml/2006/main">
            <a:r>
              <a:t>[24] Favre &amp; Agosti, 2007</a:t>
            </a:r>
          </a:p>
          <a:p xmlns:a="http://schemas.openxmlformats.org/drawingml/2006/main">
            <a:r>
              <a:t>Voltage-dependent action potentials in Arabidopsis thaliana. Physiologia Plantarum.</a:t>
            </a:r>
          </a:p>
          <a:p xmlns:a="http://schemas.openxmlformats.org/drawingml/2006/main">
            <a:r>
              <a:t>https://doi.org/10.1111/j.1399-3054.2007.00954.x</a:t>
            </a:r>
          </a:p>
          <a:p xmlns:a="http://schemas.openxmlformats.org/drawingml/2006/main">
            <a:r>
              <a:t/>
            </a:r>
          </a:p>
          <a:p xmlns:a="http://schemas.openxmlformats.org/drawingml/2006/main">
            <a:r>
              <a:t>[25] Iino, Long &amp; Wang, 2001</a:t>
            </a:r>
          </a:p>
          <a:p xmlns:a="http://schemas.openxmlformats.org/drawingml/2006/main">
            <a:r>
              <a:t>Auxin- and Abscisic Acid-Dependent Osmoregulation in Protoplasts of Phaseolus vulgaris Pulvini. Plant and Cell Physiology 42, 1219–1227.</a:t>
            </a:r>
          </a:p>
          <a:p xmlns:a="http://schemas.openxmlformats.org/drawingml/2006/main">
            <a:r>
              <a:t>https://doi.org/10.1093/pcp/pce157</a:t>
            </a:r>
          </a:p>
          <a:p xmlns:a="http://schemas.openxmlformats.org/drawingml/2006/main">
            <a:r>
              <a:t/>
            </a:r>
          </a:p>
          <a:p xmlns:a="http://schemas.openxmlformats.org/drawingml/2006/main">
            <a:r>
              <a:t>[26] Siegel et al., 2009</a:t>
            </a:r>
          </a:p>
          <a:p xmlns:a="http://schemas.openxmlformats.org/drawingml/2006/main">
            <a:r>
              <a:t>Calcium elevation-dependent and attenuated resting calcium-dependent abscisic acid induction of stomatal closure and abscisic acid-induced enhancement of calcium sensitivities of S-type anion and inward-rectifying K+ channels in Arabidopsis guard cells. The Plant Journal.</a:t>
            </a:r>
          </a:p>
          <a:p xmlns:a="http://schemas.openxmlformats.org/drawingml/2006/main">
            <a:r>
              <a:t>https://doi.org/10.1111/j.1365-313X.2009.03872.x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Далее — компактные расчёты, ориентир размеров пластинки и материалы по акустике и слуху.</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Предложено объяснение ограниченной выгоды специализированной звуковой связи у растений. Многие изменения роста и физиологии развиваются медленнее, чем распространяются сигналы: сокращение времени передачи не всегда ускоряет полезную реакцию. Это не утверждение, что у растений нет быстрых сигналов или движений. Венерина мухоловка и мимоза показывают, что быстрые движения возможны, но требуют специализированных механизмов. Отдельно учитываем затраты на создание органа и его работу. Далее выбираем животное как получателя, способного быстро реагировать и приносить пользу растению.</a:t>
            </a:r>
          </a:p>
          <a:p xmlns:a="http://schemas.openxmlformats.org/drawingml/2006/main">
            <a:r>
              <a:t/>
            </a:r>
          </a:p>
          <a:p xmlns:a="http://schemas.openxmlformats.org/drawingml/2006/main">
            <a:r>
              <a:t>[2] Forterre et al., 2005</a:t>
            </a:r>
          </a:p>
          <a:p xmlns:a="http://schemas.openxmlformats.org/drawingml/2006/main">
            <a:r>
              <a:t>How the Venus flytrap snaps. Nature 433, 421–425.</a:t>
            </a:r>
          </a:p>
          <a:p xmlns:a="http://schemas.openxmlformats.org/drawingml/2006/main">
            <a:r>
              <a:t>https://doi.org/10.1038/nature03185</a:t>
            </a:r>
          </a:p>
          <a:p xmlns:a="http://schemas.openxmlformats.org/drawingml/2006/main">
            <a:r>
              <a:t/>
            </a:r>
          </a:p>
          <a:p xmlns:a="http://schemas.openxmlformats.org/drawingml/2006/main">
            <a:r>
              <a:t>[3] Fleurat-Lessard et al., 1997</a:t>
            </a:r>
          </a:p>
          <a:p xmlns:a="http://schemas.openxmlformats.org/drawingml/2006/main">
            <a:r>
              <a:t>Distribution and activity of the plasma membrane H⁺-ATPase in Mimosa pudica. Plant Physiology 113, 747–754.</a:t>
            </a:r>
          </a:p>
          <a:p xmlns:a="http://schemas.openxmlformats.org/drawingml/2006/main">
            <a:r>
              <a:t>https://doi.org/10.1104/pp.113.3.747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Предлагаемое преобразование событий в уровни АБК задаёт соответствие: небольшой запас нектара → низкий уровень и один щелчок; большой запас → средний и два; истощение → повышенный и три; повреждение насекомыми → высокий и четыре. Это не прямая пропорциональность между количеством нектара и уровнем АБК: истощение и повреждение должны включать отдельные регуляторные ветви. Данные о природных электрических сигналах подтверждают возможность передачи и запуска движений, но не являются наблюдением такого преобразования событий в четыре уровня. Модель предполагает регуляцию её синтеза, транспорта и удаления в узле по входящим сигналам, а не универсальную прямую зависимость АБК от количества нектара. Сначала устанавливается состояние спусковых клеток, затем запускается одна волна. Длительность настройки входит в задержку обновления сообщения. Основная полоса проводит импульс независимо от числа разрешённых ответвлений. Один раз освобождённый прицветник остаётся разряженным до восстановления; это предотвращает повторный щелчок от того же пуска.</a:t>
            </a:r>
          </a:p>
          <a:p xmlns:a="http://schemas.openxmlformats.org/drawingml/2006/main">
            <a:r>
              <a:t/>
            </a:r>
          </a:p>
          <a:p xmlns:a="http://schemas.openxmlformats.org/drawingml/2006/main">
            <a:r>
              <a:t>[23] Hagihara et al., 2022</a:t>
            </a:r>
          </a:p>
          <a:p xmlns:a="http://schemas.openxmlformats.org/drawingml/2006/main">
            <a:r>
              <a:t>Calcium-mediated rapid movements defend against herbivorous insects in Mimosa pudica. Nature Communications 13, 6412.</a:t>
            </a:r>
          </a:p>
          <a:p xmlns:a="http://schemas.openxmlformats.org/drawingml/2006/main">
            <a:r>
              <a:t>https://doi.org/10.1038/s41467-022-34106-x</a:t>
            </a:r>
          </a:p>
          <a:p xmlns:a="http://schemas.openxmlformats.org/drawingml/2006/main">
            <a:r>
              <a:t/>
            </a:r>
          </a:p>
          <a:p xmlns:a="http://schemas.openxmlformats.org/drawingml/2006/main">
            <a:r>
              <a:t>[24] Favre &amp; Agosti, 2007</a:t>
            </a:r>
          </a:p>
          <a:p xmlns:a="http://schemas.openxmlformats.org/drawingml/2006/main">
            <a:r>
              <a:t>Voltage-dependent action potentials in Arabidopsis thaliana. Physiologia Plantarum.</a:t>
            </a:r>
          </a:p>
          <a:p xmlns:a="http://schemas.openxmlformats.org/drawingml/2006/main">
            <a:r>
              <a:t>https://doi.org/10.1111/j.1399-3054.2007.00954.x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Природный механизм Mimosa pudica. На слайде верхняя панель a из Fig.1: снимки через1,3,12с после прикосновения к кончику пера сложного листа. Белая стрелка указывает место воздействия; жёлтые — моторные основания с кальциевым сигналом, красные — переместившиеся листочки. Псевдоцвет отражает сигнал GCaMP6f, а не естественную окраску. Подушечки третьего порядка находятся в основаниях листочков; общая ось пера называется рахиллой. После прикосновения Hagihara et al. измерили скорость потенциала действия5,52±0,43мм/с и кальциевого сигнала5,87±0,75мм/с. Это пространственно и во времени связанные сигналы, не доказательство односторонней линейной причинной цепи между ними. После повреждения возникают потенциал действия и более медленный вариабельный потенциал. Область распространения зависит от воздействия и проводящих переходов. В модели прицветников используем принцип общей волны и локальных моторных ответов; регуляция уровня АБК и выбор числа щелчков являются предложенной частью конструкции. Изображение обрезано до панели a, без изменения данных. © Authors2022, CC BY4.0, https://creativecommons.org/licenses/by/4.0/.</a:t>
            </a:r>
          </a:p>
          <a:p xmlns:a="http://schemas.openxmlformats.org/drawingml/2006/main">
            <a:r>
              <a:t/>
            </a:r>
          </a:p>
          <a:p xmlns:a="http://schemas.openxmlformats.org/drawingml/2006/main">
            <a:r>
              <a:t>[23] Hagihara et al., 2022</a:t>
            </a:r>
          </a:p>
          <a:p xmlns:a="http://schemas.openxmlformats.org/drawingml/2006/main">
            <a:r>
              <a:t>Calcium-mediated rapid movements defend against herbivorous insects in Mimosa pudica. Nature Communications 13, 6412.</a:t>
            </a:r>
          </a:p>
          <a:p xmlns:a="http://schemas.openxmlformats.org/drawingml/2006/main">
            <a:r>
              <a:t>https://doi.org/10.1038/s41467-022-34106-x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Показана сокращённая схема природного моторного механизма, а не детальное описание всех каналов. Электрические и кальциевые изменения сопровождают и регулируют выход осмотически активных ионов; вода покидает клетки, экстензорная сторона теряет тургор, и листочек складывается. Вода движется по градиенту водного потенциала, аквапорины повышают мембранную проницаемость. H+-АТФазы и связанный с ними транспорт восстанавливают ионные градиенты; вода возвращается осмотически. Насосы не перекачивают воду напрямую. У мимозы повторное раскрытие значительно медленнее складывания. Song et al. выявили изгибаемый проводящий пучок и складчатую поверхность подушечки, позволяющие менять форму. Эти анатомические детали исследованы прежде всего на крупных подушечках; точные размеры и распределение тканей малого моторного основания не приравниваем к ним. В нашем органе аналогичная малая подушка освобождает упор, а энергия звука уже запасена в сухой пластинке. Наличие защёлки, четырёх спусков и такой регуляции уровня АБК не является свойством мимозы.</a:t>
            </a:r>
          </a:p>
          <a:p xmlns:a="http://schemas.openxmlformats.org/drawingml/2006/main">
            <a:r>
              <a:t/>
            </a:r>
          </a:p>
          <a:p xmlns:a="http://schemas.openxmlformats.org/drawingml/2006/main">
            <a:r>
              <a:t>[3] Fleurat-Lessard et al., 1997</a:t>
            </a:r>
          </a:p>
          <a:p xmlns:a="http://schemas.openxmlformats.org/drawingml/2006/main">
            <a:r>
              <a:t>Distribution and activity of the plasma membrane H⁺-ATPase in Mimosa pudica. Plant Physiology 113, 747–754.</a:t>
            </a:r>
          </a:p>
          <a:p xmlns:a="http://schemas.openxmlformats.org/drawingml/2006/main">
            <a:r>
              <a:t>https://doi.org/10.1104/pp.113.3.747</a:t>
            </a:r>
          </a:p>
          <a:p xmlns:a="http://schemas.openxmlformats.org/drawingml/2006/main">
            <a:r>
              <a:t/>
            </a:r>
          </a:p>
          <a:p xmlns:a="http://schemas.openxmlformats.org/drawingml/2006/main">
            <a:r>
              <a:t>[20] Fleurat-Lessard et al., 1997</a:t>
            </a:r>
          </a:p>
          <a:p xmlns:a="http://schemas.openxmlformats.org/drawingml/2006/main">
            <a:r>
              <a:t>Increased Expression of Vacuolar Aquaporin and H+-ATPase Related to Motor Cell Function in Mimosa pudica L. Plant Physiology 114, 827–834.</a:t>
            </a:r>
          </a:p>
          <a:p xmlns:a="http://schemas.openxmlformats.org/drawingml/2006/main">
            <a:r>
              <a:t>https://doi.org/10.1104/pp.114.3.827</a:t>
            </a:r>
          </a:p>
          <a:p xmlns:a="http://schemas.openxmlformats.org/drawingml/2006/main">
            <a:r>
              <a:t/>
            </a:r>
          </a:p>
          <a:p xmlns:a="http://schemas.openxmlformats.org/drawingml/2006/main">
            <a:r>
              <a:t>[21] Song, Yeom &amp; Lee, 2014</a:t>
            </a:r>
          </a:p>
          <a:p xmlns:a="http://schemas.openxmlformats.org/drawingml/2006/main">
            <a:r>
              <a:t>Real-time imaging of pulvinus bending in Mimosa pudica. Scientific Reports 4, 6466.</a:t>
            </a:r>
          </a:p>
          <a:p xmlns:a="http://schemas.openxmlformats.org/drawingml/2006/main">
            <a:r>
              <a:t>https://doi.org/10.1038/srep06466</a:t>
            </a:r>
          </a:p>
          <a:p xmlns:a="http://schemas.openxmlformats.org/drawingml/2006/main">
            <a:r>
              <a:t/>
            </a:r>
          </a:p>
          <a:p xmlns:a="http://schemas.openxmlformats.org/drawingml/2006/main">
            <a:r>
              <a:t>[22] Volkov et al., 2010</a:t>
            </a:r>
          </a:p>
          <a:p xmlns:a="http://schemas.openxmlformats.org/drawingml/2006/main">
            <a:r>
              <a:t>Mechanical and electrical anisotropy in Mimosa pudica pulvini. Plant Signaling &amp; Behavior 5, 1211–1221.</a:t>
            </a:r>
          </a:p>
          <a:p xmlns:a="http://schemas.openxmlformats.org/drawingml/2006/main">
            <a:r>
              <a:t>https://doi.org/10.4161/psb.5.10.12658</a:t>
            </a:r>
          </a:p>
          <a:p xmlns:a="http://schemas.openxmlformats.org/drawingml/2006/main">
            <a:r>
              <a:t/>
            </a:r>
          </a:p>
          <a:p xmlns:a="http://schemas.openxmlformats.org/drawingml/2006/main">
            <a:r>
              <a:t>[23] Hagihara et al., 2022</a:t>
            </a:r>
          </a:p>
          <a:p xmlns:a="http://schemas.openxmlformats.org/drawingml/2006/main">
            <a:r>
              <a:t>Calcium-mediated rapid movements defend against herbivorous insects in Mimosa pudica. Nature Communications 13, 6412.</a:t>
            </a:r>
          </a:p>
          <a:p xmlns:a="http://schemas.openxmlformats.org/drawingml/2006/main">
            <a:r>
              <a:t>https://doi.org/10.1038/s41467-022-34106-x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Регулятором выбрана абсцизовая кислота, АБК (ABA). В модели меняется её локальная концентрация в звуковом узле. Iino et al. (2001) показали: в KCl-среде протопласты из двигательной подушечки Phaseolus vulgaris набухали под действием IAA и уменьшались под действием ABA. Блокатор анионных каналов подавлял ABA-ответ, что согласуется с выходом Cl− и компенсирующим выходом K+. Это изменение объёма протопласта, а не прямое измерение тургора клетки со стенкой. Siegel et al. (2009) установили в замыкающих клетках Arabidopsis, что предварительное воздействие ABA усиливает активацию S-типных анионных каналов цитозольным Ca²⁺ и подавление входящих K+-токов. Эти опыты обосновывают выбор вещества для подготовки ионного ответа. В предлагаемом звуковом узле четыре спусковых участка различаются чувствительностью к АБК через состав и количество рецепторов и компонентов регуляции каналов. Настройка происходит до начала серии; концентрация удерживается примерно постоянной на время её прохождения. Общая волна вызывает местный подъём Ca²⁺, и подготовленные клетки достигают порога потери объёма, необходимого для освобождения упора. АБК может сама вызывать кальциевые и моторные ответы: модель требует рабочего диапазона, в котором один гормональный фон не освобождает защёлку, а сочетание фона и пусковой волны освобождает. Эти диапазоны, четыре порога и преобразование нектара или повреждения в уровень АБК — заданная организация новой системы, не результат приведённых опытов. Гормональная настройка не задаёт интервалы0,5с и не должна происходить между щелчками; их задаёт распространение общей волны. Локальность настройки также необходима, чтобы общий водный стресс не подменял сообщение о ресурсе. Ауксин в сравнительном опыте давал противоположное изменение объёма, поэтому для подготовки спуска выбран ABA-путь.</a:t>
            </a:r>
          </a:p>
          <a:p xmlns:a="http://schemas.openxmlformats.org/drawingml/2006/main">
            <a:r>
              <a:t/>
            </a:r>
          </a:p>
          <a:p xmlns:a="http://schemas.openxmlformats.org/drawingml/2006/main">
            <a:r>
              <a:t>[25] Iino, Long &amp; Wang, 2001</a:t>
            </a:r>
          </a:p>
          <a:p xmlns:a="http://schemas.openxmlformats.org/drawingml/2006/main">
            <a:r>
              <a:t>Auxin- and Abscisic Acid-Dependent Osmoregulation in Protoplasts of Phaseolus vulgaris Pulvini. Plant and Cell Physiology 42, 1219–1227.</a:t>
            </a:r>
          </a:p>
          <a:p xmlns:a="http://schemas.openxmlformats.org/drawingml/2006/main">
            <a:r>
              <a:t>https://doi.org/10.1093/pcp/pce157</a:t>
            </a:r>
          </a:p>
          <a:p xmlns:a="http://schemas.openxmlformats.org/drawingml/2006/main">
            <a:r>
              <a:t/>
            </a:r>
          </a:p>
          <a:p xmlns:a="http://schemas.openxmlformats.org/drawingml/2006/main">
            <a:r>
              <a:t>[26] Siegel et al., 2009</a:t>
            </a:r>
          </a:p>
          <a:p xmlns:a="http://schemas.openxmlformats.org/drawingml/2006/main">
            <a:r>
              <a:t>Calcium elevation-dependent and attenuated resting calcium-dependent abscisic acid induction of stomatal closure and abscisic acid-induced enhancement of calcium sensitivities of S-type anion and inward-rectifying K+ channels in Arabidopsis guard cells. The Plant Journal.</a:t>
            </a:r>
          </a:p>
          <a:p xmlns:a="http://schemas.openxmlformats.org/drawingml/2006/main">
            <a:r>
              <a:t>https://doi.org/10.1111/j.1365-313X.2009.03872.x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Преимущество предполагается при быстром истощении и восполнении нектара и медленном изменении обычных внешних признаков. Открытие отдельного цветка бальсы на одну ночь подтверждено наблюдениями; звуковая регуляция нового растения — гипотеза. Скорость распространения воздуха не равна скорости переключения ткани: её задержку нужно учитывать. Не утверждаем, что запахи всегда неинформативны или обязательно медленны.</a:t>
            </a:r>
          </a:p>
          <a:p xmlns:a="http://schemas.openxmlformats.org/drawingml/2006/main">
            <a:r>
              <a:t/>
            </a:r>
          </a:p>
          <a:p xmlns:a="http://schemas.openxmlformats.org/drawingml/2006/main">
            <a:r>
              <a:t>[7] Kays et al., 2012</a:t>
            </a:r>
          </a:p>
          <a:p xmlns:a="http://schemas.openxmlformats.org/drawingml/2006/main">
            <a:r>
              <a:t>Animal visitation and pollination of flowering balsa trees (Ochroma pyramidale) in Panama. Mesoamericana 16(3).</a:t>
            </a:r>
          </a:p>
          <a:p xmlns:a="http://schemas.openxmlformats.org/drawingml/2006/main">
            <a:r>
              <a:t>https://research.si.edu/publication-details/?id=115785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гипотеза постепенного отбора. Каждый этап должен приносить самостоятельную выгоду; сложная система не возникает сразу. Чтобы обучение было устойчивым, звук должен надёжно соответствовать награде. При обманчивых сигналах животные могут перестать реагировать. В новой архитектуре отдельно должны появиться удерживающий выступ, управляемое освобождение и согласование четырёх прицветников. Ни эти новшества, ни их промежуточная выгода не доказаны. Фактическая эволюционная история такого растения неизвестна.</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 щелчков на узел за активные 8 часов — в среднем один щелчок каждые 4,8 минуты. Четыре прицветника делят эту нагрузку: около 25 циклов в сутки на каждый. Полные четырёхщелчковые серии при равномерной нагрузке повторялись бы примерно каждые 19 минут. Это бюджетный сценарий, не доказательство скорости восстановления или естественной частоты сообщений. Один цикл включает зарядку, освобождение и подготовку органа. Узел переживает смену отдельных цветков.</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 дБ SPL — цель у адресата в области 20 кГц, не экспериментальный порог распознавания импульсов. Формула для интенсивности использует опорное значение I0=10^-12 Вт/м²; при ρc≈412 Па·с/м уровень интенсивности отличается от SPL примерно на 0,1 дБ, что мало для этой оценки. Более точное вычисление из LI=33 дБ даёт I=1,9953e-9 Вт/м², P=1,0029e-4 Вт, E=1,0029e-6 Дж. Округляем до 1 мкДж. Множитель 10 компенсирует заданные 10 дБ поглощения по пути. Это потери в воздухе при принятом α=0,5 дБ/м, а не потеря на расстоянии 1 м. Предполагаем сферическое расхождение и основную энергию в области 20 кГц. Не учитываем листву, направленность и шум. Если требуемый уровень или потери увеличатся на 10 дБ, энергия и работа должны вырасти в 10 раз. Физическая основа: интенсивность, мощность и децибелы; частотное поглощение зависит от погоды.</a:t>
            </a:r>
          </a:p>
          <a:p xmlns:a="http://schemas.openxmlformats.org/drawingml/2006/main">
            <a:r>
              <a:t/>
            </a:r>
          </a:p>
          <a:p xmlns:a="http://schemas.openxmlformats.org/drawingml/2006/main">
            <a:r>
              <a:t>[5] Koay et al., 2002</a:t>
            </a:r>
          </a:p>
          <a:p xmlns:a="http://schemas.openxmlformats.org/drawingml/2006/main">
            <a:r>
              <a:t>Hearing in American leaf-nosed bats. I: Phyllostomus hastatus. Hearing Research 171, 96–102.</a:t>
            </a:r>
          </a:p>
          <a:p xmlns:a="http://schemas.openxmlformats.org/drawingml/2006/main">
            <a:r>
              <a:t>https://doi.org/10.1016/S0378-5955(02)00458-6</a:t>
            </a:r>
          </a:p>
          <a:p xmlns:a="http://schemas.openxmlformats.org/drawingml/2006/main">
            <a:r>
              <a:t/>
            </a:r>
          </a:p>
          <a:p xmlns:a="http://schemas.openxmlformats.org/drawingml/2006/main">
            <a:r>
              <a:t>[11] OpenStax, University Physics, т. 1</a:t>
            </a:r>
          </a:p>
          <a:p xmlns:a="http://schemas.openxmlformats.org/drawingml/2006/main">
            <a:r>
              <a:t>Разделы 17.2–17.3: скорость и интенсивность звука, сферическое расхождение, децибелы.</a:t>
            </a:r>
          </a:p>
          <a:p xmlns:a="http://schemas.openxmlformats.org/drawingml/2006/main">
            <a:r>
              <a:t>https://openstax.org/books/university-physics-volume-1/pages/17-3-sound-intensity</a:t>
            </a:r>
          </a:p>
          <a:p xmlns:a="http://schemas.openxmlformats.org/drawingml/2006/main">
            <a:r>
              <a:t/>
            </a:r>
          </a:p>
          <a:p xmlns:a="http://schemas.openxmlformats.org/drawingml/2006/main">
            <a:r>
              <a:t>[16] Goerlitz, 2018</a:t>
            </a:r>
          </a:p>
          <a:p xmlns:a="http://schemas.openxmlformats.org/drawingml/2006/main">
            <a:r>
              <a:t>Weather conditions determine attenuation and speed of sound. Ecology and Evolution 8, 5090–5100.</a:t>
            </a:r>
          </a:p>
          <a:p xmlns:a="http://schemas.openxmlformats.org/drawingml/2006/main">
            <a:r>
              <a:t>https://doi.org/10.1002/ece3.4088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Оценка связывает частоту, эффективную массу, жёсткость, работу и ход. Для φ(r)=[1-(r/a)^2]^2 эффективная масса mэфф=ρhS/5≈0,90 мг. При f=20 кГц k≈14225 Н/м. W=0,0001 Дж даёт δ=sqrt(2W/k)=0,0001186 м, Fmax=sqrt(2Wk)=1,6867 Н. Это пиковая обобщённая сила в тяже перед освобождением в явно принятом линейном приближении; средняя≈0,843 Н. График — выбранная расчётная модель, не измеренная кривая ткани. Прежние 0,5 мм при той же жёсткости потребовали бы 1,78 мДж. Если форма оболочки, привод или контакт меняют модальную жёсткость, все связанные параметры нужно пересчитать. При сечении тяжа 0,1 мм² напряжение достигает ≈17 МПа; фактическая прочность и усталость влажной неоднородной ткани не проверены. Защёлка и опора должны удерживать полную пиковую нагрузку.</a:t>
            </a:r>
          </a:p>
          <a:p xmlns:a="http://schemas.openxmlformats.org/drawingml/2006/main">
            <a:r>
              <a:t/>
            </a:r>
          </a:p>
          <a:p xmlns:a="http://schemas.openxmlformats.org/drawingml/2006/main">
            <a:r>
              <a:t>[14] Leissa, 1969</a:t>
            </a:r>
          </a:p>
          <a:p xmlns:a="http://schemas.openxmlformats.org/drawingml/2006/main">
            <a:r>
              <a:t>Vibration of Plates. NASA SP-160. Основная частота круглой пластинки с закреплённым краем.</a:t>
            </a:r>
          </a:p>
          <a:p xmlns:a="http://schemas.openxmlformats.org/drawingml/2006/main">
            <a:r>
              <a:t>https://ntrs.nasa.gov/citations/19700009156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Скорость поверхности задаём v(r,t)=v0·φ(r)·exp(-t/τ)·cos(2πft), где φ(r)=[1-(r/a)^2]^2. Здесь t=0 соответствует фазе максимальной скорости в начале свободного звукового колебания после переходного движения; весь переход от удержания не описывается этой синусоидой. φ² в среднем по диску равно 1/5. За T≫τ и много периодов среднее exp(-2t/τ)cos²(ωt)≈τ/(4T). Поэтому v_rms²≈v0²·(1/5)·τ/(4T). При T=10 мс, τ=1 мс, f=20 кГц это даёт v0≈3,886 м/с; поправка к усреднению меньше 0,01%. Амплитуда A≈30,9 мкм — пик центра звуковой моды, а не ход медленной зарядки. При σ=0,01 пик вырос бы до≈12,3 м/с; при τ=10 мс нельзя использовать предел T≫τ без поправки. σ описывает связь средней квадратичной скорости поверхности с акустической мощностью, не КПД. Его значение задано, не выведено из радиуса.</a:t>
            </a:r>
          </a:p>
          <a:p xmlns:a="http://schemas.openxmlformats.org/drawingml/2006/main">
            <a:r>
              <a:t/>
            </a:r>
          </a:p>
          <a:p xmlns:a="http://schemas.openxmlformats.org/drawingml/2006/main">
            <a:r>
              <a:t>[17] Squicciarini et al., 2014</a:t>
            </a:r>
          </a:p>
          <a:p xmlns:a="http://schemas.openxmlformats.org/drawingml/2006/main">
            <a:r>
              <a:t>Boundary conditions and radiation efficiency of rectangular plates. J. Sound Vib. 333, 3931–3948.</a:t>
            </a:r>
          </a:p>
          <a:p xmlns:a="http://schemas.openxmlformats.org/drawingml/2006/main">
            <a:r>
              <a:t>https://doi.org/10.1016/j.jsv.2014.04.022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Давление p=0,3 МПа — допущение о полезном перепаде давления на эффективной площади подушки S=16 мм². χ=0,5 — идеальное отношение сил рычага с плечами 1:2; трение и упругая реакция стенок снижают фактический выход. Требуемое p=1,69/(0,5·16e-6)≈0,21 МПа. Принимаем 0,3 МПа, выход 2,4 Н, запас ≈1,42. Порядок тургора сопоставим с оценками для клеток BY-2, но их измерения не доказывают работоспособность нового привода. Ход центра≈0,119 мм, подушки≈0,059 мм. При высоте подушки≈0,59 мм это около 10% объёма, ≈0,95 мкл воды.</a:t>
            </a:r>
          </a:p>
          <a:p xmlns:a="http://schemas.openxmlformats.org/drawingml/2006/main">
            <a:r>
              <a:t/>
            </a:r>
          </a:p>
          <a:p xmlns:a="http://schemas.openxmlformats.org/drawingml/2006/main">
            <a:r>
              <a:t>[18] Weber et al., 2015</a:t>
            </a:r>
          </a:p>
          <a:p xmlns:a="http://schemas.openxmlformats.org/drawingml/2006/main">
            <a:r>
              <a:t>Mechanical properties of plant cells: micro-indentation and osmotic treatments. J. Exp. Bot. 66, 3229–3241.</a:t>
            </a:r>
          </a:p>
          <a:p xmlns:a="http://schemas.openxmlformats.org/drawingml/2006/main">
            <a:r>
              <a:t>https://doi.org/10.1093/jxb/erv135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МПа·мм²=Н. Отношение сил χ=0,5 соответствует увеличению перемещения вдвое только для идеального рычага. Нужная выходная сила≈1,69 Н, входная≈3,37 Н. Полезный перепад давления≈0,211 МПа; заданные 0,3 МПа дают запас 1,42 до учёта потерь. Ход подушки≈0,0593 мм. Высота≈0,593 мм и площадь16 мм² задают объём≈9,49 мм³=9,49 мкл. Прибавка10%≈0,949 мкл. Мембранное осмотическое давление должно компенсировать механическое давление и сохранять градиент для входа воды. При 0,3 МПа нагрузки и 0,1 МПа остаточного водного потенциала требуется суммарная разность осмотических концентраций порядка0,4e6/(RT)≈0,16 осмоль/л при298К. Это концентрация частиц, не непосредственно концентрация соли. Все размеры и геометрическое преобразование заданы; измерения тургора в другой ткани подтверждают лишь достижимый порядок давления.</a:t>
            </a:r>
          </a:p>
          <a:p xmlns:a="http://schemas.openxmlformats.org/drawingml/2006/main">
            <a:r>
              <a:t/>
            </a:r>
          </a:p>
          <a:p xmlns:a="http://schemas.openxmlformats.org/drawingml/2006/main">
            <a:r>
              <a:t>[18] Weber et al., 2015</a:t>
            </a:r>
          </a:p>
          <a:p xmlns:a="http://schemas.openxmlformats.org/drawingml/2006/main">
            <a:r>
              <a:t>Mechanical properties of plant cells: micro-indentation and osmotic treatments. J. Exp. Bot. 66, 3229–3241.</a:t>
            </a:r>
          </a:p>
          <a:p xmlns:a="http://schemas.openxmlformats.org/drawingml/2006/main">
            <a:r>
              <a:t>https://doi.org/10.1093/jxb/erv135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Pf порядка3–5 мкм/с наблюдалась у протопластов двигательных клеток Samanea; берём5 как ориентир, не параметр нового органа. Lp=Pf·Vw/(RT), Vw=18e-6 м³/моль, R=8,314, T=298К →3,63e-14 м/(Па·с). Для заданного остаточного ΔΨ=1e5Па j≈3,63e-9м/с. Для сферической клетки V/A=r/3: доля прироста ε=0,1 требует t=εr/(3j)≈91,8с при r=10мкм. Это оптимистичная оценка параллельно снабжаемых клеток при постоянном градиенте; стенки, вакуолярная мембрана, ионный транспорт и тканевые пути могут замедлять процесс. Даже десятикратная Pf дала бы около9с, а не0,5с. Средний ход подушки0,059мм за92с≈0,00065мм/с; выходной ход центра≈0,0013мм/с. Это медленная зарядка, её скорость нельзя сравнивать с пиковой скоростью4м/с как с требованием к одному этапу. Отток и готовность упора удлиняют восстановление. Наблюдения Mimosa также показывают медленное восстановление после быстрого движения, но не задают точное время новой конструкции.</a:t>
            </a:r>
          </a:p>
          <a:p xmlns:a="http://schemas.openxmlformats.org/drawingml/2006/main">
            <a:r>
              <a:t/>
            </a:r>
          </a:p>
          <a:p xmlns:a="http://schemas.openxmlformats.org/drawingml/2006/main">
            <a:r>
              <a:t>[19] Moshelion et al., 2002</a:t>
            </a:r>
          </a:p>
          <a:p xmlns:a="http://schemas.openxmlformats.org/drawingml/2006/main">
            <a:r>
              <a:t>Plasma Membrane Aquaporins in the Motor Cells of Samanea saman: Diurnal and Circadian Regulation. Plant Cell 14, 727–739.</a:t>
            </a:r>
          </a:p>
          <a:p xmlns:a="http://schemas.openxmlformats.org/drawingml/2006/main">
            <a:r>
              <a:t>https://doi.org/10.1105/tpc.010351</a:t>
            </a:r>
          </a:p>
          <a:p xmlns:a="http://schemas.openxmlformats.org/drawingml/2006/main">
            <a:r>
              <a:t/>
            </a:r>
          </a:p>
          <a:p xmlns:a="http://schemas.openxmlformats.org/drawingml/2006/main">
            <a:r>
              <a:t>[22] Volkov et al., 2010</a:t>
            </a:r>
          </a:p>
          <a:p xmlns:a="http://schemas.openxmlformats.org/drawingml/2006/main">
            <a:r>
              <a:t>Mechanical and electrical anisotropy in Mimosa pudica pulvini. Plant Signaling &amp; Behavior 5, 1211–1221.</a:t>
            </a:r>
          </a:p>
          <a:p xmlns:a="http://schemas.openxmlformats.org/drawingml/2006/main">
            <a:r>
              <a:t>https://doi.org/10.4161/psb.5.10.12658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Hagihara et al. потенциал действия в рахилле Mimosa после прикосновения шёл со скоростью5,52±0,43мм/с, после повреждения4,27±0,41мм/с. Для нового узла задаём v=5мм/с как ориентир, не измеренный параметр этого растения. Для точки ответвления i время щелчка ti=Li/v+τi, где Li — длина общего проводящего пути, τi — местная задержка передачи к спуску и освобождения. Разность начал Δti=ΔLi/v+τ(i+1)-τi. При одинаковых местных задержках и ΔL=2,55мм получаем0,51с между началами. Щелчок0,01с оставляет паузу0,50с. Расстояние относится к последовательным точкам ответвления на общей основе, не к расстоянию между центрами пластинок. Части прицветников могут располагаться вокруг основы, а короткие ответвления должны иметь сопоставимые задержки. При скорости4–6мм/с та же геометрия даёт паузу примерно0,63–0,42с. Поэтому0,5с — номинальная настройка; сообщение определяется числом щелчков, а не точным секундомером. Одна волна активирует каждый разрешённый спуск один раз. Уровень АБК задаёт возбудимость ответвлений, не амплитуду проходящего потенциала действия.</a:t>
            </a:r>
          </a:p>
          <a:p xmlns:a="http://schemas.openxmlformats.org/drawingml/2006/main">
            <a:r>
              <a:t/>
            </a:r>
          </a:p>
          <a:p xmlns:a="http://schemas.openxmlformats.org/drawingml/2006/main">
            <a:r>
              <a:t>[23] Hagihara et al., 2022</a:t>
            </a:r>
          </a:p>
          <a:p xmlns:a="http://schemas.openxmlformats.org/drawingml/2006/main">
            <a:r>
              <a:t>Calcium-mediated rapid movements defend against herbivorous insects in Mimosa pudica. Nature Communications 13, 6412.</a:t>
            </a:r>
          </a:p>
          <a:p xmlns:a="http://schemas.openxmlformats.org/drawingml/2006/main">
            <a:r>
              <a:t>https://doi.org/10.1038/s41467-022-34106-x</a:t>
            </a:r>
          </a:p>
          <a:p xmlns:a="http://schemas.openxmlformats.org/drawingml/2006/main">
            <a:r>
              <a:t/>
            </a:r>
          </a:p>
          <a:p xmlns:a="http://schemas.openxmlformats.org/drawingml/2006/main">
            <a:r>
              <a:t>[24] Favre &amp; Agosti, 2007</a:t>
            </a:r>
          </a:p>
          <a:p xmlns:a="http://schemas.openxmlformats.org/drawingml/2006/main">
            <a:r>
              <a:t>Voltage-dependent action potentials in Arabidopsis thaliana. Physiologia Plantarum.</a:t>
            </a:r>
          </a:p>
          <a:p xmlns:a="http://schemas.openxmlformats.org/drawingml/2006/main">
            <a:r>
              <a:t>https://doi.org/10.1111/j.1399-3054.2007.00954.x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 S=3,21699e-5м², h=0,0002м и ρ=700 кг/м³ полная масса≈4,504мг, mэфф≈0,9008мг. Для выбранной моды и пика3,886м/с E≈6,80мкДж, около6,8% принятой положительной работы100мкДж. Согласование с Eзв≈1мкДж означает, что около14,7% энергии этой моды излучается при заданном τ=1мс; остальная теряется. Это не независимо измеренные эффективности. При передаче всей работы в выбранную моду энергетическая верхняя оценка скорости sqrt(2W/mэфф)≈14,9 м/с. Реальный переход от начального удержания, доля потерь и максимум скорости всей конструкции ещё не определены. Требование v0≈3,9 м/с относится только к заданной звуковой моде; считать его общим пиком движения было бы неверно. Пик обобщённой динамической возвращающей силы mэффωv0≈0,44Н относится к свободной звуковой моде после освобождения. Он отличается от пикового предварительного натяжения≈1,7Н: при переходном движении часть энергии уходит в другие моды и потери. Статическая мода и звуковая мода здесь приближённо отождествлены для согласования жёсткости; конкретная оболочка и разъединение с приводом требуют расчёта. Оценка показывает отсутствие прямого энергетического противоречия при заданных предпосылках, но не доказывает реализуемость защёлки и повторения.</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Масса всего узла из четырёх прицветников — проектное допущение; не четыре раза по 0,5 г. Состав и долю живых тканей необходимо проверить по анатомии. Изменение числа прицветников или массы пересчитывает бюджет. Строительная стоимость 1,5 г глюкозы на г сухой массы выбрана как порядок величины по измерениям растительных тканей: у Amthor et al. приведены значения примерно 1,3–1,5 для вегетативных органов изученных культур, выше у некоторых семян. Нельзя считать это измерением нового органа. Строительная стоимость включает и углерод, оставшийся в ткани, и расход на её синтез; перевод в кДж — ресурсный эквивалент, а не только выделившееся тепло. 15,6 кДж/г — приблизительная теплота полного окисления глюкозы.</a:t>
            </a:r>
          </a:p>
          <a:p xmlns:a="http://schemas.openxmlformats.org/drawingml/2006/main">
            <a:r>
              <a:t/>
            </a:r>
          </a:p>
          <a:p xmlns:a="http://schemas.openxmlformats.org/drawingml/2006/main">
            <a:r>
              <a:t>[9] Amthor et al., 1994</a:t>
            </a:r>
          </a:p>
          <a:p xmlns:a="http://schemas.openxmlformats.org/drawingml/2006/main">
            <a:r>
              <a:t>Energy content, construction cost and phytomass accumulation of Glycine max and Sorghum bicolor. New Phytologist 128, 443–450.</a:t>
            </a:r>
          </a:p>
          <a:p xmlns:a="http://schemas.openxmlformats.org/drawingml/2006/main">
            <a:r>
              <a:t>https://doi.org/10.1111/j.1469-8137.1994.tb02990.x</a:t>
            </a:r>
          </a:p>
          <a:p xmlns:a="http://schemas.openxmlformats.org/drawingml/2006/main">
            <a:r>
              <a:t/>
            </a:r>
          </a:p>
          <a:p xmlns:a="http://schemas.openxmlformats.org/drawingml/2006/main">
            <a:r>
              <a:t>[12] NIST Chemistry WebBook</a:t>
            </a:r>
          </a:p>
          <a:p xmlns:a="http://schemas.openxmlformats.org/drawingml/2006/main">
            <a:r>
              <a:t>α-D-Glucopyranose. Теплота сгорания ≈2800 кДж/моль, или ≈15,6 кДж/г.</a:t>
            </a:r>
          </a:p>
          <a:p xmlns:a="http://schemas.openxmlformats.org/drawingml/2006/main">
            <a:r>
              <a:t>https://webbook.nist.gov/cgi/cbook.cgi?ID=C26655345&amp;Mask=2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 г живой сухой массы и 0,01 г глюкозы/(г·сутки) — модельные допущения. Сухие опорные части не имеют собственного дыхания после созревания, но могут требовать ремонта; этот пример не включает их замену. Работы Penning de Vries дают основание выделять белковый обмен и поддержание ионных градиентов; точную ставку для неизвестного органа они не определяют. Базовое обслуживание считаем отдельно от дополнительной работы при активации. ε=1% — метаболический КПД привода, он отличается от акустического КПД η=1% в предыдущем расчёте. Численное совпадение случайно. Водный баланс и цена подачи ионов остаются неопределёнными.</a:t>
            </a:r>
          </a:p>
          <a:p xmlns:a="http://schemas.openxmlformats.org/drawingml/2006/main">
            <a:r>
              <a:t/>
            </a:r>
          </a:p>
          <a:p xmlns:a="http://schemas.openxmlformats.org/drawingml/2006/main">
            <a:r>
              <a:t>[10] Penning de Vries, 1975</a:t>
            </a:r>
          </a:p>
          <a:p xmlns:a="http://schemas.openxmlformats.org/drawingml/2006/main">
            <a:r>
              <a:t>The cost of maintenance processes in plant cells. Annals of Botany 39, 77–92.</a:t>
            </a:r>
          </a:p>
          <a:p xmlns:a="http://schemas.openxmlformats.org/drawingml/2006/main">
            <a:r>
              <a:t>https://doi.org/10.1093/oxfordjournals.aob.a084919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Сумма 125,8 кДж округлена до 130, поскольку неопределённость исходных параметров намного больше 1 кДж. Полоса показывает доли приблизительного бюджета, а не результаты измерений. При удвоении сухой массы удваивается строительство; при другом количестве живой ткани, температуре, сроке службы и частоте сигналов меняются другие слагаемые. Прежнее сравнение с 15 см² листа удалено, поскольку оно не учитывало создание органа и не соответствует опылительной модели. Вывод: бюджет явно посчитан, но эволюционная окупаемость ещё зависит от дополнительных успешных опылений.</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Формула Leissa относится к плоской однородной изотропной тонкой пластинке с неподвижным краем, а не к изображённой выпуклой оболочке. Она показывает, что килогерцевые и ультразвуковые частоты возможны при миллиметровом размере, но не доказывает конкретный спектр органа. В SI a=0,0032 м, h=0,0002 м, E=3e9 Па, rho=700 кг/м³, nu=0,3. Частота основной моды получается около 19,9 кГц. Коэффициент 10,21 — собственное значение для указанного закрепления. Эффективные свойства ткани заданы; у неоднородной влажной ткани будут другими. Для закреплённой выпуклой пластинки после освобождения упора нужно измерить частоту и форму колебаний либо решить упругую задачу численно. Принятая форма моды и эквивалентная жёсткость в расчётах являются дополнительным приближением.</a:t>
            </a:r>
          </a:p>
          <a:p xmlns:a="http://schemas.openxmlformats.org/drawingml/2006/main">
            <a:r>
              <a:t/>
            </a:r>
          </a:p>
          <a:p xmlns:a="http://schemas.openxmlformats.org/drawingml/2006/main">
            <a:r>
              <a:t>[14] Leissa, 1969</a:t>
            </a:r>
          </a:p>
          <a:p xmlns:a="http://schemas.openxmlformats.org/drawingml/2006/main">
            <a:r>
              <a:t>Vibration of Plates. NASA SP-160. Основная частота круглой пластинки с закреплённым краем.</a:t>
            </a:r>
          </a:p>
          <a:p xmlns:a="http://schemas.openxmlformats.org/drawingml/2006/main">
            <a:r>
              <a:t>https://ntrs.nasa.gov/citations/19700009156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 материалам предоставленной шпаргалки. Пояснения набраны крупным редактируемым текстом. Схемы среднего и внутреннего уха относятся к человеку. У птиц одна слуховая косточка, а улитковый проток не закручен, как у млекопитающих. На последнем слайде показано схематическое распределение амплитуды бегущей волны; частоты и амплитуды не являются измеренными данными.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 материалам предоставленной шпаргалки. Пояснения набраны крупным редактируемым текстом. Схемы среднего и внутреннего уха относятся к человеку. У птиц одна слуховая косточка, а улитковый проток не закручен, как у млекопитающих. На последнем слайде показано схематическое распределение амплитуды бегущей волны; частоты и амплитуды не являются измеренными данными.</a:t>
            </a:r>
          </a:p>
          <a:p xmlns:a="http://schemas.openxmlformats.org/drawingml/2006/main">
            <a:r>
              <a:t/>
            </a:r>
          </a:p>
          <a:p xmlns:a="http://schemas.openxmlformats.org/drawingml/2006/main">
            <a:r>
              <a:t>[5] Koay et al., 2002</a:t>
            </a:r>
          </a:p>
          <a:p xmlns:a="http://schemas.openxmlformats.org/drawingml/2006/main">
            <a:r>
              <a:t>Hearing in American leaf-nosed bats. I: Phyllostomus hastatus. Hearing Research 171, 96–102.</a:t>
            </a:r>
          </a:p>
          <a:p xmlns:a="http://schemas.openxmlformats.org/drawingml/2006/main">
            <a:r>
              <a:t>https://doi.org/10.1016/S0378-5955(02)00458-6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 материалам предоставленной шпаргалки. Пояснения набраны крупным редактируемым текстом. Схемы среднего и внутреннего уха относятся к человеку. У птиц одна слуховая косточка, а улитковый проток не закручен, как у млекопитающих. На последнем слайде показано схематическое распределение амплитуды бегущей волны; частоты и амплитуды не являются измеренными данными.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 материалам предоставленной шпаргалки. Пояснения набраны крупным редактируемым текстом. Схемы среднего и внутреннего уха относятся к человеку. У птиц одна слуховая косточка, а улитковый проток не закручен, как у млекопитающих. На последнем слайде показано схематическое распределение амплитуды бегущей волны; частоты и амплитуды не являются измеренными данными.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 материалам предоставленной шпаргалки. Пояснения набраны крупным редактируемым текстом. Схемы среднего и внутреннего уха относятся к человеку. У птиц одна слуховая косточка, а улитковый проток не закручен, как у млекопитающих. На последнем слайде показано схематическое распределение амплитуды бегущей волны; частоты и амплитуды не являются измеренными данными.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 материалам предоставленной шпаргалки. Пояснения набраны крупным редактируемым текстом. Схемы среднего и внутреннего уха относятся к человеку. У птиц одна слуховая косточка, а улитковый проток не закручен, как у млекопитающих. На последнем слайде показано схематическое распределение амплитуды бегущей волны; частоты и амплитуды не являются измеренными данными.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 материалам предоставленной шпаргалки. Пояснения набраны крупным редактируемым текстом. Схемы среднего и внутреннего уха относятся к человеку. У птиц одна слуховая косточка, а улитковый проток не закручен, как у млекопитающих. На последнем слайде показано схематическое распределение амплитуды бегущей волны; частоты и амплитуды не являются измеренными данными.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по материалам предоставленной шпаргалки. Пояснения набраны крупным редактируемым текстом. Схемы среднего и внутреннего уха относятся к человеку. У птиц одна слуховая косточка, а улитковый проток не закручен, как у млекопитающих. На последнем слайде показано схематическое распределение амплитуды бегущей волны; частоты и амплитуды не являются измеренными данными.</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Принятая пользователем архитектура: четыре заранее натянутых прицветника у соцветия. Начала щелчков при длительности 0,01 с и паузе 0,5 с находятся в 0; 0,51; 1,02; 1,53 с, конец серии 1,54 с. Набор из четырёх органов обеспечивает одну серию до четырёх щелчков. После использования от одного до четырёх органов новый сигнал допустим только при наличии полного набора, нужного для сообщения; частичные серии недопустимы. Три секунды — только граница распознавания между сообщениями. Реальный повтор может занимать минуты. Медленная осмотическая подушка заряжается до серии. Внутри серии один общий импульс последовательно приходит к ответвлениям. При одинаковых местных задержках расстояние2,55мм вдоль полоски и принятая скорость5мм/с дают0,51с между началами щелчков, то есть0,50с между концом и следующим началом. Это настройка модели. Общий электрический пуск, разрешение спусков уровнем АБК и распознавание серии животным являются разными частями предложенной системы.</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Исходное изображение пользователя, сохранено целиком.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Исходное изображение пользователя, сохранено целиком.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Исходное изображение пользователя, сохранено целиком.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Исходное изображение пользователя, сохранено целиком.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Исходное изображение пользователя, сохранено целиком.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Исходное изображение пользователя, сохранено целиком.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Исходное изображение пользователя, сохранено целиком.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Исходное изображение пользователя, сохранено целиком.</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83e373348b46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ceaf13ad214cbb" /><Relationship Type="http://schemas.openxmlformats.org/officeDocument/2006/relationships/slideLayout" Target="/ppt/slideLayouts/slideLayout1.xml" Id="R2bf8edf7f7334a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f8edf7f7334a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842da5914241af" /><Relationship Type="http://schemas.openxmlformats.org/officeDocument/2006/relationships/notesSlide" Target="/ppt/notesSlides/notesSlide1.xml" Id="R91d1ef3d469c4d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af069e8c844a62" /><Relationship Type="http://schemas.openxmlformats.org/officeDocument/2006/relationships/notesSlide" Target="/ppt/notesSlides/notesSlide2.xml" Id="R04923dda9e2642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d6d86699bd4be2" /><Relationship Type="http://schemas.openxmlformats.org/officeDocument/2006/relationships/notesSlide" Target="/ppt/notesSlides/notesSlide3.xml" Id="R408df037643b40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1e252de05d4643" /><Relationship Type="http://schemas.openxmlformats.org/officeDocument/2006/relationships/notesSlide" Target="/ppt/notesSlides/notesSlide4.xml" Id="Re70fcc4af01740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aafb305ef24778" /><Relationship Type="http://schemas.openxmlformats.org/officeDocument/2006/relationships/notesSlide" Target="/ppt/notesSlides/notesSlide5.xml" Id="Re622cd52884047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1d60ee8f354d55" /><Relationship Type="http://schemas.openxmlformats.org/officeDocument/2006/relationships/notesSlide" Target="/ppt/notesSlides/notesSlide6.xml" Id="R22603466952346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f08b2ee4944359" /><Relationship Type="http://schemas.openxmlformats.org/officeDocument/2006/relationships/notesSlide" Target="/ppt/notesSlides/notesSlide7.xml" Id="Ra966816025ae48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10daa28fba42f7" /><Relationship Type="http://schemas.openxmlformats.org/officeDocument/2006/relationships/notesSlide" Target="/ppt/notesSlides/notesSlide8.xml" Id="R4ef27f62735047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89eb920bc047a5" /><Relationship Type="http://schemas.openxmlformats.org/officeDocument/2006/relationships/notesSlide" Target="/ppt/notesSlides/notesSlide9.xml" Id="R5a0c33f3267d4b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eebc6b894d4b07" /><Relationship Type="http://schemas.openxmlformats.org/officeDocument/2006/relationships/notesSlide" Target="/ppt/notesSlides/notesSlide10.xml" Id="R3fa145c9929747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64a08a77bdc4b31" /><Relationship Type="http://schemas.openxmlformats.org/officeDocument/2006/relationships/image" Target="/ppt/media/image.png" Id="R1753b25d301e4512" /><Relationship Type="http://schemas.openxmlformats.org/officeDocument/2006/relationships/notesSlide" Target="/ppt/notesSlides/notesSlide11.xml" Id="R6925de7245ca4b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24b6867a5241e8" /><Relationship Type="http://schemas.openxmlformats.org/officeDocument/2006/relationships/notesSlide" Target="/ppt/notesSlides/notesSlide12.xml" Id="Rbd236bd8101346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d4c2c9021e44f35" /><Relationship Type="http://schemas.openxmlformats.org/officeDocument/2006/relationships/image" Target="/ppt/media/image2.png" Id="R1dc962e29c0a4e21" /><Relationship Type="http://schemas.openxmlformats.org/officeDocument/2006/relationships/notesSlide" Target="/ppt/notesSlides/notesSlide13.xml" Id="R3635d31be8fa41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f02aebd64943d7" /><Relationship Type="http://schemas.openxmlformats.org/officeDocument/2006/relationships/image" Target="/ppt/media/image3.png" Id="Ra3b0bb60236540b4" /><Relationship Type="http://schemas.openxmlformats.org/officeDocument/2006/relationships/notesSlide" Target="/ppt/notesSlides/notesSlide14.xml" Id="R219341cd3d9449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d2f026b8d2c47e0" /><Relationship Type="http://schemas.openxmlformats.org/officeDocument/2006/relationships/notesSlide" Target="/ppt/notesSlides/notesSlide15.xml" Id="R1f45cf9643d7440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9d32eb49cf4522" /><Relationship Type="http://schemas.openxmlformats.org/officeDocument/2006/relationships/notesSlide" Target="/ppt/notesSlides/notesSlide16.xml" Id="R3abfaf2f6a764a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2e76e9589f64c08" /><Relationship Type="http://schemas.openxmlformats.org/officeDocument/2006/relationships/notesSlide" Target="/ppt/notesSlides/notesSlide17.xml" Id="R6c9afacc469549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c91396daee4d3c" /><Relationship Type="http://schemas.openxmlformats.org/officeDocument/2006/relationships/notesSlide" Target="/ppt/notesSlides/notesSlide18.xml" Id="R41c4579d25344fc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39184dbd8a84999" /><Relationship Type="http://schemas.openxmlformats.org/officeDocument/2006/relationships/image" Target="/ppt/media/image4.png" Id="R06d32d4870374eb4" /><Relationship Type="http://schemas.openxmlformats.org/officeDocument/2006/relationships/image" Target="/ppt/media/image5.png" Id="R3b3a6c67c138447f" /><Relationship Type="http://schemas.openxmlformats.org/officeDocument/2006/relationships/notesSlide" Target="/ppt/notesSlides/notesSlide19.xml" Id="R58eb68631b504f6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46105aaac3448cb" /><Relationship Type="http://schemas.openxmlformats.org/officeDocument/2006/relationships/notesSlide" Target="/ppt/notesSlides/notesSlide20.xml" Id="Rd02738e7111d4df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e2157d1f5dc462b" /><Relationship Type="http://schemas.openxmlformats.org/officeDocument/2006/relationships/notesSlide" Target="/ppt/notesSlides/notesSlide21.xml" Id="Rbaa10e7e1b6f483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6215fe8f7e44adc" /><Relationship Type="http://schemas.openxmlformats.org/officeDocument/2006/relationships/chart" Target="/ppt/slides/charts/chart1.xml" Id="Rb515267d03324da9" /><Relationship Type="http://schemas.openxmlformats.org/officeDocument/2006/relationships/notesSlide" Target="/ppt/notesSlides/notesSlide22.xml" Id="R48ebfd27138848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b8606a962e542d9" /><Relationship Type="http://schemas.openxmlformats.org/officeDocument/2006/relationships/image" Target="/ppt/media/image6.png" Id="Rf212554e23ff4404" /><Relationship Type="http://schemas.openxmlformats.org/officeDocument/2006/relationships/notesSlide" Target="/ppt/notesSlides/notesSlide23.xml" Id="R213ed4dba41d4e7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af51332b5484b94" /><Relationship Type="http://schemas.openxmlformats.org/officeDocument/2006/relationships/notesSlide" Target="/ppt/notesSlides/notesSlide24.xml" Id="R7616d802f6d242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487bf33d3484a6f" /><Relationship Type="http://schemas.openxmlformats.org/officeDocument/2006/relationships/hyperlink" Target="https://doi.org/10.1038/ncomms12980" TargetMode="External" Id="Reaa34760a8844016" /><Relationship Type="http://schemas.openxmlformats.org/officeDocument/2006/relationships/hyperlink" Target="https://doi.org/10.1038/nature03185" TargetMode="External" Id="R09699056314c451d" /><Relationship Type="http://schemas.openxmlformats.org/officeDocument/2006/relationships/hyperlink" Target="https://doi.org/10.1104/pp.113.3.747" TargetMode="External" Id="Rc7b9aa7a23b44c33" /><Relationship Type="http://schemas.openxmlformats.org/officeDocument/2006/relationships/hyperlink" Target="https://doi.org/10.1242/jeb.202.13.1803" TargetMode="External" Id="R164cc9f8c4ad4b8d" /><Relationship Type="http://schemas.openxmlformats.org/officeDocument/2006/relationships/hyperlink" Target="https://doi.org/10.1016/S0378-5955(02)00458-6" TargetMode="External" Id="R44466d926a3e4475" /><Relationship Type="http://schemas.openxmlformats.org/officeDocument/2006/relationships/hyperlink" Target="https://doi.org/10.1006/anbe.1997.0557" TargetMode="External" Id="R94610ea7fc9c4296" /><Relationship Type="http://schemas.openxmlformats.org/officeDocument/2006/relationships/hyperlink" Target="https://research.si.edu/publication-details/?id=115785" TargetMode="External" Id="Rfe96fb3a9c1a41cb" /><Relationship Type="http://schemas.openxmlformats.org/officeDocument/2006/relationships/hyperlink" Target="https://doi.org/10.1371/journal.pone.0313782" TargetMode="External" Id="R9ff33993efe94698" /><Relationship Type="http://schemas.openxmlformats.org/officeDocument/2006/relationships/hyperlink" Target="https://doi.org/10.1111/j.1469-8137.1994.tb02990.x" TargetMode="External" Id="Rf4dd8a50ed9b486c" /><Relationship Type="http://schemas.openxmlformats.org/officeDocument/2006/relationships/hyperlink" Target="https://doi.org/10.1093/oxfordjournals.aob.a084919" TargetMode="External" Id="R50956beb307245e5" /><Relationship Type="http://schemas.openxmlformats.org/officeDocument/2006/relationships/hyperlink" Target="https://openstax.org/books/university-physics-volume-1/pages/17-3-sound-intensity" TargetMode="External" Id="R0cc82529ea684768" /><Relationship Type="http://schemas.openxmlformats.org/officeDocument/2006/relationships/hyperlink" Target="https://webbook.nist.gov/cgi/cbook.cgi?ID=C26655345&amp;Mask=2" TargetMode="External" Id="R31b13060020e4f77" /><Relationship Type="http://schemas.openxmlformats.org/officeDocument/2006/relationships/hyperlink" Target="https://oceanservice.noaa.gov/facts/sound.html" TargetMode="External" Id="R3b174d5a4d3148eb" /><Relationship Type="http://schemas.openxmlformats.org/officeDocument/2006/relationships/notesSlide" Target="/ppt/notesSlides/notesSlide25.xml" Id="R439eb2e0bbd5460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6d37cca922546ca" /><Relationship Type="http://schemas.openxmlformats.org/officeDocument/2006/relationships/hyperlink" Target="https://ntrs.nasa.gov/citations/19700009156" TargetMode="External" Id="Rb152a866110d4721" /><Relationship Type="http://schemas.openxmlformats.org/officeDocument/2006/relationships/hyperlink" Target="https://doi.org/10.1046/j.1365-2435.2003.00721.x" TargetMode="External" Id="R17754de6b40844ad" /><Relationship Type="http://schemas.openxmlformats.org/officeDocument/2006/relationships/hyperlink" Target="https://doi.org/10.1002/ece3.4088" TargetMode="External" Id="R66387482bfba4e21" /><Relationship Type="http://schemas.openxmlformats.org/officeDocument/2006/relationships/hyperlink" Target="https://doi.org/10.1016/j.jsv.2014.04.022" TargetMode="External" Id="R8137cf920caf4ed5" /><Relationship Type="http://schemas.openxmlformats.org/officeDocument/2006/relationships/hyperlink" Target="https://doi.org/10.1093/jxb/erv135" TargetMode="External" Id="Rddb11a8b71cf49e3" /><Relationship Type="http://schemas.openxmlformats.org/officeDocument/2006/relationships/hyperlink" Target="https://doi.org/10.1105/tpc.010351" TargetMode="External" Id="Rd1770ba7c1854914" /><Relationship Type="http://schemas.openxmlformats.org/officeDocument/2006/relationships/hyperlink" Target="https://doi.org/10.1104/pp.114.3.827" TargetMode="External" Id="R980e667aeabe4f33" /><Relationship Type="http://schemas.openxmlformats.org/officeDocument/2006/relationships/hyperlink" Target="https://doi.org/10.1038/srep06466" TargetMode="External" Id="Rd63f658d0d1f4b13" /><Relationship Type="http://schemas.openxmlformats.org/officeDocument/2006/relationships/hyperlink" Target="https://doi.org/10.4161/psb.5.10.12658" TargetMode="External" Id="R73242f58333249fd" /><Relationship Type="http://schemas.openxmlformats.org/officeDocument/2006/relationships/hyperlink" Target="https://doi.org/10.1038/s41467-022-34106-x" TargetMode="External" Id="Rec2754a773264036" /><Relationship Type="http://schemas.openxmlformats.org/officeDocument/2006/relationships/hyperlink" Target="https://doi.org/10.1111/j.1399-3054.2007.00954.x" TargetMode="External" Id="R63d5492ed4bd417c" /><Relationship Type="http://schemas.openxmlformats.org/officeDocument/2006/relationships/hyperlink" Target="https://doi.org/10.1093/pcp/pce157" TargetMode="External" Id="R0eab13cb12bc4cab" /><Relationship Type="http://schemas.openxmlformats.org/officeDocument/2006/relationships/hyperlink" Target="https://doi.org/10.1111/j.1365-313X.2009.03872.x" TargetMode="External" Id="R9882e99c92a94f18" /><Relationship Type="http://schemas.openxmlformats.org/officeDocument/2006/relationships/notesSlide" Target="/ppt/notesSlides/notesSlide26.xml" Id="Re4293648f7c1486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e6cb8fd46ed42f6" /><Relationship Type="http://schemas.openxmlformats.org/officeDocument/2006/relationships/notesSlide" Target="/ppt/notesSlides/notesSlide27.xml" Id="Rf2e3b5314d7743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fc4eb5f0f814e39" /><Relationship Type="http://schemas.openxmlformats.org/officeDocument/2006/relationships/notesSlide" Target="/ppt/notesSlides/notesSlide28.xml" Id="R1f20798559714a3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04684da0c5649df" /><Relationship Type="http://schemas.openxmlformats.org/officeDocument/2006/relationships/notesSlide" Target="/ppt/notesSlides/notesSlide29.xml" Id="R36d1220499e3464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cee15828764444f" /><Relationship Type="http://schemas.openxmlformats.org/officeDocument/2006/relationships/image" Target="/ppt/media/image7.png" Id="R21fc3f74954b486e" /><Relationship Type="http://schemas.openxmlformats.org/officeDocument/2006/relationships/notesSlide" Target="/ppt/notesSlides/notesSlide30.xml" Id="R3f67d3d707af4c4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f6cbce3dfd44090" /><Relationship Type="http://schemas.openxmlformats.org/officeDocument/2006/relationships/notesSlide" Target="/ppt/notesSlides/notesSlide31.xml" Id="Rd618a414ed044fe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abdabd3fa1348ad" /><Relationship Type="http://schemas.openxmlformats.org/officeDocument/2006/relationships/notesSlide" Target="/ppt/notesSlides/notesSlide32.xml" Id="R3b54f9761b3f4e6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947b76e0126495e" /><Relationship Type="http://schemas.openxmlformats.org/officeDocument/2006/relationships/notesSlide" Target="/ppt/notesSlides/notesSlide33.xml" Id="R1e1c2bfe4f874b9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cb2fe9361df4463" /><Relationship Type="http://schemas.openxmlformats.org/officeDocument/2006/relationships/notesSlide" Target="/ppt/notesSlides/notesSlide34.xml" Id="Rd34737439fbd427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199efc91dd644a1" /><Relationship Type="http://schemas.openxmlformats.org/officeDocument/2006/relationships/image" Target="/ppt/media/image8.png" Id="Rd865f59790d6431b" /><Relationship Type="http://schemas.openxmlformats.org/officeDocument/2006/relationships/notesSlide" Target="/ppt/notesSlides/notesSlide35.xml" Id="R006f580bf8cf415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00c0f55750f4c44" /><Relationship Type="http://schemas.openxmlformats.org/officeDocument/2006/relationships/image" Target="/ppt/media/image9.png" Id="R795527d1b4784bfd" /><Relationship Type="http://schemas.openxmlformats.org/officeDocument/2006/relationships/image" Target="/ppt/media/image10.png" Id="R0acad0dbf14841d4" /><Relationship Type="http://schemas.openxmlformats.org/officeDocument/2006/relationships/image" Target="/ppt/media/image11.png" Id="Rdd6df0a1c3c84eaa" /><Relationship Type="http://schemas.openxmlformats.org/officeDocument/2006/relationships/notesSlide" Target="/ppt/notesSlides/notesSlide36.xml" Id="R824d3109a6b2450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03b8c498e3f4b83" /><Relationship Type="http://schemas.openxmlformats.org/officeDocument/2006/relationships/image" Target="/ppt/media/image12.png" Id="R256ae9718ebe4218" /><Relationship Type="http://schemas.openxmlformats.org/officeDocument/2006/relationships/image" Target="/ppt/media/image13.png" Id="Rc54836324d31499b" /><Relationship Type="http://schemas.openxmlformats.org/officeDocument/2006/relationships/image" Target="/ppt/media/image14.png" Id="Rde10aed3f3c34b67" /><Relationship Type="http://schemas.openxmlformats.org/officeDocument/2006/relationships/image" Target="/ppt/media/image15.png" Id="R56eefa9d08bb435e" /><Relationship Type="http://schemas.openxmlformats.org/officeDocument/2006/relationships/notesSlide" Target="/ppt/notesSlides/notesSlide37.xml" Id="Rd7e2063e1bfc405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9d5d8ce84a346b4" /><Relationship Type="http://schemas.openxmlformats.org/officeDocument/2006/relationships/image" Target="/ppt/media/image16.png" Id="R8acdfa63258a43a4" /><Relationship Type="http://schemas.openxmlformats.org/officeDocument/2006/relationships/image" Target="/ppt/media/image17.png" Id="R671cb6c702534643" /><Relationship Type="http://schemas.openxmlformats.org/officeDocument/2006/relationships/image" Target="/ppt/media/image18.png" Id="Rf2d21ac1a13a42de" /><Relationship Type="http://schemas.openxmlformats.org/officeDocument/2006/relationships/notesSlide" Target="/ppt/notesSlides/notesSlide38.xml" Id="R3cafd2f39dba4a3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d6e5bfec4c3401d" /><Relationship Type="http://schemas.openxmlformats.org/officeDocument/2006/relationships/image" Target="/ppt/media/image19.png" Id="R5c958ee68a6d4434" /><Relationship Type="http://schemas.openxmlformats.org/officeDocument/2006/relationships/notesSlide" Target="/ppt/notesSlides/notesSlide39.xml" Id="R7dae2d1b98a9454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d7258cf6d1846d0" /><Relationship Type="http://schemas.openxmlformats.org/officeDocument/2006/relationships/image" Target="/ppt/media/image20.png" Id="R82f4aad2e08943ec" /><Relationship Type="http://schemas.openxmlformats.org/officeDocument/2006/relationships/image" Target="/ppt/media/image21.png" Id="R1470228052ab42a7" /><Relationship Type="http://schemas.openxmlformats.org/officeDocument/2006/relationships/image" Target="/ppt/media/image22.png" Id="Rdfdf7792c0c8450f" /><Relationship Type="http://schemas.openxmlformats.org/officeDocument/2006/relationships/notesSlide" Target="/ppt/notesSlides/notesSlide40.xml" Id="Rc212e830a30042f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c6f1b99960f430b" /><Relationship Type="http://schemas.openxmlformats.org/officeDocument/2006/relationships/image" Target="/ppt/media/image23.png" Id="Reaffd36c1a1e4d1b" /><Relationship Type="http://schemas.openxmlformats.org/officeDocument/2006/relationships/image" Target="/ppt/media/image24.png" Id="R6cb27885717f4dfc" /><Relationship Type="http://schemas.openxmlformats.org/officeDocument/2006/relationships/image" Target="/ppt/media/image25.png" Id="R32254e3830994004" /><Relationship Type="http://schemas.openxmlformats.org/officeDocument/2006/relationships/notesSlide" Target="/ppt/notesSlides/notesSlide41.xml" Id="R1e92149a121244e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49b5374518748b2" /><Relationship Type="http://schemas.openxmlformats.org/officeDocument/2006/relationships/image" Target="/ppt/media/image26.png" Id="Rd65190171370464b" /><Relationship Type="http://schemas.openxmlformats.org/officeDocument/2006/relationships/image" Target="/ppt/media/image27.png" Id="Ra8f94992081546d9" /><Relationship Type="http://schemas.openxmlformats.org/officeDocument/2006/relationships/notesSlide" Target="/ppt/notesSlides/notesSlide42.xml" Id="Rac6838bbe2a749b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c5db49a6dca4ff7" /><Relationship Type="http://schemas.openxmlformats.org/officeDocument/2006/relationships/image" Target="/ppt/media/image28.png" Id="R6ae444addd874c52" /><Relationship Type="http://schemas.openxmlformats.org/officeDocument/2006/relationships/image" Target="/ppt/media/image29.png" Id="Rdec55daba5514c5e" /><Relationship Type="http://schemas.openxmlformats.org/officeDocument/2006/relationships/notesSlide" Target="/ppt/notesSlides/notesSlide43.xml" Id="R17006fd7c197440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1331c5403554be3" /><Relationship Type="http://schemas.openxmlformats.org/officeDocument/2006/relationships/image" Target="/ppt/media/image30.png" Id="R8b90d267a3334b4b" /><Relationship Type="http://schemas.openxmlformats.org/officeDocument/2006/relationships/image" Target="/ppt/media/image31.png" Id="Rcc93b6960ea94473" /><Relationship Type="http://schemas.openxmlformats.org/officeDocument/2006/relationships/notesSlide" Target="/ppt/notesSlides/notesSlide44.xml" Id="R9771bf17e3a8458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0328d17d64e498f" /><Relationship Type="http://schemas.openxmlformats.org/officeDocument/2006/relationships/image" Target="/ppt/media/image32.png" Id="Rb6fa4a7c5cbe4816" /><Relationship Type="http://schemas.openxmlformats.org/officeDocument/2006/relationships/image" Target="/ppt/media/image33.png" Id="R3df9c500015f4ea2" /><Relationship Type="http://schemas.openxmlformats.org/officeDocument/2006/relationships/notesSlide" Target="/ppt/notesSlides/notesSlide45.xml" Id="Rdb86f3210854412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621f6433b594665" /><Relationship Type="http://schemas.openxmlformats.org/officeDocument/2006/relationships/chart" Target="/ppt/slides/charts/chart2.xml" Id="R06d95717a4744ed1" /><Relationship Type="http://schemas.openxmlformats.org/officeDocument/2006/relationships/image" Target="/ppt/media/image34.png" Id="R5158a2f0bcd94f48" /><Relationship Type="http://schemas.openxmlformats.org/officeDocument/2006/relationships/notesSlide" Target="/ppt/notesSlides/notesSlide46.xml" Id="R4fa38f488dab468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42c41dc805e4bbf" /><Relationship Type="http://schemas.openxmlformats.org/officeDocument/2006/relationships/image" Target="/ppt/media/image35.png" Id="Rfbfc540b29ef48bd" /><Relationship Type="http://schemas.openxmlformats.org/officeDocument/2006/relationships/notesSlide" Target="/ppt/notesSlides/notesSlide47.xml" Id="R0fba6e8b106b42a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0744dd5b2064761" /><Relationship Type="http://schemas.openxmlformats.org/officeDocument/2006/relationships/notesSlide" Target="/ppt/notesSlides/notesSlide48.xml" Id="R954974e7eae64d9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db6968735c74ea6" /><Relationship Type="http://schemas.openxmlformats.org/officeDocument/2006/relationships/notesSlide" Target="/ppt/notesSlides/notesSlide49.xml" Id="R5fc4a06a8c844c3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f8e9dcf95ff4020" /><Relationship Type="http://schemas.openxmlformats.org/officeDocument/2006/relationships/notesSlide" Target="/ppt/notesSlides/notesSlide50.xml" Id="R61d548fdcfdb401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6b18566adf24267" /><Relationship Type="http://schemas.openxmlformats.org/officeDocument/2006/relationships/notesSlide" Target="/ppt/notesSlides/notesSlide51.xml" Id="Rd64d1a2e175e463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e56863659e14853" /><Relationship Type="http://schemas.openxmlformats.org/officeDocument/2006/relationships/notesSlide" Target="/ppt/notesSlides/notesSlide52.xml" Id="R7f6206f4d01e4c6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6a36ee590174140" /><Relationship Type="http://schemas.openxmlformats.org/officeDocument/2006/relationships/notesSlide" Target="/ppt/notesSlides/notesSlide53.xml" Id="R403a1e3c096e422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08bd7d4a809495e" /><Relationship Type="http://schemas.openxmlformats.org/officeDocument/2006/relationships/notesSlide" Target="/ppt/notesSlides/notesSlide54.xml" Id="R7c3f9c402c6d4cd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0bc811d9e8f4eb8" /><Relationship Type="http://schemas.openxmlformats.org/officeDocument/2006/relationships/notesSlide" Target="/ppt/notesSlides/notesSlide55.xml" Id="R11274c8f15284d1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04b66c271a64661" /><Relationship Type="http://schemas.openxmlformats.org/officeDocument/2006/relationships/notesSlide" Target="/ppt/notesSlides/notesSlide56.xml" Id="R44edaa74a0174a5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0b1f0543ba94d88" /><Relationship Type="http://schemas.openxmlformats.org/officeDocument/2006/relationships/image" Target="/ppt/media/image36.png" Id="Rcf7eac651df5497d" /><Relationship Type="http://schemas.openxmlformats.org/officeDocument/2006/relationships/notesSlide" Target="/ppt/notesSlides/notesSlide57.xml" Id="R1de61ac63522444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2273db0481fd4985" /><Relationship Type="http://schemas.openxmlformats.org/officeDocument/2006/relationships/image" Target="/ppt/media/image37.png" Id="Rc97ad647200c4785" /><Relationship Type="http://schemas.openxmlformats.org/officeDocument/2006/relationships/notesSlide" Target="/ppt/notesSlides/notesSlide58.xml" Id="R1db9b600795b46d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647ec07033054efa" /><Relationship Type="http://schemas.openxmlformats.org/officeDocument/2006/relationships/image" Target="/ppt/media/image38.png" Id="R313fd53a834f49c8" /><Relationship Type="http://schemas.openxmlformats.org/officeDocument/2006/relationships/notesSlide" Target="/ppt/notesSlides/notesSlide59.xml" Id="R25dd0c3484c04c8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8d6e01b9e724b3c" /><Relationship Type="http://schemas.openxmlformats.org/officeDocument/2006/relationships/image" Target="/ppt/media/image39.png" Id="Rd8ac0a72236f4fde" /><Relationship Type="http://schemas.openxmlformats.org/officeDocument/2006/relationships/notesSlide" Target="/ppt/notesSlides/notesSlide60.xml" Id="Re320c82b9163455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29fff21da7f94cf5" /><Relationship Type="http://schemas.openxmlformats.org/officeDocument/2006/relationships/image" Target="/ppt/media/image40.png" Id="R1e1cf3f8d8eb4035" /><Relationship Type="http://schemas.openxmlformats.org/officeDocument/2006/relationships/notesSlide" Target="/ppt/notesSlides/notesSlide61.xml" Id="R06327000d4634a9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e560ccab9d147b0" /><Relationship Type="http://schemas.openxmlformats.org/officeDocument/2006/relationships/image" Target="/ppt/media/image41.png" Id="R1e1670a534104404" /><Relationship Type="http://schemas.openxmlformats.org/officeDocument/2006/relationships/notesSlide" Target="/ppt/notesSlides/notesSlide62.xml" Id="Rc4a2043e00be4ed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11bfdff21d45499b" /><Relationship Type="http://schemas.openxmlformats.org/officeDocument/2006/relationships/image" Target="/ppt/media/image42.png" Id="Rb2a7e6abf71146ce" /><Relationship Type="http://schemas.openxmlformats.org/officeDocument/2006/relationships/notesSlide" Target="/ppt/notesSlides/notesSlide63.xml" Id="R2f981e18ab05408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7a06743810734d04" /><Relationship Type="http://schemas.openxmlformats.org/officeDocument/2006/relationships/image" Target="/ppt/media/image43.png" Id="R89e9a91617df4e61" /><Relationship Type="http://schemas.openxmlformats.org/officeDocument/2006/relationships/notesSlide" Target="/ppt/notesSlides/notesSlide64.xml" Id="R95a8ba66fef5400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Создание, кДж</c:v>
          </c:tx>
          <c:spPr>
            <a:solidFill xmlns:a="http://schemas.openxmlformats.org/drawingml/2006/main">
              <a:srgbClr val="47705A"/>
            </a:solidFill>
          </c:spPr>
          <c:cat>
            <c:strRef>
              <c:f>'Chart Data'!$A$2:$A$2</c:f>
              <c:strCache>
                <c:ptCount val="1"/>
                <c:pt idx="0">
                  <c:v>Сезон</c:v>
                </c:pt>
              </c:strCache>
            </c:strRef>
          </c:cat>
          <c:val>
            <c:numRef>
              <c:f>'Chart Data'!$B$2:$B$2</c:f>
              <c:numCache>
                <c:formatCode>General</c:formatCode>
                <c:ptCount val="1"/>
                <c:pt idx="0">
                  <c:v>117</c:v>
                </c:pt>
              </c:numCache>
            </c:numRef>
          </c:val>
        </c:ser>
        <c:ser>
          <c:idx val="1"/>
          <c:order val="1"/>
          <c:tx>
            <c:v>Обслуживание, кДж</c:v>
          </c:tx>
          <c:spPr>
            <a:solidFill xmlns:a="http://schemas.openxmlformats.org/drawingml/2006/main">
              <a:srgbClr val="39667D"/>
            </a:solidFill>
          </c:spPr>
          <c:cat>
            <c:strRef>
              <c:f>'Chart Data'!$C$2:$C$2</c:f>
              <c:strCache>
                <c:ptCount val="1"/>
                <c:pt idx="0">
                  <c:v>Сезон</c:v>
                </c:pt>
              </c:strCache>
            </c:strRef>
          </c:cat>
          <c:val>
            <c:numRef>
              <c:f>'Chart Data'!$D$2:$D$2</c:f>
              <c:numCache>
                <c:formatCode>General</c:formatCode>
                <c:ptCount val="1"/>
                <c:pt idx="0">
                  <c:v>7.8</c:v>
                </c:pt>
              </c:numCache>
            </c:numRef>
          </c:val>
        </c:ser>
        <c:ser>
          <c:idx val="2"/>
          <c:order val="2"/>
          <c:tx>
            <c:v>Работа, кДж</c:v>
          </c:tx>
          <c:spPr>
            <a:solidFill xmlns:a="http://schemas.openxmlformats.org/drawingml/2006/main">
              <a:srgbClr val="A96743"/>
            </a:solidFill>
          </c:spPr>
          <c:cat>
            <c:strRef>
              <c:f>'Chart Data'!$E$2:$E$2</c:f>
              <c:strCache>
                <c:ptCount val="1"/>
                <c:pt idx="0">
                  <c:v>Сезон</c:v>
                </c:pt>
              </c:strCache>
            </c:strRef>
          </c:cat>
          <c:val>
            <c:numRef>
              <c:f>'Chart Data'!$F$2:$F$2</c:f>
              <c:numCache>
                <c:formatCode>General</c:formatCode>
                <c:ptCount val="1"/>
                <c:pt idx="0">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263B31"/>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263B31"/>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Создание, кДж</c:v>
          </c:tx>
          <c:spPr>
            <a:solidFill xmlns:a="http://schemas.openxmlformats.org/drawingml/2006/main">
              <a:srgbClr val="47705A"/>
            </a:solidFill>
          </c:spPr>
          <c:cat>
            <c:strRef>
              <c:f>'Chart Data'!$A$2:$A$2</c:f>
              <c:strCache>
                <c:ptCount val="1"/>
                <c:pt idx="0">
                  <c:v>Сезон</c:v>
                </c:pt>
              </c:strCache>
            </c:strRef>
          </c:cat>
          <c:val>
            <c:numRef>
              <c:f>'Chart Data'!$B$2:$B$2</c:f>
              <c:numCache>
                <c:formatCode>General</c:formatCode>
                <c:ptCount val="1"/>
                <c:pt idx="0">
                  <c:v>117</c:v>
                </c:pt>
              </c:numCache>
            </c:numRef>
          </c:val>
        </c:ser>
        <c:ser>
          <c:idx val="1"/>
          <c:order val="1"/>
          <c:tx>
            <c:v>Обслуживание, кДж</c:v>
          </c:tx>
          <c:spPr>
            <a:solidFill xmlns:a="http://schemas.openxmlformats.org/drawingml/2006/main">
              <a:srgbClr val="39667D"/>
            </a:solidFill>
          </c:spPr>
          <c:cat>
            <c:strRef>
              <c:f>'Chart Data'!$C$2:$C$2</c:f>
              <c:strCache>
                <c:ptCount val="1"/>
                <c:pt idx="0">
                  <c:v>Сезон</c:v>
                </c:pt>
              </c:strCache>
            </c:strRef>
          </c:cat>
          <c:val>
            <c:numRef>
              <c:f>'Chart Data'!$D$2:$D$2</c:f>
              <c:numCache>
                <c:formatCode>General</c:formatCode>
                <c:ptCount val="1"/>
                <c:pt idx="0">
                  <c:v>7.8</c:v>
                </c:pt>
              </c:numCache>
            </c:numRef>
          </c:val>
        </c:ser>
        <c:ser>
          <c:idx val="2"/>
          <c:order val="2"/>
          <c:tx>
            <c:v>Работа, кДж</c:v>
          </c:tx>
          <c:spPr>
            <a:solidFill xmlns:a="http://schemas.openxmlformats.org/drawingml/2006/main">
              <a:srgbClr val="A96743"/>
            </a:solidFill>
          </c:spPr>
          <c:cat>
            <c:strRef>
              <c:f>'Chart Data'!$E$2:$E$2</c:f>
              <c:strCache>
                <c:ptCount val="1"/>
                <c:pt idx="0">
                  <c:v>Сезон</c:v>
                </c:pt>
              </c:strCache>
            </c:strRef>
          </c:cat>
          <c:val>
            <c:numRef>
              <c:f>'Chart Data'!$F$2:$F$2</c:f>
              <c:numCache>
                <c:formatCode>General</c:formatCode>
                <c:ptCount val="1"/>
                <c:pt idx="0">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263B31"/>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263B31"/>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8FE558-F3B7-4CEC-BFF3-36FC3F8C359D}"/>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C481FBAB-4A50-4C7E-B314-062DC919AFEB}"/>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1BD2598E-7A2F-418B-AB5F-140D66107466}"/>
              </a:ext>
            </a:extLst>
          </p:cNvPr>
          <p:cNvSpPr>
            <a:spLocks xmlns:a="http://schemas.openxmlformats.org/drawingml/2006/main" noGrp="1"/>
          </p:cNvSpPr>
          <p:nvPr/>
        </p:nvSpPr>
        <p:spPr>
          <a:xfrm xmlns:a="http://schemas.openxmlformats.org/drawingml/2006/main">
            <a:off x="609600" y="666750"/>
            <a:ext cx="2571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600" b="1">
                <a:solidFill>
                  <a:srgbClr val="47705A"/>
                </a:solidFill>
                <a:latin typeface="Arial"/>
                <a:ea typeface="Arial"/>
                <a:cs typeface="Arial"/>
              </a:defRPr>
            </a:pPr>
            <a:r>
              <a:rPr sz="9600" b="1">
                <a:solidFill>
                  <a:srgbClr val="47705A"/>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CAC7125-401B-4E91-927C-A7E9F53B960A}"/>
              </a:ext>
            </a:extLst>
          </p:cNvPr>
          <p:cNvSpPr>
            <a:spLocks xmlns:a="http://schemas.openxmlformats.org/drawingml/2006/main" noGrp="1"/>
          </p:cNvSpPr>
          <p:nvPr/>
        </p:nvSpPr>
        <p:spPr>
          <a:xfrm xmlns:a="http://schemas.openxmlformats.org/drawingml/2006/main">
            <a:off x="609600" y="2505075"/>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1">
                <a:solidFill>
                  <a:srgbClr val="263B31"/>
                </a:solidFill>
                <a:latin typeface="Arial"/>
                <a:ea typeface="Arial"/>
                <a:cs typeface="Arial"/>
              </a:defRPr>
            </a:pPr>
            <a:r>
              <a:rPr sz="7200" b="1">
                <a:solidFill>
                  <a:srgbClr val="263B31"/>
                </a:solidFill>
                <a:latin typeface="Arial"/>
                <a:ea typeface="Arial"/>
                <a:cs typeface="Arial"/>
              </a:rPr>
              <a:t>Песнь леса</a:t>
            </a:r>
          </a:p>
        </p:txBody>
      </p:sp>
      <p:sp>
        <p:nvSpPr>
          <p:cNvPr id="5" name="">
            <a:extLst xmlns:a="http://schemas.openxmlformats.org/drawingml/2006/main">
              <a:ext uri="{FF2B5EF4-FFF2-40B4-BE49-F238E27FC236}">
                <a16:creationId xmlns:a16="http://schemas.microsoft.com/office/drawing/2014/main" id="{B6B27CC1-3C04-4574-87B6-37D0A53DEDC7}"/>
              </a:ext>
            </a:extLst>
          </p:cNvPr>
          <p:cNvSpPr>
            <a:spLocks xmlns:a="http://schemas.openxmlformats.org/drawingml/2006/main" noGrp="1"/>
          </p:cNvSpPr>
          <p:nvPr/>
        </p:nvSpPr>
        <p:spPr>
          <a:xfrm xmlns:a="http://schemas.openxmlformats.org/drawingml/2006/main">
            <a:off x="647700" y="39433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263B31"/>
                </a:solidFill>
                <a:latin typeface="Arial"/>
                <a:ea typeface="Arial"/>
                <a:cs typeface="Arial"/>
              </a:defRPr>
            </a:pPr>
            <a:r>
              <a:rPr sz="2550" b="0">
                <a:solidFill>
                  <a:srgbClr val="263B31"/>
                </a:solidFill>
                <a:latin typeface="Arial"/>
                <a:ea typeface="Arial"/>
                <a:cs typeface="Arial"/>
              </a:rPr>
              <a:t>Турнир юных биологов</a:t>
            </a:r>
          </a:p>
        </p:txBody>
      </p:sp>
      <p:sp>
        <p:nvSpPr>
          <p:cNvPr id="6" name="">
            <a:extLst xmlns:a="http://schemas.openxmlformats.org/drawingml/2006/main">
              <a:ext uri="{FF2B5EF4-FFF2-40B4-BE49-F238E27FC236}">
                <a16:creationId xmlns:a16="http://schemas.microsoft.com/office/drawing/2014/main" id="{783CE7EB-CC0E-4C2F-8C45-07BDEC561DE4}"/>
              </a:ext>
            </a:extLst>
          </p:cNvPr>
          <p:cNvSpPr>
            <a:spLocks xmlns:a="http://schemas.openxmlformats.org/drawingml/2006/main" noGrp="1"/>
          </p:cNvSpPr>
          <p:nvPr/>
        </p:nvSpPr>
        <p:spPr>
          <a:xfrm xmlns:a="http://schemas.openxmlformats.org/drawingml/2006/main" flipV="0">
            <a:off x="647700" y="4953000"/>
            <a:ext cx="10877550" cy="953"/>
          </a:xfrm>
          <a:prstGeom xmlns:a="http://schemas.openxmlformats.org/drawingml/2006/main" prst="line">
            <a:avLst/>
          </a:prstGeom>
          <a:noFill xmlns:a="http://schemas.openxmlformats.org/drawingml/2006/main"/>
          <a:ln xmlns:a="http://schemas.openxmlformats.org/drawingml/2006/main" w="19050">
            <a:solidFill>
              <a:srgbClr val="DCE4DB"/>
            </a:solidFill>
          </a:ln>
        </p:spPr>
      </p:sp>
      <p:sp>
        <p:nvSpPr>
          <p:cNvPr id="7" name="">
            <a:extLst xmlns:a="http://schemas.openxmlformats.org/drawingml/2006/main">
              <a:ext uri="{FF2B5EF4-FFF2-40B4-BE49-F238E27FC236}">
                <a16:creationId xmlns:a16="http://schemas.microsoft.com/office/drawing/2014/main" id="{912F8EEB-17DA-475C-A396-AB21E2443C15}"/>
              </a:ext>
            </a:extLst>
          </p:cNvPr>
          <p:cNvSpPr>
            <a:spLocks xmlns:a="http://schemas.openxmlformats.org/drawingml/2006/main" noGrp="1"/>
          </p:cNvSpPr>
          <p:nvPr/>
        </p:nvSpPr>
        <p:spPr>
          <a:xfrm xmlns:a="http://schemas.openxmlformats.org/drawingml/2006/main">
            <a:off x="647700" y="53149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Команда «Нейронично»</a:t>
            </a:r>
          </a:p>
        </p:txBody>
      </p:sp>
      <p:sp>
        <p:nvSpPr>
          <p:cNvPr id="8" name="">
            <a:extLst xmlns:a="http://schemas.openxmlformats.org/drawingml/2006/main">
              <a:ext uri="{FF2B5EF4-FFF2-40B4-BE49-F238E27FC236}">
                <a16:creationId xmlns:a16="http://schemas.microsoft.com/office/drawing/2014/main" id="{BA16CEAD-EC16-4A3E-8032-B851FC016A81}"/>
              </a:ext>
            </a:extLst>
          </p:cNvPr>
          <p:cNvSpPr>
            <a:spLocks xmlns:a="http://schemas.openxmlformats.org/drawingml/2006/main" noGrp="1"/>
          </p:cNvSpPr>
          <p:nvPr/>
        </p:nvSpPr>
        <p:spPr>
          <a:xfrm xmlns:a="http://schemas.openxmlformats.org/drawingml/2006/main">
            <a:off x="647700" y="5829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Классический Пансион МГУ</a:t>
            </a:r>
          </a:p>
        </p:txBody>
      </p:sp>
    </p:spTree>
    <p:extLst>
      <p:ext uri="{BB962C8B-B14F-4D97-AF65-F5344CB8AC3E}">
        <p14:creationId xmlns:p14="http://schemas.microsoft.com/office/powerpoint/2010/main" val="20441138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AA3DD1F-A3BD-4759-B18A-EDDCCE2BC5F3}"/>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Вопросы задачи</a:t>
            </a:r>
          </a:p>
        </p:txBody>
      </p:sp>
      <p:sp>
        <p:nvSpPr>
          <p:cNvPr id="2" name="">
            <a:extLst xmlns:a="http://schemas.openxmlformats.org/drawingml/2006/main">
              <a:ext uri="{FF2B5EF4-FFF2-40B4-BE49-F238E27FC236}">
                <a16:creationId xmlns:a16="http://schemas.microsoft.com/office/drawing/2014/main" id="{3F616545-2FE0-4BFE-820E-E6445FD86C32}"/>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8056723-7133-46FA-872B-2FA916E46F04}"/>
              </a:ext>
            </a:extLst>
          </p:cNvPr>
          <p:cNvSpPr>
            <a:spLocks xmlns:a="http://schemas.openxmlformats.org/drawingml/2006/main" noGrp="1"/>
          </p:cNvSpPr>
          <p:nvPr/>
        </p:nvSpPr>
        <p:spPr>
          <a:xfrm xmlns:a="http://schemas.openxmlformats.org/drawingml/2006/main">
            <a:off x="609600" y="16383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47705A"/>
                </a:solidFill>
                <a:latin typeface="Arial"/>
                <a:ea typeface="Arial"/>
                <a:cs typeface="Arial"/>
              </a:defRPr>
            </a:pPr>
            <a:r>
              <a:rPr sz="2700" b="1">
                <a:solidFill>
                  <a:srgbClr val="47705A"/>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97A52C77-C55B-4C2A-95D9-D7CBDB406B39}"/>
              </a:ext>
            </a:extLst>
          </p:cNvPr>
          <p:cNvSpPr>
            <a:spLocks xmlns:a="http://schemas.openxmlformats.org/drawingml/2006/main" noGrp="1"/>
          </p:cNvSpPr>
          <p:nvPr/>
        </p:nvSpPr>
        <p:spPr>
          <a:xfrm xmlns:a="http://schemas.openxmlformats.org/drawingml/2006/main">
            <a:off x="1257300" y="1638300"/>
            <a:ext cx="1014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63B31"/>
                </a:solidFill>
                <a:latin typeface="Arial"/>
                <a:ea typeface="Arial"/>
                <a:cs typeface="Arial"/>
              </a:defRPr>
            </a:pPr>
            <a:r>
              <a:rPr sz="2475" b="0">
                <a:solidFill>
                  <a:srgbClr val="263B31"/>
                </a:solidFill>
                <a:latin typeface="Arial"/>
                <a:ea typeface="Arial"/>
                <a:cs typeface="Arial"/>
              </a:rPr>
              <a:t>В чём преимущество звука перед другими каналами?</a:t>
            </a:r>
          </a:p>
        </p:txBody>
      </p:sp>
      <p:sp>
        <p:nvSpPr>
          <p:cNvPr id="5" name="">
            <a:extLst xmlns:a="http://schemas.openxmlformats.org/drawingml/2006/main">
              <a:ext uri="{FF2B5EF4-FFF2-40B4-BE49-F238E27FC236}">
                <a16:creationId xmlns:a16="http://schemas.microsoft.com/office/drawing/2014/main" id="{41390FF4-90B2-4DF1-8ED2-826761D43552}"/>
              </a:ext>
            </a:extLst>
          </p:cNvPr>
          <p:cNvSpPr>
            <a:spLocks xmlns:a="http://schemas.openxmlformats.org/drawingml/2006/main" noGrp="1"/>
          </p:cNvSpPr>
          <p:nvPr/>
        </p:nvSpPr>
        <p:spPr>
          <a:xfrm xmlns:a="http://schemas.openxmlformats.org/drawingml/2006/main">
            <a:off x="609600" y="24955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47705A"/>
                </a:solidFill>
                <a:latin typeface="Arial"/>
                <a:ea typeface="Arial"/>
                <a:cs typeface="Arial"/>
              </a:defRPr>
            </a:pPr>
            <a:r>
              <a:rPr sz="2700" b="1">
                <a:solidFill>
                  <a:srgbClr val="47705A"/>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DFB8469C-EB48-414F-8B6D-3FF2678EB14A}"/>
              </a:ext>
            </a:extLst>
          </p:cNvPr>
          <p:cNvSpPr>
            <a:spLocks xmlns:a="http://schemas.openxmlformats.org/drawingml/2006/main" noGrp="1"/>
          </p:cNvSpPr>
          <p:nvPr/>
        </p:nvSpPr>
        <p:spPr>
          <a:xfrm xmlns:a="http://schemas.openxmlformats.org/drawingml/2006/main">
            <a:off x="1257300" y="2495550"/>
            <a:ext cx="1014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63B31"/>
                </a:solidFill>
                <a:latin typeface="Arial"/>
                <a:ea typeface="Arial"/>
                <a:cs typeface="Arial"/>
              </a:defRPr>
            </a:pPr>
            <a:r>
              <a:rPr sz="2475" b="0">
                <a:solidFill>
                  <a:srgbClr val="263B31"/>
                </a:solidFill>
                <a:latin typeface="Arial"/>
                <a:ea typeface="Arial"/>
                <a:cs typeface="Arial"/>
              </a:rPr>
              <a:t>Как устроено растение, которое передаёт звук?</a:t>
            </a:r>
          </a:p>
        </p:txBody>
      </p:sp>
      <p:sp>
        <p:nvSpPr>
          <p:cNvPr id="7" name="">
            <a:extLst xmlns:a="http://schemas.openxmlformats.org/drawingml/2006/main">
              <a:ext uri="{FF2B5EF4-FFF2-40B4-BE49-F238E27FC236}">
                <a16:creationId xmlns:a16="http://schemas.microsoft.com/office/drawing/2014/main" id="{6A2608ED-6857-4D9C-B2FB-DFD37BF82564}"/>
              </a:ext>
            </a:extLst>
          </p:cNvPr>
          <p:cNvSpPr>
            <a:spLocks xmlns:a="http://schemas.openxmlformats.org/drawingml/2006/main" noGrp="1"/>
          </p:cNvSpPr>
          <p:nvPr/>
        </p:nvSpPr>
        <p:spPr>
          <a:xfrm xmlns:a="http://schemas.openxmlformats.org/drawingml/2006/main">
            <a:off x="609600" y="3352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47705A"/>
                </a:solidFill>
                <a:latin typeface="Arial"/>
                <a:ea typeface="Arial"/>
                <a:cs typeface="Arial"/>
              </a:defRPr>
            </a:pPr>
            <a:r>
              <a:rPr sz="2700" b="1">
                <a:solidFill>
                  <a:srgbClr val="47705A"/>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6F4C61F5-9051-4DB4-950C-240E0AA842B1}"/>
              </a:ext>
            </a:extLst>
          </p:cNvPr>
          <p:cNvSpPr>
            <a:spLocks xmlns:a="http://schemas.openxmlformats.org/drawingml/2006/main" noGrp="1"/>
          </p:cNvSpPr>
          <p:nvPr/>
        </p:nvSpPr>
        <p:spPr>
          <a:xfrm xmlns:a="http://schemas.openxmlformats.org/drawingml/2006/main">
            <a:off x="1257300" y="3352800"/>
            <a:ext cx="1014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63B31"/>
                </a:solidFill>
                <a:latin typeface="Arial"/>
                <a:ea typeface="Arial"/>
                <a:cs typeface="Arial"/>
              </a:defRPr>
            </a:pPr>
            <a:r>
              <a:rPr sz="2475" b="0">
                <a:solidFill>
                  <a:srgbClr val="263B31"/>
                </a:solidFill>
                <a:latin typeface="Arial"/>
                <a:ea typeface="Arial"/>
                <a:cs typeface="Arial"/>
              </a:rPr>
              <a:t>Какие ткани и органы обеспечивают генерацию?</a:t>
            </a:r>
          </a:p>
        </p:txBody>
      </p:sp>
      <p:sp>
        <p:nvSpPr>
          <p:cNvPr id="9" name="">
            <a:extLst xmlns:a="http://schemas.openxmlformats.org/drawingml/2006/main">
              <a:ext uri="{FF2B5EF4-FFF2-40B4-BE49-F238E27FC236}">
                <a16:creationId xmlns:a16="http://schemas.microsoft.com/office/drawing/2014/main" id="{6E73855B-44FA-4799-8260-55FEB093C5D1}"/>
              </a:ext>
            </a:extLst>
          </p:cNvPr>
          <p:cNvSpPr>
            <a:spLocks xmlns:a="http://schemas.openxmlformats.org/drawingml/2006/main" noGrp="1"/>
          </p:cNvSpPr>
          <p:nvPr/>
        </p:nvSpPr>
        <p:spPr>
          <a:xfrm xmlns:a="http://schemas.openxmlformats.org/drawingml/2006/main">
            <a:off x="609600" y="42100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47705A"/>
                </a:solidFill>
                <a:latin typeface="Arial"/>
                <a:ea typeface="Arial"/>
                <a:cs typeface="Arial"/>
              </a:defRPr>
            </a:pPr>
            <a:r>
              <a:rPr sz="2700" b="1">
                <a:solidFill>
                  <a:srgbClr val="47705A"/>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791C4316-7741-4040-A7E7-E422C6479DF8}"/>
              </a:ext>
            </a:extLst>
          </p:cNvPr>
          <p:cNvSpPr>
            <a:spLocks xmlns:a="http://schemas.openxmlformats.org/drawingml/2006/main" noGrp="1"/>
          </p:cNvSpPr>
          <p:nvPr/>
        </p:nvSpPr>
        <p:spPr>
          <a:xfrm xmlns:a="http://schemas.openxmlformats.org/drawingml/2006/main">
            <a:off x="1257300" y="4210050"/>
            <a:ext cx="1014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63B31"/>
                </a:solidFill>
                <a:latin typeface="Arial"/>
                <a:ea typeface="Arial"/>
                <a:cs typeface="Arial"/>
              </a:defRPr>
            </a:pPr>
            <a:r>
              <a:rPr sz="2475" b="0">
                <a:solidFill>
                  <a:srgbClr val="263B31"/>
                </a:solidFill>
                <a:latin typeface="Arial"/>
                <a:ea typeface="Arial"/>
                <a:cs typeface="Arial"/>
              </a:rPr>
              <a:t>Какую пользу получает растение?</a:t>
            </a:r>
          </a:p>
        </p:txBody>
      </p:sp>
      <p:sp>
        <p:nvSpPr>
          <p:cNvPr id="11" name="">
            <a:extLst xmlns:a="http://schemas.openxmlformats.org/drawingml/2006/main">
              <a:ext uri="{FF2B5EF4-FFF2-40B4-BE49-F238E27FC236}">
                <a16:creationId xmlns:a16="http://schemas.microsoft.com/office/drawing/2014/main" id="{D10B2A1D-6C76-436C-A1A2-FC420742ACF8}"/>
              </a:ext>
            </a:extLst>
          </p:cNvPr>
          <p:cNvSpPr>
            <a:spLocks xmlns:a="http://schemas.openxmlformats.org/drawingml/2006/main" noGrp="1"/>
          </p:cNvSpPr>
          <p:nvPr/>
        </p:nvSpPr>
        <p:spPr>
          <a:xfrm xmlns:a="http://schemas.openxmlformats.org/drawingml/2006/main">
            <a:off x="609600" y="50673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47705A"/>
                </a:solidFill>
                <a:latin typeface="Arial"/>
                <a:ea typeface="Arial"/>
                <a:cs typeface="Arial"/>
              </a:defRPr>
            </a:pPr>
            <a:r>
              <a:rPr sz="2700" b="1">
                <a:solidFill>
                  <a:srgbClr val="47705A"/>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A51FEDC1-49A8-4E7D-9DB2-B3D6A14C89E5}"/>
              </a:ext>
            </a:extLst>
          </p:cNvPr>
          <p:cNvSpPr>
            <a:spLocks xmlns:a="http://schemas.openxmlformats.org/drawingml/2006/main" noGrp="1"/>
          </p:cNvSpPr>
          <p:nvPr/>
        </p:nvSpPr>
        <p:spPr>
          <a:xfrm xmlns:a="http://schemas.openxmlformats.org/drawingml/2006/main">
            <a:off x="1257300" y="5067300"/>
            <a:ext cx="1014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63B31"/>
                </a:solidFill>
                <a:latin typeface="Arial"/>
                <a:ea typeface="Arial"/>
                <a:cs typeface="Arial"/>
              </a:defRPr>
            </a:pPr>
            <a:r>
              <a:rPr sz="2475" b="0">
                <a:solidFill>
                  <a:srgbClr val="263B31"/>
                </a:solidFill>
                <a:latin typeface="Arial"/>
                <a:ea typeface="Arial"/>
                <a:cs typeface="Arial"/>
              </a:rPr>
              <a:t>Как изменятся экосистемы?</a:t>
            </a:r>
          </a:p>
        </p:txBody>
      </p:sp>
    </p:spTree>
    <p:extLst>
      <p:ext uri="{BB962C8B-B14F-4D97-AF65-F5344CB8AC3E}">
        <p14:creationId xmlns:p14="http://schemas.microsoft.com/office/powerpoint/2010/main" val="1794815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0D4AEE-BCEA-49BE-956B-83F3AFCB32CA}"/>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Определения</a:t>
            </a:r>
          </a:p>
        </p:txBody>
      </p:sp>
      <p:sp>
        <p:nvSpPr>
          <p:cNvPr id="2" name="">
            <a:extLst xmlns:a="http://schemas.openxmlformats.org/drawingml/2006/main">
              <a:ext uri="{FF2B5EF4-FFF2-40B4-BE49-F238E27FC236}">
                <a16:creationId xmlns:a16="http://schemas.microsoft.com/office/drawing/2014/main" id="{247A88A4-A3C3-4403-8C97-9EBF8C4CE849}"/>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76DD0F28-7C58-4C03-B3B6-4464245DE53F}"/>
              </a:ext>
            </a:extLst>
          </p:cNvPr>
          <p:cNvSpPr>
            <a:spLocks xmlns:a="http://schemas.openxmlformats.org/drawingml/2006/main" noGrp="1"/>
          </p:cNvSpPr>
          <p:nvPr/>
        </p:nvSpPr>
        <p:spPr>
          <a:xfrm xmlns:a="http://schemas.openxmlformats.org/drawingml/2006/main">
            <a:off x="609600" y="1524000"/>
            <a:ext cx="5210175" cy="685800"/>
          </a:xfrm>
          <a:prstGeom xmlns:a="http://schemas.openxmlformats.org/drawingml/2006/main" prst="roundRect">
            <a:avLst>
              <a:gd name="adj" fmla="val 22222"/>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Высшие растения</a:t>
            </a:r>
          </a:p>
        </p:txBody>
      </p:sp>
      <p:sp>
        <p:nvSpPr>
          <p:cNvPr id="4" name="">
            <a:extLst xmlns:a="http://schemas.openxmlformats.org/drawingml/2006/main">
              <a:ext uri="{FF2B5EF4-FFF2-40B4-BE49-F238E27FC236}">
                <a16:creationId xmlns:a16="http://schemas.microsoft.com/office/drawing/2014/main" id="{03DFD994-0E78-4267-A28D-2C149EBB1737}"/>
              </a:ext>
            </a:extLst>
          </p:cNvPr>
          <p:cNvSpPr>
            <a:spLocks xmlns:a="http://schemas.openxmlformats.org/drawingml/2006/main" noGrp="1"/>
          </p:cNvSpPr>
          <p:nvPr/>
        </p:nvSpPr>
        <p:spPr>
          <a:xfrm xmlns:a="http://schemas.openxmlformats.org/drawingml/2006/main">
            <a:off x="6381750" y="1524000"/>
            <a:ext cx="5200650" cy="685800"/>
          </a:xfrm>
          <a:prstGeom xmlns:a="http://schemas.openxmlformats.org/drawingml/2006/main" prst="roundRect">
            <a:avLst>
              <a:gd name="adj" fmla="val 22222"/>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Животные</a:t>
            </a:r>
          </a:p>
        </p:txBody>
      </p:sp>
      <p:sp>
        <p:nvSpPr>
          <p:cNvPr id="5" name="">
            <a:extLst xmlns:a="http://schemas.openxmlformats.org/drawingml/2006/main">
              <a:ext uri="{FF2B5EF4-FFF2-40B4-BE49-F238E27FC236}">
                <a16:creationId xmlns:a16="http://schemas.microsoft.com/office/drawing/2014/main" id="{D19E45DA-B931-4A16-AA54-B81DDEF1FF34}"/>
              </a:ext>
            </a:extLst>
          </p:cNvPr>
          <p:cNvSpPr>
            <a:spLocks xmlns:a="http://schemas.openxmlformats.org/drawingml/2006/main" noGrp="1"/>
          </p:cNvSpPr>
          <p:nvPr/>
        </p:nvSpPr>
        <p:spPr>
          <a:xfrm xmlns:a="http://schemas.openxmlformats.org/drawingml/2006/main">
            <a:off x="857250" y="2524125"/>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63B31"/>
                </a:solidFill>
                <a:latin typeface="Arial"/>
                <a:ea typeface="Arial"/>
                <a:cs typeface="Arial"/>
              </a:defRPr>
            </a:pPr>
            <a:r>
              <a:rPr sz="2700" b="1">
                <a:solidFill>
                  <a:srgbClr val="263B31"/>
                </a:solidFill>
                <a:latin typeface="Arial"/>
                <a:ea typeface="Arial"/>
                <a:cs typeface="Arial"/>
              </a:rPr>
              <a:t>Embryophyta</a:t>
            </a:r>
          </a:p>
        </p:txBody>
      </p:sp>
      <p:sp>
        <p:nvSpPr>
          <p:cNvPr id="6" name="">
            <a:extLst xmlns:a="http://schemas.openxmlformats.org/drawingml/2006/main">
              <a:ext uri="{FF2B5EF4-FFF2-40B4-BE49-F238E27FC236}">
                <a16:creationId xmlns:a16="http://schemas.microsoft.com/office/drawing/2014/main" id="{5A79A4C5-A814-495D-B0E1-BA8EF3A5571E}"/>
              </a:ext>
            </a:extLst>
          </p:cNvPr>
          <p:cNvSpPr>
            <a:spLocks xmlns:a="http://schemas.openxmlformats.org/drawingml/2006/main" noGrp="1"/>
          </p:cNvSpPr>
          <p:nvPr/>
        </p:nvSpPr>
        <p:spPr>
          <a:xfrm xmlns:a="http://schemas.openxmlformats.org/drawingml/2006/main">
            <a:off x="6629400" y="2524125"/>
            <a:ext cx="4953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63B31"/>
                </a:solidFill>
                <a:latin typeface="Arial"/>
                <a:ea typeface="Arial"/>
                <a:cs typeface="Arial"/>
              </a:defRPr>
            </a:pPr>
            <a:r>
              <a:rPr sz="2700" b="1">
                <a:solidFill>
                  <a:srgbClr val="263B31"/>
                </a:solidFill>
                <a:latin typeface="Arial"/>
                <a:ea typeface="Arial"/>
                <a:cs typeface="Arial"/>
              </a:rPr>
              <a:t>Eumetazoa</a:t>
            </a:r>
          </a:p>
        </p:txBody>
      </p:sp>
      <p:sp>
        <p:nvSpPr>
          <p:cNvPr id="7" name="">
            <a:extLst xmlns:a="http://schemas.openxmlformats.org/drawingml/2006/main">
              <a:ext uri="{FF2B5EF4-FFF2-40B4-BE49-F238E27FC236}">
                <a16:creationId xmlns:a16="http://schemas.microsoft.com/office/drawing/2014/main" id="{9C23BF86-E9E1-4183-949D-31F5D2E200E9}"/>
              </a:ext>
            </a:extLst>
          </p:cNvPr>
          <p:cNvSpPr>
            <a:spLocks xmlns:a="http://schemas.openxmlformats.org/drawingml/2006/main" noGrp="1"/>
          </p:cNvSpPr>
          <p:nvPr/>
        </p:nvSpPr>
        <p:spPr>
          <a:xfrm xmlns:a="http://schemas.openxmlformats.org/drawingml/2006/main">
            <a:off x="609600" y="39528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263B31"/>
                </a:solidFill>
                <a:latin typeface="Arial"/>
                <a:ea typeface="Arial"/>
                <a:cs typeface="Arial"/>
              </a:defRPr>
            </a:pPr>
            <a:r>
              <a:rPr sz="2700" b="1">
                <a:solidFill>
                  <a:srgbClr val="263B31"/>
                </a:solidFill>
                <a:latin typeface="Arial"/>
                <a:ea typeface="Arial"/>
                <a:cs typeface="Arial"/>
              </a:rPr>
              <a:t>Звук</a:t>
            </a:r>
          </a:p>
        </p:txBody>
      </p:sp>
      <p:sp>
        <p:nvSpPr>
          <p:cNvPr id="8" name="">
            <a:extLst xmlns:a="http://schemas.openxmlformats.org/drawingml/2006/main">
              <a:ext uri="{FF2B5EF4-FFF2-40B4-BE49-F238E27FC236}">
                <a16:creationId xmlns:a16="http://schemas.microsoft.com/office/drawing/2014/main" id="{186A6177-694B-49A2-BAA6-9618FB35A1E3}"/>
              </a:ext>
            </a:extLst>
          </p:cNvPr>
          <p:cNvSpPr>
            <a:spLocks xmlns:a="http://schemas.openxmlformats.org/drawingml/2006/main" noGrp="1"/>
          </p:cNvSpPr>
          <p:nvPr/>
        </p:nvSpPr>
        <p:spPr>
          <a:xfrm xmlns:a="http://schemas.openxmlformats.org/drawingml/2006/main">
            <a:off x="609600" y="4572000"/>
            <a:ext cx="109728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263B31"/>
                </a:solidFill>
                <a:latin typeface="Arial"/>
                <a:ea typeface="Arial"/>
                <a:cs typeface="Arial"/>
              </a:defRPr>
            </a:pPr>
            <a:r>
              <a:rPr sz="2400" b="0">
                <a:solidFill>
                  <a:srgbClr val="263B31"/>
                </a:solidFill>
                <a:latin typeface="Arial"/>
                <a:ea typeface="Arial"/>
                <a:cs typeface="Arial"/>
              </a:rPr>
              <a:t>Механические волны в упругой среде. В этой задаче</a:t>
            </a:r>
          </a:p>
          <a:p xmlns:a="http://schemas.openxmlformats.org/drawingml/2006/main">
            <a:pPr algn="l">
              <a:defRPr sz="2400" b="0">
                <a:solidFill>
                  <a:srgbClr val="263B31"/>
                </a:solidFill>
                <a:latin typeface="Arial"/>
                <a:ea typeface="Arial"/>
                <a:cs typeface="Arial"/>
              </a:defRPr>
            </a:pPr>
            <a:r>
              <a:rPr sz="2400" b="0">
                <a:solidFill>
                  <a:srgbClr val="263B31"/>
                </a:solidFill>
                <a:latin typeface="Arial"/>
                <a:ea typeface="Arial"/>
                <a:cs typeface="Arial"/>
              </a:rPr>
              <a:t>сигнал должен пройти от растения до адресата</a:t>
            </a:r>
          </a:p>
          <a:p xmlns:a="http://schemas.openxmlformats.org/drawingml/2006/main">
            <a:pPr algn="l">
              <a:defRPr sz="2400" b="0">
                <a:solidFill>
                  <a:srgbClr val="263B31"/>
                </a:solidFill>
                <a:latin typeface="Arial"/>
                <a:ea typeface="Arial"/>
                <a:cs typeface="Arial"/>
              </a:defRPr>
            </a:pPr>
            <a:r>
              <a:rPr sz="2400" b="0">
                <a:solidFill>
                  <a:srgbClr val="263B31"/>
                </a:solidFill>
                <a:latin typeface="Arial"/>
                <a:ea typeface="Arial"/>
                <a:cs typeface="Arial"/>
              </a:rPr>
              <a:t>через внешнюю среду: воздух или воду.</a:t>
            </a:r>
          </a:p>
        </p:txBody>
      </p:sp>
    </p:spTree>
    <p:extLst>
      <p:ext uri="{BB962C8B-B14F-4D97-AF65-F5344CB8AC3E}">
        <p14:creationId xmlns:p14="http://schemas.microsoft.com/office/powerpoint/2010/main" val="14201887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C8AC33-3F85-4E7B-ACD8-D4F77418B1AB}"/>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Преимущества звука</a:t>
            </a:r>
          </a:p>
        </p:txBody>
      </p:sp>
      <p:sp>
        <p:nvSpPr>
          <p:cNvPr id="2" name="">
            <a:extLst xmlns:a="http://schemas.openxmlformats.org/drawingml/2006/main">
              <a:ext uri="{FF2B5EF4-FFF2-40B4-BE49-F238E27FC236}">
                <a16:creationId xmlns:a16="http://schemas.microsoft.com/office/drawing/2014/main" id="{E82617F7-40D8-4819-BDF8-1B7EAE12F3E7}"/>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CC4367E-3263-4B78-98F6-726D191C40E5}"/>
              </a:ext>
            </a:extLst>
          </p:cNvPr>
          <p:cNvSpPr>
            <a:spLocks xmlns:a="http://schemas.openxmlformats.org/drawingml/2006/main" noGrp="1"/>
          </p:cNvSpPr>
          <p:nvPr/>
        </p:nvSpPr>
        <p:spPr>
          <a:xfrm xmlns:a="http://schemas.openxmlformats.org/drawingml/2006/main">
            <a:off x="609600" y="1581150"/>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Скорость</a:t>
            </a:r>
          </a:p>
        </p:txBody>
      </p:sp>
      <p:sp>
        <p:nvSpPr>
          <p:cNvPr id="4" name="">
            <a:extLst xmlns:a="http://schemas.openxmlformats.org/drawingml/2006/main">
              <a:ext uri="{FF2B5EF4-FFF2-40B4-BE49-F238E27FC236}">
                <a16:creationId xmlns:a16="http://schemas.microsoft.com/office/drawing/2014/main" id="{CD47F928-9D40-4D6A-A7A8-FAC494561672}"/>
              </a:ext>
            </a:extLst>
          </p:cNvPr>
          <p:cNvSpPr>
            <a:spLocks xmlns:a="http://schemas.openxmlformats.org/drawingml/2006/main" noGrp="1"/>
          </p:cNvSpPr>
          <p:nvPr/>
        </p:nvSpPr>
        <p:spPr>
          <a:xfrm xmlns:a="http://schemas.openxmlformats.org/drawingml/2006/main">
            <a:off x="609600" y="2171700"/>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На 10 м звук приходит</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примерно за 0,03 с.</a:t>
            </a:r>
          </a:p>
        </p:txBody>
      </p:sp>
      <p:sp>
        <p:nvSpPr>
          <p:cNvPr id="5" name="">
            <a:extLst xmlns:a="http://schemas.openxmlformats.org/drawingml/2006/main">
              <a:ext uri="{FF2B5EF4-FFF2-40B4-BE49-F238E27FC236}">
                <a16:creationId xmlns:a16="http://schemas.microsoft.com/office/drawing/2014/main" id="{4612E81E-EC22-4589-919E-B6AE27D73F08}"/>
              </a:ext>
            </a:extLst>
          </p:cNvPr>
          <p:cNvSpPr>
            <a:spLocks xmlns:a="http://schemas.openxmlformats.org/drawingml/2006/main" noGrp="1"/>
          </p:cNvSpPr>
          <p:nvPr/>
        </p:nvSpPr>
        <p:spPr>
          <a:xfrm xmlns:a="http://schemas.openxmlformats.org/drawingml/2006/main">
            <a:off x="6362700" y="1581150"/>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Кодирование информации</a:t>
            </a:r>
          </a:p>
        </p:txBody>
      </p:sp>
      <p:sp>
        <p:nvSpPr>
          <p:cNvPr id="6" name="">
            <a:extLst xmlns:a="http://schemas.openxmlformats.org/drawingml/2006/main">
              <a:ext uri="{FF2B5EF4-FFF2-40B4-BE49-F238E27FC236}">
                <a16:creationId xmlns:a16="http://schemas.microsoft.com/office/drawing/2014/main" id="{32AFEBF5-57C5-45FC-8A47-540EC612BF6C}"/>
              </a:ext>
            </a:extLst>
          </p:cNvPr>
          <p:cNvSpPr>
            <a:spLocks xmlns:a="http://schemas.openxmlformats.org/drawingml/2006/main" noGrp="1"/>
          </p:cNvSpPr>
          <p:nvPr/>
        </p:nvSpPr>
        <p:spPr>
          <a:xfrm xmlns:a="http://schemas.openxmlformats.org/drawingml/2006/main">
            <a:off x="6362700" y="2171700"/>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Частота, длительность</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и последовательность импульсов</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задают разные сообщения.</a:t>
            </a:r>
          </a:p>
        </p:txBody>
      </p:sp>
      <p:sp>
        <p:nvSpPr>
          <p:cNvPr id="7" name="">
            <a:extLst xmlns:a="http://schemas.openxmlformats.org/drawingml/2006/main">
              <a:ext uri="{FF2B5EF4-FFF2-40B4-BE49-F238E27FC236}">
                <a16:creationId xmlns:a16="http://schemas.microsoft.com/office/drawing/2014/main" id="{7D814E43-8D0D-414A-B8CA-F6CB6FD164ED}"/>
              </a:ext>
            </a:extLst>
          </p:cNvPr>
          <p:cNvSpPr>
            <a:spLocks xmlns:a="http://schemas.openxmlformats.org/drawingml/2006/main" noGrp="1"/>
          </p:cNvSpPr>
          <p:nvPr/>
        </p:nvSpPr>
        <p:spPr>
          <a:xfrm xmlns:a="http://schemas.openxmlformats.org/drawingml/2006/main">
            <a:off x="609600" y="3943350"/>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Управление сигналом</a:t>
            </a:r>
          </a:p>
        </p:txBody>
      </p:sp>
      <p:sp>
        <p:nvSpPr>
          <p:cNvPr id="8" name="">
            <a:extLst xmlns:a="http://schemas.openxmlformats.org/drawingml/2006/main">
              <a:ext uri="{FF2B5EF4-FFF2-40B4-BE49-F238E27FC236}">
                <a16:creationId xmlns:a16="http://schemas.microsoft.com/office/drawing/2014/main" id="{F8856F73-BA01-441B-AC1A-93DA1659D3C2}"/>
              </a:ext>
            </a:extLst>
          </p:cNvPr>
          <p:cNvSpPr>
            <a:spLocks xmlns:a="http://schemas.openxmlformats.org/drawingml/2006/main" noGrp="1"/>
          </p:cNvSpPr>
          <p:nvPr/>
        </p:nvSpPr>
        <p:spPr>
          <a:xfrm xmlns:a="http://schemas.openxmlformats.org/drawingml/2006/main">
            <a:off x="609600" y="4533900"/>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Передачу можно быстро</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начать и прекратить.</a:t>
            </a:r>
          </a:p>
        </p:txBody>
      </p:sp>
      <p:sp>
        <p:nvSpPr>
          <p:cNvPr id="9" name="">
            <a:extLst xmlns:a="http://schemas.openxmlformats.org/drawingml/2006/main">
              <a:ext uri="{FF2B5EF4-FFF2-40B4-BE49-F238E27FC236}">
                <a16:creationId xmlns:a16="http://schemas.microsoft.com/office/drawing/2014/main" id="{D33061C5-C6B0-402E-A795-33CAC70F7D81}"/>
              </a:ext>
            </a:extLst>
          </p:cNvPr>
          <p:cNvSpPr>
            <a:spLocks xmlns:a="http://schemas.openxmlformats.org/drawingml/2006/main" noGrp="1"/>
          </p:cNvSpPr>
          <p:nvPr/>
        </p:nvSpPr>
        <p:spPr>
          <a:xfrm xmlns:a="http://schemas.openxmlformats.org/drawingml/2006/main">
            <a:off x="6362700" y="3943350"/>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Стабильность радиуса</a:t>
            </a:r>
          </a:p>
        </p:txBody>
      </p:sp>
      <p:sp>
        <p:nvSpPr>
          <p:cNvPr id="10" name="">
            <a:extLst xmlns:a="http://schemas.openxmlformats.org/drawingml/2006/main">
              <a:ext uri="{FF2B5EF4-FFF2-40B4-BE49-F238E27FC236}">
                <a16:creationId xmlns:a16="http://schemas.microsoft.com/office/drawing/2014/main" id="{B72164E4-3C43-4063-A024-73A39CF1B00E}"/>
              </a:ext>
            </a:extLst>
          </p:cNvPr>
          <p:cNvSpPr>
            <a:spLocks xmlns:a="http://schemas.openxmlformats.org/drawingml/2006/main" noGrp="1"/>
          </p:cNvSpPr>
          <p:nvPr/>
        </p:nvSpPr>
        <p:spPr>
          <a:xfrm xmlns:a="http://schemas.openxmlformats.org/drawingml/2006/main">
            <a:off x="6362700" y="4533900"/>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Звук идёт и против потока.</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Перенос веществ зависит</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от ветра или потока воды.</a:t>
            </a:r>
          </a:p>
        </p:txBody>
      </p:sp>
      <p:sp>
        <p:nvSpPr>
          <p:cNvPr id="11" name="">
            <a:extLst xmlns:a="http://schemas.openxmlformats.org/drawingml/2006/main">
              <a:ext uri="{FF2B5EF4-FFF2-40B4-BE49-F238E27FC236}">
                <a16:creationId xmlns:a16="http://schemas.microsoft.com/office/drawing/2014/main" id="{2ECC7433-BB67-487F-B811-ADF526AC7A54}"/>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[11]</a:t>
            </a:r>
          </a:p>
        </p:txBody>
      </p:sp>
    </p:spTree>
    <p:extLst>
      <p:ext uri="{BB962C8B-B14F-4D97-AF65-F5344CB8AC3E}">
        <p14:creationId xmlns:p14="http://schemas.microsoft.com/office/powerpoint/2010/main" val="12947179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p:cNvCxnSpPr>
            <a:stCxn xmlns:a="http://schemas.openxmlformats.org/drawingml/2006/main" id="4" idx="3"/>
            <a:endCxn xmlns:a="http://schemas.openxmlformats.org/drawingml/2006/main" id="6" idx="1"/>
          </p:cNvCxnSpPr>
          <p:nvPr/>
        </p:nvCxnSpPr>
        <p:spPr>
          <a:xfrm xmlns:a="http://schemas.openxmlformats.org/drawingml/2006/main">
            <a:off x="7781925" y="2428875"/>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3" name=""/>
          <p:cNvCxnSpPr>
            <a:stCxn xmlns:a="http://schemas.openxmlformats.org/drawingml/2006/main" id="3" idx="3"/>
            <a:endCxn xmlns:a="http://schemas.openxmlformats.org/drawingml/2006/main" id="4" idx="1"/>
          </p:cNvCxnSpPr>
          <p:nvPr/>
        </p:nvCxnSpPr>
        <p:spPr>
          <a:xfrm xmlns:a="http://schemas.openxmlformats.org/drawingml/2006/main">
            <a:off x="3981450" y="2428875"/>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4" name="">
            <a:extLst xmlns:a="http://schemas.openxmlformats.org/drawingml/2006/main">
              <a:ext uri="{FF2B5EF4-FFF2-40B4-BE49-F238E27FC236}">
                <a16:creationId xmlns:a16="http://schemas.microsoft.com/office/drawing/2014/main" id="{811E2D5D-4D47-454D-BC60-7A449159DB55}"/>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Система коммуникации</a:t>
            </a:r>
          </a:p>
        </p:txBody>
      </p:sp>
      <p:sp>
        <p:nvSpPr>
          <p:cNvPr id="2" name="">
            <a:extLst xmlns:a="http://schemas.openxmlformats.org/drawingml/2006/main">
              <a:ext uri="{FF2B5EF4-FFF2-40B4-BE49-F238E27FC236}">
                <a16:creationId xmlns:a16="http://schemas.microsoft.com/office/drawing/2014/main" id="{C9209D7F-FECF-453D-A895-707C09793439}"/>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D72D37F2-BBB2-4ECD-8B01-D41E9382B6EE}"/>
              </a:ext>
            </a:extLst>
          </p:cNvPr>
          <p:cNvSpPr>
            <a:spLocks xmlns:a="http://schemas.openxmlformats.org/drawingml/2006/main" noGrp="1"/>
          </p:cNvSpPr>
          <p:nvPr/>
        </p:nvSpPr>
        <p:spPr>
          <a:xfrm xmlns:a="http://schemas.openxmlformats.org/drawingml/2006/main">
            <a:off x="609600" y="1933575"/>
            <a:ext cx="3371850" cy="990600"/>
          </a:xfrm>
          <a:prstGeom xmlns:a="http://schemas.openxmlformats.org/drawingml/2006/main" prst="roundRect">
            <a:avLst>
              <a:gd name="adj" fmla="val 15385"/>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Генератор</a:t>
            </a:r>
          </a:p>
        </p:txBody>
      </p:sp>
      <p:sp>
        <p:nvSpPr>
          <p:cNvPr id="4" name="">
            <a:extLst xmlns:a="http://schemas.openxmlformats.org/drawingml/2006/main">
              <a:ext uri="{FF2B5EF4-FFF2-40B4-BE49-F238E27FC236}">
                <a16:creationId xmlns:a16="http://schemas.microsoft.com/office/drawing/2014/main" id="{AF5BAD6E-C62B-4A77-AC01-7E6BAB1BF966}"/>
              </a:ext>
            </a:extLst>
          </p:cNvPr>
          <p:cNvSpPr>
            <a:spLocks xmlns:a="http://schemas.openxmlformats.org/drawingml/2006/main" noGrp="1"/>
          </p:cNvSpPr>
          <p:nvPr/>
        </p:nvSpPr>
        <p:spPr>
          <a:xfrm xmlns:a="http://schemas.openxmlformats.org/drawingml/2006/main">
            <a:off x="4410075" y="1933575"/>
            <a:ext cx="3371850" cy="990600"/>
          </a:xfrm>
          <a:prstGeom xmlns:a="http://schemas.openxmlformats.org/drawingml/2006/main" prst="roundRect">
            <a:avLst>
              <a:gd name="adj" fmla="val 15385"/>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Внешняя среда</a:t>
            </a:r>
          </a:p>
        </p:txBody>
      </p:sp>
      <p:sp>
        <p:nvSpPr>
          <p:cNvPr id="6" name="">
            <a:extLst xmlns:a="http://schemas.openxmlformats.org/drawingml/2006/main">
              <a:ext uri="{FF2B5EF4-FFF2-40B4-BE49-F238E27FC236}">
                <a16:creationId xmlns:a16="http://schemas.microsoft.com/office/drawing/2014/main" id="{8AF79A64-C0B0-4BB9-BAB8-92B1E05A1504}"/>
              </a:ext>
            </a:extLst>
          </p:cNvPr>
          <p:cNvSpPr>
            <a:spLocks xmlns:a="http://schemas.openxmlformats.org/drawingml/2006/main" noGrp="1"/>
          </p:cNvSpPr>
          <p:nvPr/>
        </p:nvSpPr>
        <p:spPr>
          <a:xfrm xmlns:a="http://schemas.openxmlformats.org/drawingml/2006/main">
            <a:off x="8210550" y="1933575"/>
            <a:ext cx="3371850" cy="990600"/>
          </a:xfrm>
          <a:prstGeom xmlns:a="http://schemas.openxmlformats.org/drawingml/2006/main" prst="roundRect">
            <a:avLst>
              <a:gd name="adj" fmla="val 15385"/>
            </a:avLst>
          </a:prstGeom>
          <a:solidFill xmlns:a="http://schemas.openxmlformats.org/drawingml/2006/main">
            <a:srgbClr val="F6E7D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Приёмник</a:t>
            </a:r>
          </a:p>
        </p:txBody>
      </p:sp>
      <p:sp>
        <p:nvSpPr>
          <p:cNvPr id="8" name="">
            <a:extLst xmlns:a="http://schemas.openxmlformats.org/drawingml/2006/main">
              <a:ext uri="{FF2B5EF4-FFF2-40B4-BE49-F238E27FC236}">
                <a16:creationId xmlns:a16="http://schemas.microsoft.com/office/drawing/2014/main" id="{811D3875-5FA6-48F6-9CC7-8C42AC63EAA2}"/>
              </a:ext>
            </a:extLst>
          </p:cNvPr>
          <p:cNvSpPr>
            <a:spLocks xmlns:a="http://schemas.openxmlformats.org/drawingml/2006/main" noGrp="1"/>
          </p:cNvSpPr>
          <p:nvPr/>
        </p:nvSpPr>
        <p:spPr>
          <a:xfrm xmlns:a="http://schemas.openxmlformats.org/drawingml/2006/main">
            <a:off x="704850" y="33337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Создаёт механические</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колебания</a:t>
            </a:r>
          </a:p>
        </p:txBody>
      </p:sp>
      <p:sp>
        <p:nvSpPr>
          <p:cNvPr id="9" name="">
            <a:extLst xmlns:a="http://schemas.openxmlformats.org/drawingml/2006/main">
              <a:ext uri="{FF2B5EF4-FFF2-40B4-BE49-F238E27FC236}">
                <a16:creationId xmlns:a16="http://schemas.microsoft.com/office/drawing/2014/main" id="{E64B3579-7706-4B1E-B48D-5616B5084B66}"/>
              </a:ext>
            </a:extLst>
          </p:cNvPr>
          <p:cNvSpPr>
            <a:spLocks xmlns:a="http://schemas.openxmlformats.org/drawingml/2006/main" noGrp="1"/>
          </p:cNvSpPr>
          <p:nvPr/>
        </p:nvSpPr>
        <p:spPr>
          <a:xfrm xmlns:a="http://schemas.openxmlformats.org/drawingml/2006/main">
            <a:off x="4610100" y="3333750"/>
            <a:ext cx="333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Передаёт колебания</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через воздух или воду</a:t>
            </a:r>
          </a:p>
        </p:txBody>
      </p:sp>
      <p:sp>
        <p:nvSpPr>
          <p:cNvPr id="10" name="">
            <a:extLst xmlns:a="http://schemas.openxmlformats.org/drawingml/2006/main">
              <a:ext uri="{FF2B5EF4-FFF2-40B4-BE49-F238E27FC236}">
                <a16:creationId xmlns:a16="http://schemas.microsoft.com/office/drawing/2014/main" id="{1C93E964-5D8A-4105-8519-3F5C5D050FCE}"/>
              </a:ext>
            </a:extLst>
          </p:cNvPr>
          <p:cNvSpPr>
            <a:spLocks xmlns:a="http://schemas.openxmlformats.org/drawingml/2006/main" noGrp="1"/>
          </p:cNvSpPr>
          <p:nvPr/>
        </p:nvSpPr>
        <p:spPr>
          <a:xfrm xmlns:a="http://schemas.openxmlformats.org/drawingml/2006/main">
            <a:off x="8324850" y="3333750"/>
            <a:ext cx="32575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Переводит колебания</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в электрический сигнал.</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Анализирует и реагирует.</a:t>
            </a:r>
          </a:p>
        </p:txBody>
      </p:sp>
      <p:sp>
        <p:nvSpPr>
          <p:cNvPr id="11" name="">
            <a:extLst xmlns:a="http://schemas.openxmlformats.org/drawingml/2006/main">
              <a:ext uri="{FF2B5EF4-FFF2-40B4-BE49-F238E27FC236}">
                <a16:creationId xmlns:a16="http://schemas.microsoft.com/office/drawing/2014/main" id="{10C82F0D-2FD9-4F35-AAB6-6068AA5B6944}"/>
              </a:ext>
            </a:extLst>
          </p:cNvPr>
          <p:cNvSpPr>
            <a:spLocks xmlns:a="http://schemas.openxmlformats.org/drawingml/2006/main" noGrp="1"/>
          </p:cNvSpPr>
          <p:nvPr/>
        </p:nvSpPr>
        <p:spPr>
          <a:xfrm xmlns:a="http://schemas.openxmlformats.org/drawingml/2006/main">
            <a:off x="609600" y="5334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263B31"/>
                </a:solidFill>
                <a:latin typeface="Arial"/>
                <a:ea typeface="Arial"/>
                <a:cs typeface="Arial"/>
              </a:defRPr>
            </a:pPr>
            <a:r>
              <a:rPr sz="2400" b="0">
                <a:solidFill>
                  <a:srgbClr val="263B31"/>
                </a:solidFill>
                <a:latin typeface="Arial"/>
                <a:ea typeface="Arial"/>
                <a:cs typeface="Arial"/>
              </a:rPr>
              <a:t>Система кодировки связывает генератор и приёмник</a:t>
            </a:r>
          </a:p>
        </p:txBody>
      </p:sp>
    </p:spTree>
    <p:extLst>
      <p:ext uri="{BB962C8B-B14F-4D97-AF65-F5344CB8AC3E}">
        <p14:creationId xmlns:p14="http://schemas.microsoft.com/office/powerpoint/2010/main" val="968540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p:cNvCxnSpPr>
            <a:stCxn xmlns:a="http://schemas.openxmlformats.org/drawingml/2006/main" id="8" idx="3"/>
            <a:endCxn xmlns:a="http://schemas.openxmlformats.org/drawingml/2006/main" id="9" idx="1"/>
          </p:cNvCxnSpPr>
          <p:nvPr/>
        </p:nvCxnSpPr>
        <p:spPr>
          <a:xfrm xmlns:a="http://schemas.openxmlformats.org/drawingml/2006/main">
            <a:off x="7686675" y="5614988"/>
            <a:ext cx="685800"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3" name=""/>
          <p:cNvCxnSpPr>
            <a:stCxn xmlns:a="http://schemas.openxmlformats.org/drawingml/2006/main" id="7" idx="3"/>
            <a:endCxn xmlns:a="http://schemas.openxmlformats.org/drawingml/2006/main" id="8" idx="1"/>
          </p:cNvCxnSpPr>
          <p:nvPr/>
        </p:nvCxnSpPr>
        <p:spPr>
          <a:xfrm xmlns:a="http://schemas.openxmlformats.org/drawingml/2006/main">
            <a:off x="3819525" y="5614988"/>
            <a:ext cx="657225"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4" name="">
            <a:extLst xmlns:a="http://schemas.openxmlformats.org/drawingml/2006/main">
              <a:ext uri="{FF2B5EF4-FFF2-40B4-BE49-F238E27FC236}">
                <a16:creationId xmlns:a16="http://schemas.microsoft.com/office/drawing/2014/main" id="{18CC5E40-9FC4-4764-9651-A4D357D29FAA}"/>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Выбор источника и получателя</a:t>
            </a:r>
          </a:p>
        </p:txBody>
      </p:sp>
      <p:sp>
        <p:nvSpPr>
          <p:cNvPr id="2" name="">
            <a:extLst xmlns:a="http://schemas.openxmlformats.org/drawingml/2006/main">
              <a:ext uri="{FF2B5EF4-FFF2-40B4-BE49-F238E27FC236}">
                <a16:creationId xmlns:a16="http://schemas.microsoft.com/office/drawing/2014/main" id="{8CF2CE7E-A4C3-454A-96DE-F22987446D30}"/>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7EDD282-4C18-422F-B19F-62953904F197}"/>
              </a:ext>
            </a:extLst>
          </p:cNvPr>
          <p:cNvSpPr>
            <a:spLocks xmlns:a="http://schemas.openxmlformats.org/drawingml/2006/main" noGrp="1"/>
          </p:cNvSpPr>
          <p:nvPr/>
        </p:nvSpPr>
        <p:spPr>
          <a:xfrm xmlns:a="http://schemas.openxmlformats.org/drawingml/2006/main">
            <a:off x="609600" y="1657350"/>
            <a:ext cx="5210175" cy="762000"/>
          </a:xfrm>
          <a:prstGeom xmlns:a="http://schemas.openxmlformats.org/drawingml/2006/main" prst="roundRect">
            <a:avLst>
              <a:gd name="adj" fmla="val 20000"/>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Источник: растение</a:t>
            </a:r>
          </a:p>
        </p:txBody>
      </p:sp>
      <p:sp>
        <p:nvSpPr>
          <p:cNvPr id="4" name="">
            <a:extLst xmlns:a="http://schemas.openxmlformats.org/drawingml/2006/main">
              <a:ext uri="{FF2B5EF4-FFF2-40B4-BE49-F238E27FC236}">
                <a16:creationId xmlns:a16="http://schemas.microsoft.com/office/drawing/2014/main" id="{403394FB-0DC9-4FCB-A157-4D2DA69DBD32}"/>
              </a:ext>
            </a:extLst>
          </p:cNvPr>
          <p:cNvSpPr>
            <a:spLocks xmlns:a="http://schemas.openxmlformats.org/drawingml/2006/main" noGrp="1"/>
          </p:cNvSpPr>
          <p:nvPr/>
        </p:nvSpPr>
        <p:spPr>
          <a:xfrm xmlns:a="http://schemas.openxmlformats.org/drawingml/2006/main">
            <a:off x="6381750" y="1657350"/>
            <a:ext cx="5200650" cy="762000"/>
          </a:xfrm>
          <a:prstGeom xmlns:a="http://schemas.openxmlformats.org/drawingml/2006/main" prst="roundRect">
            <a:avLst>
              <a:gd name="adj" fmla="val 20000"/>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Получатель: животное</a:t>
            </a:r>
          </a:p>
        </p:txBody>
      </p:sp>
      <p:sp>
        <p:nvSpPr>
          <p:cNvPr id="5" name="">
            <a:extLst xmlns:a="http://schemas.openxmlformats.org/drawingml/2006/main">
              <a:ext uri="{FF2B5EF4-FFF2-40B4-BE49-F238E27FC236}">
                <a16:creationId xmlns:a16="http://schemas.microsoft.com/office/drawing/2014/main" id="{C773A1BC-6C7E-4A56-9669-C267CDD05177}"/>
              </a:ext>
            </a:extLst>
          </p:cNvPr>
          <p:cNvSpPr>
            <a:spLocks xmlns:a="http://schemas.openxmlformats.org/drawingml/2006/main" noGrp="1"/>
          </p:cNvSpPr>
          <p:nvPr/>
        </p:nvSpPr>
        <p:spPr>
          <a:xfrm xmlns:a="http://schemas.openxmlformats.org/drawingml/2006/main">
            <a:off x="800100" y="28860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63B31"/>
                </a:solidFill>
                <a:latin typeface="Arial"/>
                <a:ea typeface="Arial"/>
                <a:cs typeface="Arial"/>
              </a:defRPr>
            </a:pPr>
            <a:r>
              <a:rPr sz="2625" b="0">
                <a:solidFill>
                  <a:srgbClr val="263B31"/>
                </a:solidFill>
                <a:latin typeface="Arial"/>
                <a:ea typeface="Arial"/>
                <a:cs typeface="Arial"/>
              </a:rPr>
              <a:t>Растение формирует сигнал</a:t>
            </a:r>
          </a:p>
          <a:p xmlns:a="http://schemas.openxmlformats.org/drawingml/2006/main">
            <a:pPr algn="l">
              <a:defRPr sz="2625" b="0">
                <a:solidFill>
                  <a:srgbClr val="263B31"/>
                </a:solidFill>
                <a:latin typeface="Arial"/>
                <a:ea typeface="Arial"/>
                <a:cs typeface="Arial"/>
              </a:defRPr>
            </a:pPr>
            <a:r>
              <a:rPr sz="2625" b="0">
                <a:solidFill>
                  <a:srgbClr val="263B31"/>
                </a:solidFill>
                <a:latin typeface="Arial"/>
                <a:ea typeface="Arial"/>
                <a:cs typeface="Arial"/>
              </a:rPr>
              <a:t>(по условию задачи).</a:t>
            </a:r>
          </a:p>
        </p:txBody>
      </p:sp>
      <p:sp>
        <p:nvSpPr>
          <p:cNvPr id="6" name="">
            <a:extLst xmlns:a="http://schemas.openxmlformats.org/drawingml/2006/main">
              <a:ext uri="{FF2B5EF4-FFF2-40B4-BE49-F238E27FC236}">
                <a16:creationId xmlns:a16="http://schemas.microsoft.com/office/drawing/2014/main" id="{78084CC2-94C5-4545-8B26-6FE6D8A0F9DE}"/>
              </a:ext>
            </a:extLst>
          </p:cNvPr>
          <p:cNvSpPr>
            <a:spLocks xmlns:a="http://schemas.openxmlformats.org/drawingml/2006/main" noGrp="1"/>
          </p:cNvSpPr>
          <p:nvPr/>
        </p:nvSpPr>
        <p:spPr>
          <a:xfrm xmlns:a="http://schemas.openxmlformats.org/drawingml/2006/main">
            <a:off x="6572250" y="2886075"/>
            <a:ext cx="4857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263B31"/>
                </a:solidFill>
                <a:latin typeface="Arial"/>
                <a:ea typeface="Arial"/>
                <a:cs typeface="Arial"/>
              </a:defRPr>
            </a:pPr>
            <a:r>
              <a:rPr sz="2625" b="0">
                <a:solidFill>
                  <a:srgbClr val="263B31"/>
                </a:solidFill>
                <a:latin typeface="Arial"/>
                <a:ea typeface="Arial"/>
                <a:cs typeface="Arial"/>
              </a:rPr>
              <a:t>У животного уже есть слух,</a:t>
            </a:r>
          </a:p>
          <a:p xmlns:a="http://schemas.openxmlformats.org/drawingml/2006/main">
            <a:pPr algn="l">
              <a:defRPr sz="2625" b="0">
                <a:solidFill>
                  <a:srgbClr val="263B31"/>
                </a:solidFill>
                <a:latin typeface="Arial"/>
                <a:ea typeface="Arial"/>
                <a:cs typeface="Arial"/>
              </a:defRPr>
            </a:pPr>
            <a:r>
              <a:rPr sz="2625" b="0">
                <a:solidFill>
                  <a:srgbClr val="263B31"/>
                </a:solidFill>
                <a:latin typeface="Arial"/>
                <a:ea typeface="Arial"/>
                <a:cs typeface="Arial"/>
              </a:rPr>
              <a:t>нервная система и поведение,</a:t>
            </a:r>
          </a:p>
          <a:p xmlns:a="http://schemas.openxmlformats.org/drawingml/2006/main">
            <a:pPr algn="l">
              <a:defRPr sz="2625" b="0">
                <a:solidFill>
                  <a:srgbClr val="263B31"/>
                </a:solidFill>
                <a:latin typeface="Arial"/>
                <a:ea typeface="Arial"/>
                <a:cs typeface="Arial"/>
              </a:defRPr>
            </a:pPr>
            <a:r>
              <a:rPr sz="2625" b="0">
                <a:solidFill>
                  <a:srgbClr val="263B31"/>
                </a:solidFill>
                <a:latin typeface="Arial"/>
                <a:ea typeface="Arial"/>
                <a:cs typeface="Arial"/>
              </a:rPr>
              <a:t>которое можно изменить.</a:t>
            </a:r>
          </a:p>
        </p:txBody>
      </p:sp>
      <p:sp>
        <p:nvSpPr>
          <p:cNvPr id="7" name="">
            <a:extLst xmlns:a="http://schemas.openxmlformats.org/drawingml/2006/main">
              <a:ext uri="{FF2B5EF4-FFF2-40B4-BE49-F238E27FC236}">
                <a16:creationId xmlns:a16="http://schemas.microsoft.com/office/drawing/2014/main" id="{8B27AED5-5BB1-415B-99BF-AAD19DD454F6}"/>
              </a:ext>
            </a:extLst>
          </p:cNvPr>
          <p:cNvSpPr>
            <a:spLocks xmlns:a="http://schemas.openxmlformats.org/drawingml/2006/main" noGrp="1"/>
          </p:cNvSpPr>
          <p:nvPr/>
        </p:nvSpPr>
        <p:spPr>
          <a:xfrm xmlns:a="http://schemas.openxmlformats.org/drawingml/2006/main">
            <a:off x="609600" y="5172075"/>
            <a:ext cx="3209925" cy="885825"/>
          </a:xfrm>
          <a:prstGeom xmlns:a="http://schemas.openxmlformats.org/drawingml/2006/main" prst="roundRect">
            <a:avLst>
              <a:gd name="adj" fmla="val 17204"/>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Генератор растения</a:t>
            </a:r>
          </a:p>
        </p:txBody>
      </p:sp>
      <p:sp>
        <p:nvSpPr>
          <p:cNvPr id="8" name="">
            <a:extLst xmlns:a="http://schemas.openxmlformats.org/drawingml/2006/main">
              <a:ext uri="{FF2B5EF4-FFF2-40B4-BE49-F238E27FC236}">
                <a16:creationId xmlns:a16="http://schemas.microsoft.com/office/drawing/2014/main" id="{D3C6BAB4-30F3-4534-B7F8-2819C25E536B}"/>
              </a:ext>
            </a:extLst>
          </p:cNvPr>
          <p:cNvSpPr>
            <a:spLocks xmlns:a="http://schemas.openxmlformats.org/drawingml/2006/main" noGrp="1"/>
          </p:cNvSpPr>
          <p:nvPr/>
        </p:nvSpPr>
        <p:spPr>
          <a:xfrm xmlns:a="http://schemas.openxmlformats.org/drawingml/2006/main">
            <a:off x="4476750" y="5172075"/>
            <a:ext cx="3209925" cy="885825"/>
          </a:xfrm>
          <a:prstGeom xmlns:a="http://schemas.openxmlformats.org/drawingml/2006/main" prst="roundRect">
            <a:avLst>
              <a:gd name="adj" fmla="val 17204"/>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Звук в среде</a:t>
            </a:r>
          </a:p>
        </p:txBody>
      </p:sp>
      <p:sp>
        <p:nvSpPr>
          <p:cNvPr id="9" name="">
            <a:extLst xmlns:a="http://schemas.openxmlformats.org/drawingml/2006/main">
              <a:ext uri="{FF2B5EF4-FFF2-40B4-BE49-F238E27FC236}">
                <a16:creationId xmlns:a16="http://schemas.microsoft.com/office/drawing/2014/main" id="{892B3474-56A6-4074-A7EF-1623EDBB5F1B}"/>
              </a:ext>
            </a:extLst>
          </p:cNvPr>
          <p:cNvSpPr>
            <a:spLocks xmlns:a="http://schemas.openxmlformats.org/drawingml/2006/main" noGrp="1"/>
          </p:cNvSpPr>
          <p:nvPr/>
        </p:nvSpPr>
        <p:spPr>
          <a:xfrm xmlns:a="http://schemas.openxmlformats.org/drawingml/2006/main">
            <a:off x="8372475" y="5172075"/>
            <a:ext cx="3209925" cy="885825"/>
          </a:xfrm>
          <a:prstGeom xmlns:a="http://schemas.openxmlformats.org/drawingml/2006/main" prst="roundRect">
            <a:avLst>
              <a:gd name="adj" fmla="val 17204"/>
            </a:avLst>
          </a:prstGeom>
          <a:solidFill xmlns:a="http://schemas.openxmlformats.org/drawingml/2006/main">
            <a:srgbClr val="F6E7D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Действие животного</a:t>
            </a:r>
          </a:p>
        </p:txBody>
      </p:sp>
    </p:spTree>
    <p:extLst>
      <p:ext uri="{BB962C8B-B14F-4D97-AF65-F5344CB8AC3E}">
        <p14:creationId xmlns:p14="http://schemas.microsoft.com/office/powerpoint/2010/main" val="168370952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EE1D14-1BC0-43EB-B53E-F09BF814222F}"/>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В воде звук распространяется лучше...</a:t>
            </a:r>
          </a:p>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Но есть нюанс</a:t>
            </a:r>
          </a:p>
        </p:txBody>
      </p:sp>
      <p:sp>
        <p:nvSpPr>
          <p:cNvPr id="2" name="">
            <a:extLst xmlns:a="http://schemas.openxmlformats.org/drawingml/2006/main">
              <a:ext uri="{FF2B5EF4-FFF2-40B4-BE49-F238E27FC236}">
                <a16:creationId xmlns:a16="http://schemas.microsoft.com/office/drawing/2014/main" id="{76CC79BB-EA91-4FF8-AE3F-1BA61B2AB2A8}"/>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07</a:t>
            </a:r>
          </a:p>
        </p:txBody>
      </p:sp>
      <p:graphicFrame>
        <p:nvGraphicFramePr>
          <p:cNvPr id="8" name=""/>
          <p:cNvGraphicFramePr/>
          <p:nvPr/>
        </p:nvGraphicFramePr>
        <p:xfrm>
          <a:off xmlns:a="http://schemas.openxmlformats.org/drawingml/2006/main" x="609600" y="1619250"/>
          <a:ext xmlns:a="http://schemas.openxmlformats.org/drawingml/2006/main" cx="10972800" cy="3819525"/>
        </p:xfrm>
        <a:graphic xmlns:a="http://schemas.openxmlformats.org/drawingml/2006/main">
          <a:graphicData uri="http://schemas.openxmlformats.org/drawingml/2006/table">
            <a:tbl>
              <a:tblPr/>
              <a:tblGrid>
                <a:gridCol w="2543175"/>
                <a:gridCol w="4219575"/>
                <a:gridCol w="4210050"/>
              </a:tblGrid>
              <a:tr h="590550">
                <a:tc>
                  <a:txBody>
                    <a:bodyPr lIns="142875" tIns="76200" rIns="114300" bIns="76200">
                      <a:noAutofit/>
                    </a:bodyPr>
                    <a:lstStyle/>
                    <a:p>
                      <a:r>
                        <a:rPr sz="2100" b="1">
                          <a:solidFill>
                            <a:srgbClr val="FFFFFF"/>
                          </a:solidFill>
                          <a:latin typeface="Arial"/>
                          <a:ea typeface="Arial"/>
                          <a:cs typeface="Arial"/>
                        </a:rPr>
                        <a:t>Свойство</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Воздух</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Вода</a:t>
                      </a:r>
                    </a:p>
                  </a:txBody>
                  <a:tcPr marL="91440" marR="91440" marT="45720" marB="45720" anchor="ctr">
                    <a:solidFill>
                      <a:srgbClr val="263B31"/>
                    </a:solidFill>
                  </a:tcPr>
                </a:tc>
              </a:tr>
              <a:tr h="628650">
                <a:tc>
                  <a:txBody>
                    <a:bodyPr lIns="142875" tIns="76200" rIns="114300" bIns="76200">
                      <a:noAutofit/>
                    </a:bodyPr>
                    <a:lstStyle/>
                    <a:p>
                      <a:r>
                        <a:rPr sz="2100" b="1">
                          <a:solidFill>
                            <a:srgbClr val="263B31"/>
                          </a:solidFill>
                          <a:latin typeface="Arial"/>
                          <a:ea typeface="Arial"/>
                          <a:cs typeface="Arial"/>
                        </a:rPr>
                        <a:t>Скорость</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≈340 м/с</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≈1500 м/с</a:t>
                      </a:r>
                    </a:p>
                  </a:txBody>
                  <a:tcPr marL="91440" marR="91440" marT="45720" marB="45720" anchor="ctr">
                    <a:solidFill>
                      <a:srgbClr val="FFFFFF"/>
                    </a:solidFill>
                  </a:tcPr>
                </a:tc>
              </a:tr>
              <a:tr h="866775">
                <a:tc>
                  <a:txBody>
                    <a:bodyPr lIns="142875" tIns="76200" rIns="114300" bIns="76200">
                      <a:noAutofit/>
                    </a:bodyPr>
                    <a:lstStyle/>
                    <a:p>
                      <a:r>
                        <a:rPr sz="2100" b="1">
                          <a:solidFill>
                            <a:srgbClr val="263B31"/>
                          </a:solidFill>
                          <a:latin typeface="Arial"/>
                          <a:ea typeface="Arial"/>
                          <a:cs typeface="Arial"/>
                        </a:rPr>
                        <a:t>Дальняя передача</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Мешают поглощение,</a:t>
                      </a:r>
                    </a:p>
                    <a:p>
                      <a:r>
                        <a:rPr sz="2100" b="0">
                          <a:solidFill>
                            <a:srgbClr val="263B31"/>
                          </a:solidFill>
                          <a:latin typeface="Arial"/>
                          <a:ea typeface="Arial"/>
                          <a:cs typeface="Arial"/>
                        </a:rPr>
                        <a:t>шум и растительность</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Часто меньше потерь;</a:t>
                      </a:r>
                    </a:p>
                    <a:p>
                      <a:r>
                        <a:rPr sz="2100" b="0">
                          <a:solidFill>
                            <a:srgbClr val="263B31"/>
                          </a:solidFill>
                          <a:latin typeface="Arial"/>
                          <a:ea typeface="Arial"/>
                          <a:cs typeface="Arial"/>
                        </a:rPr>
                        <a:t>важны частота, глубина и дно</a:t>
                      </a:r>
                    </a:p>
                  </a:txBody>
                  <a:tcPr marL="91440" marR="91440" marT="45720" marB="45720" anchor="ctr">
                    <a:solidFill>
                      <a:srgbClr val="FFFFFF"/>
                    </a:solidFill>
                  </a:tcPr>
                </a:tc>
              </a:tr>
              <a:tr h="866775">
                <a:tc>
                  <a:txBody>
                    <a:bodyPr lIns="142875" tIns="76200" rIns="114300" bIns="76200">
                      <a:noAutofit/>
                    </a:bodyPr>
                    <a:lstStyle/>
                    <a:p>
                      <a:r>
                        <a:rPr sz="2100" b="1">
                          <a:solidFill>
                            <a:srgbClr val="263B31"/>
                          </a:solidFill>
                          <a:latin typeface="Arial"/>
                          <a:ea typeface="Arial"/>
                          <a:cs typeface="Arial"/>
                        </a:rPr>
                        <a:t>Звуковой орган</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Колеблет сравнительно</a:t>
                      </a:r>
                    </a:p>
                    <a:p>
                      <a:r>
                        <a:rPr sz="2100" b="0">
                          <a:solidFill>
                            <a:srgbClr val="263B31"/>
                          </a:solidFill>
                          <a:latin typeface="Arial"/>
                          <a:ea typeface="Arial"/>
                          <a:cs typeface="Arial"/>
                        </a:rPr>
                        <a:t>лёгкую среду</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Большая нагрузка воды</a:t>
                      </a:r>
                    </a:p>
                    <a:p>
                      <a:r>
                        <a:rPr sz="2100" b="0">
                          <a:solidFill>
                            <a:srgbClr val="263B31"/>
                          </a:solidFill>
                          <a:latin typeface="Arial"/>
                          <a:ea typeface="Arial"/>
                          <a:cs typeface="Arial"/>
                        </a:rPr>
                        <a:t>на колеблющийся орган</a:t>
                      </a:r>
                    </a:p>
                  </a:txBody>
                  <a:tcPr marL="91440" marR="91440" marT="45720" marB="45720" anchor="ctr">
                    <a:solidFill>
                      <a:srgbClr val="FFFFFF"/>
                    </a:solidFill>
                  </a:tcPr>
                </a:tc>
              </a:tr>
              <a:tr h="866775">
                <a:tc>
                  <a:txBody>
                    <a:bodyPr lIns="142875" tIns="76200" rIns="114300" bIns="76200">
                      <a:noAutofit/>
                    </a:bodyPr>
                    <a:lstStyle/>
                    <a:p>
                      <a:r>
                        <a:rPr sz="2100" b="1">
                          <a:solidFill>
                            <a:srgbClr val="263B31"/>
                          </a:solidFill>
                          <a:latin typeface="Arial"/>
                          <a:ea typeface="Arial"/>
                          <a:cs typeface="Arial"/>
                        </a:rPr>
                        <a:t>Партнёр растения</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Много известных опылителей</a:t>
                      </a:r>
                    </a:p>
                    <a:p>
                      <a:r>
                        <a:rPr sz="2100" b="0">
                          <a:solidFill>
                            <a:srgbClr val="263B31"/>
                          </a:solidFill>
                          <a:latin typeface="Arial"/>
                          <a:ea typeface="Arial"/>
                          <a:cs typeface="Arial"/>
                        </a:rPr>
                        <a:t>и защитников</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Сложнее подобрать пару</a:t>
                      </a:r>
                    </a:p>
                    <a:p>
                      <a:r>
                        <a:rPr sz="2100" b="0">
                          <a:solidFill>
                            <a:srgbClr val="263B31"/>
                          </a:solidFill>
                          <a:latin typeface="Arial"/>
                          <a:ea typeface="Arial"/>
                          <a:cs typeface="Arial"/>
                        </a:rPr>
                        <a:t>для звуковой связи</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63A30AD-536B-4F2C-81E8-F8F4F4C85567}"/>
              </a:ext>
            </a:extLst>
          </p:cNvPr>
          <p:cNvSpPr>
            <a:spLocks xmlns:a="http://schemas.openxmlformats.org/drawingml/2006/main" noGrp="1"/>
          </p:cNvSpPr>
          <p:nvPr/>
        </p:nvSpPr>
        <p:spPr>
          <a:xfrm xmlns:a="http://schemas.openxmlformats.org/drawingml/2006/main">
            <a:off x="609600" y="56197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В воде звук обычно распространяется дальше.</a:t>
            </a:r>
          </a:p>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На суше для нашей модели проще подобрать полезного слушателя.</a:t>
            </a:r>
          </a:p>
        </p:txBody>
      </p:sp>
      <p:sp>
        <p:nvSpPr>
          <p:cNvPr id="5" name="">
            <a:extLst xmlns:a="http://schemas.openxmlformats.org/drawingml/2006/main">
              <a:ext uri="{FF2B5EF4-FFF2-40B4-BE49-F238E27FC236}">
                <a16:creationId xmlns:a16="http://schemas.microsoft.com/office/drawing/2014/main" id="{77CB3994-2960-4385-82E8-AA77F5295228}"/>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 [11], [13]</a:t>
            </a:r>
          </a:p>
        </p:txBody>
      </p:sp>
    </p:spTree>
    <p:extLst>
      <p:ext uri="{BB962C8B-B14F-4D97-AF65-F5344CB8AC3E}">
        <p14:creationId xmlns:p14="http://schemas.microsoft.com/office/powerpoint/2010/main" val="18817439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CA25A3-C91D-4CE5-BA08-A88BC2329C59}"/>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Сравнение каналов связи</a:t>
            </a:r>
          </a:p>
        </p:txBody>
      </p:sp>
      <p:sp>
        <p:nvSpPr>
          <p:cNvPr id="2" name="">
            <a:extLst xmlns:a="http://schemas.openxmlformats.org/drawingml/2006/main">
              <a:ext uri="{FF2B5EF4-FFF2-40B4-BE49-F238E27FC236}">
                <a16:creationId xmlns:a16="http://schemas.microsoft.com/office/drawing/2014/main" id="{371D803F-5FCA-4649-82BA-D0890185A5AB}"/>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08</a:t>
            </a:r>
          </a:p>
        </p:txBody>
      </p:sp>
      <p:graphicFrame>
        <p:nvGraphicFramePr>
          <p:cNvPr id="7" name=""/>
          <p:cNvGraphicFramePr/>
          <p:nvPr/>
        </p:nvGraphicFramePr>
        <p:xfrm>
          <a:off xmlns:a="http://schemas.openxmlformats.org/drawingml/2006/main" x="609600" y="1438275"/>
          <a:ext xmlns:a="http://schemas.openxmlformats.org/drawingml/2006/main" cx="10972800" cy="4400550"/>
        </p:xfrm>
        <a:graphic xmlns:a="http://schemas.openxmlformats.org/drawingml/2006/main">
          <a:graphicData uri="http://schemas.openxmlformats.org/drawingml/2006/table">
            <a:tbl>
              <a:tblPr/>
              <a:tblGrid>
                <a:gridCol w="2305050"/>
                <a:gridCol w="2095500"/>
                <a:gridCol w="2095500"/>
                <a:gridCol w="2381250"/>
                <a:gridCol w="2095500"/>
              </a:tblGrid>
              <a:tr h="1000125">
                <a:tc>
                  <a:txBody>
                    <a:bodyPr lIns="142875" tIns="76200" rIns="114300" bIns="76200">
                      <a:noAutofit/>
                    </a:bodyPr>
                    <a:lstStyle/>
                    <a:p>
                      <a:r>
                        <a:rPr sz="2025" b="1">
                          <a:solidFill>
                            <a:srgbClr val="FFFFFF"/>
                          </a:solidFill>
                          <a:latin typeface="Arial"/>
                          <a:ea typeface="Arial"/>
                          <a:cs typeface="Arial"/>
                        </a:rPr>
                        <a:t>Свойство</a:t>
                      </a:r>
                    </a:p>
                  </a:txBody>
                  <a:tcPr marL="91440" marR="91440" marT="45720" marB="45720" anchor="ctr">
                    <a:solidFill>
                      <a:srgbClr val="263B31"/>
                    </a:solidFill>
                  </a:tcPr>
                </a:tc>
                <a:tc>
                  <a:txBody>
                    <a:bodyPr lIns="142875" tIns="76200" rIns="114300" bIns="76200">
                      <a:noAutofit/>
                    </a:bodyPr>
                    <a:lstStyle/>
                    <a:p>
                      <a:r>
                        <a:rPr sz="2025" b="1">
                          <a:solidFill>
                            <a:srgbClr val="FFFFFF"/>
                          </a:solidFill>
                          <a:latin typeface="Arial"/>
                          <a:ea typeface="Arial"/>
                          <a:cs typeface="Arial"/>
                        </a:rPr>
                        <a:t>Звук</a:t>
                      </a:r>
                    </a:p>
                    <a:p>
                      <a:r>
                        <a:rPr sz="2025" b="1">
                          <a:solidFill>
                            <a:srgbClr val="FFFFFF"/>
                          </a:solidFill>
                          <a:latin typeface="Arial"/>
                          <a:ea typeface="Arial"/>
                          <a:cs typeface="Arial"/>
                        </a:rPr>
                        <a:t>в воздухе</a:t>
                      </a:r>
                    </a:p>
                  </a:txBody>
                  <a:tcPr marL="91440" marR="91440" marT="45720" marB="45720" anchor="ctr">
                    <a:solidFill>
                      <a:srgbClr val="263B31"/>
                    </a:solidFill>
                  </a:tcPr>
                </a:tc>
                <a:tc>
                  <a:txBody>
                    <a:bodyPr lIns="142875" tIns="76200" rIns="114300" bIns="76200">
                      <a:noAutofit/>
                    </a:bodyPr>
                    <a:lstStyle/>
                    <a:p>
                      <a:r>
                        <a:rPr sz="2025" b="1">
                          <a:solidFill>
                            <a:srgbClr val="FFFFFF"/>
                          </a:solidFill>
                          <a:latin typeface="Arial"/>
                          <a:ea typeface="Arial"/>
                          <a:cs typeface="Arial"/>
                        </a:rPr>
                        <a:t>Запах</a:t>
                      </a:r>
                    </a:p>
                    <a:p>
                      <a:r>
                        <a:rPr sz="2025" b="1">
                          <a:solidFill>
                            <a:srgbClr val="FFFFFF"/>
                          </a:solidFill>
                          <a:latin typeface="Arial"/>
                          <a:ea typeface="Arial"/>
                          <a:cs typeface="Arial"/>
                        </a:rPr>
                        <a:t>в воздухе</a:t>
                      </a:r>
                    </a:p>
                  </a:txBody>
                  <a:tcPr marL="91440" marR="91440" marT="45720" marB="45720" anchor="ctr">
                    <a:solidFill>
                      <a:srgbClr val="263B31"/>
                    </a:solidFill>
                  </a:tcPr>
                </a:tc>
                <a:tc>
                  <a:txBody>
                    <a:bodyPr lIns="142875" tIns="76200" rIns="114300" bIns="76200">
                      <a:noAutofit/>
                    </a:bodyPr>
                    <a:lstStyle/>
                    <a:p>
                      <a:r>
                        <a:rPr sz="2025" b="1">
                          <a:solidFill>
                            <a:srgbClr val="FFFFFF"/>
                          </a:solidFill>
                          <a:latin typeface="Arial"/>
                          <a:ea typeface="Arial"/>
                          <a:cs typeface="Arial"/>
                        </a:rPr>
                        <a:t>Вещества</a:t>
                      </a:r>
                    </a:p>
                    <a:p>
                      <a:r>
                        <a:rPr sz="2025" b="1">
                          <a:solidFill>
                            <a:srgbClr val="FFFFFF"/>
                          </a:solidFill>
                          <a:latin typeface="Arial"/>
                          <a:ea typeface="Arial"/>
                          <a:cs typeface="Arial"/>
                        </a:rPr>
                        <a:t>в почве / воде</a:t>
                      </a:r>
                    </a:p>
                  </a:txBody>
                  <a:tcPr marL="91440" marR="91440" marT="45720" marB="45720" anchor="ctr">
                    <a:solidFill>
                      <a:srgbClr val="263B31"/>
                    </a:solidFill>
                  </a:tcPr>
                </a:tc>
                <a:tc>
                  <a:txBody>
                    <a:bodyPr lIns="142875" tIns="76200" rIns="114300" bIns="76200">
                      <a:noAutofit/>
                    </a:bodyPr>
                    <a:lstStyle/>
                    <a:p>
                      <a:r>
                        <a:rPr sz="2025" b="1">
                          <a:solidFill>
                            <a:srgbClr val="FFFFFF"/>
                          </a:solidFill>
                          <a:latin typeface="Arial"/>
                          <a:ea typeface="Arial"/>
                          <a:cs typeface="Arial"/>
                        </a:rPr>
                        <a:t>Свет</a:t>
                      </a:r>
                    </a:p>
                    <a:p>
                      <a:r>
                        <a:rPr sz="2025" b="1">
                          <a:solidFill>
                            <a:srgbClr val="FFFFFF"/>
                          </a:solidFill>
                          <a:latin typeface="Arial"/>
                          <a:ea typeface="Arial"/>
                          <a:cs typeface="Arial"/>
                        </a:rPr>
                        <a:t>(зрение)</a:t>
                      </a:r>
                    </a:p>
                  </a:txBody>
                  <a:tcPr marL="91440" marR="91440" marT="45720" marB="45720" anchor="ctr">
                    <a:solidFill>
                      <a:srgbClr val="263B31"/>
                    </a:solidFill>
                  </a:tcPr>
                </a:tc>
              </a:tr>
              <a:tr h="1133475">
                <a:tc>
                  <a:txBody>
                    <a:bodyPr lIns="142875" tIns="76200" rIns="114300" bIns="76200">
                      <a:noAutofit/>
                    </a:bodyPr>
                    <a:lstStyle/>
                    <a:p>
                      <a:r>
                        <a:rPr sz="2025" b="1">
                          <a:solidFill>
                            <a:srgbClr val="263B31"/>
                          </a:solidFill>
                          <a:latin typeface="Arial"/>
                          <a:ea typeface="Arial"/>
                          <a:cs typeface="Arial"/>
                        </a:rPr>
                        <a:t>Скорость</a:t>
                      </a:r>
                    </a:p>
                  </a:txBody>
                  <a:tcPr marL="91440" marR="91440" marT="45720" marB="45720" anchor="ctr">
                    <a:solidFill>
                      <a:srgbClr val="EDF3EB"/>
                    </a:solidFill>
                  </a:tcPr>
                </a:tc>
                <a:tc>
                  <a:txBody>
                    <a:bodyPr lIns="142875" tIns="76200" rIns="114300" bIns="76200">
                      <a:noAutofit/>
                    </a:bodyPr>
                    <a:lstStyle/>
                    <a:p>
                      <a:r>
                        <a:rPr sz="2025" b="0">
                          <a:solidFill>
                            <a:srgbClr val="263B31"/>
                          </a:solidFill>
                          <a:latin typeface="Arial"/>
                          <a:ea typeface="Arial"/>
                          <a:cs typeface="Arial"/>
                        </a:rPr>
                        <a:t>+  ≈340 м/с</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Перенос</a:t>
                      </a:r>
                    </a:p>
                    <a:p>
                      <a:r>
                        <a:rPr sz="2025" b="0">
                          <a:solidFill>
                            <a:srgbClr val="263B31"/>
                          </a:solidFill>
                          <a:latin typeface="Arial"/>
                          <a:ea typeface="Arial"/>
                          <a:cs typeface="Arial"/>
                        </a:rPr>
                        <a:t>воздухом</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Диффузия</a:t>
                      </a:r>
                    </a:p>
                    <a:p>
                      <a:r>
                        <a:rPr sz="2025" b="0">
                          <a:solidFill>
                            <a:srgbClr val="263B31"/>
                          </a:solidFill>
                          <a:latin typeface="Arial"/>
                          <a:ea typeface="Arial"/>
                          <a:cs typeface="Arial"/>
                        </a:rPr>
                        <a:t>или течение</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Почти</a:t>
                      </a:r>
                    </a:p>
                    <a:p>
                      <a:r>
                        <a:rPr sz="2025" b="0">
                          <a:solidFill>
                            <a:srgbClr val="263B31"/>
                          </a:solidFill>
                          <a:latin typeface="Arial"/>
                          <a:ea typeface="Arial"/>
                          <a:cs typeface="Arial"/>
                        </a:rPr>
                        <a:t>мгновенно</a:t>
                      </a:r>
                    </a:p>
                  </a:txBody>
                  <a:tcPr marL="91440" marR="91440" marT="45720" marB="45720" anchor="ctr">
                    <a:solidFill>
                      <a:srgbClr val="FFFFFF"/>
                    </a:solidFill>
                  </a:tcPr>
                </a:tc>
              </a:tr>
              <a:tr h="1133475">
                <a:tc>
                  <a:txBody>
                    <a:bodyPr lIns="142875" tIns="76200" rIns="114300" bIns="76200">
                      <a:noAutofit/>
                    </a:bodyPr>
                    <a:lstStyle/>
                    <a:p>
                      <a:r>
                        <a:rPr sz="2025" b="1">
                          <a:solidFill>
                            <a:srgbClr val="263B31"/>
                          </a:solidFill>
                          <a:latin typeface="Arial"/>
                          <a:ea typeface="Arial"/>
                          <a:cs typeface="Arial"/>
                        </a:rPr>
                        <a:t>Дальность</a:t>
                      </a:r>
                    </a:p>
                  </a:txBody>
                  <a:tcPr marL="91440" marR="91440" marT="45720" marB="45720" anchor="ctr">
                    <a:solidFill>
                      <a:srgbClr val="EDF3EB"/>
                    </a:solidFill>
                  </a:tcPr>
                </a:tc>
                <a:tc>
                  <a:txBody>
                    <a:bodyPr lIns="142875" tIns="76200" rIns="114300" bIns="76200">
                      <a:noAutofit/>
                    </a:bodyPr>
                    <a:lstStyle/>
                    <a:p>
                      <a:r>
                        <a:rPr sz="2025" b="0">
                          <a:solidFill>
                            <a:srgbClr val="263B31"/>
                          </a:solidFill>
                          <a:latin typeface="Arial"/>
                          <a:ea typeface="Arial"/>
                          <a:cs typeface="Arial"/>
                        </a:rPr>
                        <a:t>±  Затухание</a:t>
                      </a:r>
                    </a:p>
                    <a:p>
                      <a:r>
                        <a:rPr sz="2025" b="0">
                          <a:solidFill>
                            <a:srgbClr val="263B31"/>
                          </a:solidFill>
                          <a:latin typeface="Arial"/>
                          <a:ea typeface="Arial"/>
                          <a:cs typeface="Arial"/>
                        </a:rPr>
                        <a:t>и шум</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Зависит</a:t>
                      </a:r>
                    </a:p>
                    <a:p>
                      <a:r>
                        <a:rPr sz="2025" b="0">
                          <a:solidFill>
                            <a:srgbClr val="263B31"/>
                          </a:solidFill>
                          <a:latin typeface="Arial"/>
                          <a:ea typeface="Arial"/>
                          <a:cs typeface="Arial"/>
                        </a:rPr>
                        <a:t>от ветра</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В почве мала,</a:t>
                      </a:r>
                    </a:p>
                    <a:p>
                      <a:r>
                        <a:rPr sz="2025" b="0">
                          <a:solidFill>
                            <a:srgbClr val="263B31"/>
                          </a:solidFill>
                          <a:latin typeface="Arial"/>
                          <a:ea typeface="Arial"/>
                          <a:cs typeface="Arial"/>
                        </a:rPr>
                        <a:t>в потоке больше</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Нужна прямая</a:t>
                      </a:r>
                    </a:p>
                    <a:p>
                      <a:r>
                        <a:rPr sz="2025" b="0">
                          <a:solidFill>
                            <a:srgbClr val="263B31"/>
                          </a:solidFill>
                          <a:latin typeface="Arial"/>
                          <a:ea typeface="Arial"/>
                          <a:cs typeface="Arial"/>
                        </a:rPr>
                        <a:t>видимость</a:t>
                      </a:r>
                    </a:p>
                  </a:txBody>
                  <a:tcPr marL="91440" marR="91440" marT="45720" marB="45720" anchor="ctr">
                    <a:solidFill>
                      <a:srgbClr val="FFFFFF"/>
                    </a:solidFill>
                  </a:tcPr>
                </a:tc>
              </a:tr>
              <a:tr h="1133475">
                <a:tc>
                  <a:txBody>
                    <a:bodyPr lIns="142875" tIns="76200" rIns="114300" bIns="76200">
                      <a:noAutofit/>
                    </a:bodyPr>
                    <a:lstStyle/>
                    <a:p>
                      <a:r>
                        <a:rPr sz="2025" b="1">
                          <a:solidFill>
                            <a:srgbClr val="263B31"/>
                          </a:solidFill>
                          <a:latin typeface="Arial"/>
                          <a:ea typeface="Arial"/>
                          <a:cs typeface="Arial"/>
                        </a:rPr>
                        <a:t>Кодирование</a:t>
                      </a:r>
                    </a:p>
                    <a:p>
                      <a:r>
                        <a:rPr sz="2025" b="1">
                          <a:solidFill>
                            <a:srgbClr val="263B31"/>
                          </a:solidFill>
                          <a:latin typeface="Arial"/>
                          <a:ea typeface="Arial"/>
                          <a:cs typeface="Arial"/>
                        </a:rPr>
                        <a:t>частотой и</a:t>
                      </a:r>
                    </a:p>
                    <a:p>
                      <a:r>
                        <a:rPr sz="2025" b="1">
                          <a:solidFill>
                            <a:srgbClr val="263B31"/>
                          </a:solidFill>
                          <a:latin typeface="Arial"/>
                          <a:ea typeface="Arial"/>
                          <a:cs typeface="Arial"/>
                        </a:rPr>
                        <a:t>длительностью</a:t>
                      </a:r>
                    </a:p>
                  </a:txBody>
                  <a:tcPr marL="91440" marR="91440" marT="45720" marB="45720" anchor="ctr">
                    <a:solidFill>
                      <a:srgbClr val="EDF3EB"/>
                    </a:solidFill>
                  </a:tcPr>
                </a:tc>
                <a:tc>
                  <a:txBody>
                    <a:bodyPr lIns="142875" tIns="76200" rIns="114300" bIns="76200">
                      <a:noAutofit/>
                    </a:bodyPr>
                    <a:lstStyle/>
                    <a:p>
                      <a:r>
                        <a:rPr sz="2025" b="0">
                          <a:solidFill>
                            <a:srgbClr val="263B31"/>
                          </a:solidFill>
                          <a:latin typeface="Arial"/>
                          <a:ea typeface="Arial"/>
                          <a:cs typeface="Arial"/>
                        </a:rPr>
                        <a:t>+  Высота звука,</a:t>
                      </a:r>
                    </a:p>
                    <a:p>
                      <a:r>
                        <a:rPr sz="2025" b="0">
                          <a:solidFill>
                            <a:srgbClr val="263B31"/>
                          </a:solidFill>
                          <a:latin typeface="Arial"/>
                          <a:ea typeface="Arial"/>
                          <a:cs typeface="Arial"/>
                        </a:rPr>
                        <a:t>длительность</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Шлейф</a:t>
                      </a:r>
                    </a:p>
                    <a:p>
                      <a:r>
                        <a:rPr sz="2025" b="0">
                          <a:solidFill>
                            <a:srgbClr val="263B31"/>
                          </a:solidFill>
                          <a:latin typeface="Arial"/>
                          <a:ea typeface="Arial"/>
                          <a:cs typeface="Arial"/>
                        </a:rPr>
                        <a:t>сохраняется</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Вещество</a:t>
                      </a:r>
                    </a:p>
                    <a:p>
                      <a:r>
                        <a:rPr sz="2025" b="0">
                          <a:solidFill>
                            <a:srgbClr val="263B31"/>
                          </a:solidFill>
                          <a:latin typeface="Arial"/>
                          <a:ea typeface="Arial"/>
                          <a:cs typeface="Arial"/>
                        </a:rPr>
                        <a:t>остаётся в среде</a:t>
                      </a:r>
                    </a:p>
                  </a:txBody>
                  <a:tcPr marL="91440" marR="91440" marT="45720" marB="45720" anchor="ctr">
                    <a:solidFill>
                      <a:srgbClr val="FFFFFF"/>
                    </a:solidFill>
                  </a:tcPr>
                </a:tc>
                <a:tc>
                  <a:txBody>
                    <a:bodyPr lIns="142875" tIns="76200" rIns="114300" bIns="76200">
                      <a:noAutofit/>
                    </a:bodyPr>
                    <a:lstStyle/>
                    <a:p>
                      <a:r>
                        <a:rPr sz="2025" b="0">
                          <a:solidFill>
                            <a:srgbClr val="263B31"/>
                          </a:solidFill>
                          <a:latin typeface="Arial"/>
                          <a:ea typeface="Arial"/>
                          <a:cs typeface="Arial"/>
                        </a:rPr>
                        <a:t>+  Цвет,</a:t>
                      </a:r>
                    </a:p>
                    <a:p>
                      <a:r>
                        <a:rPr sz="2025" b="0">
                          <a:solidFill>
                            <a:srgbClr val="263B31"/>
                          </a:solidFill>
                          <a:latin typeface="Arial"/>
                          <a:ea typeface="Arial"/>
                          <a:cs typeface="Arial"/>
                        </a:rPr>
                        <a:t>длительность</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2EC7134-A56A-405A-8C1A-6F98DDBCC138}"/>
              </a:ext>
            </a:extLst>
          </p:cNvPr>
          <p:cNvSpPr>
            <a:spLocks xmlns:a="http://schemas.openxmlformats.org/drawingml/2006/main" noGrp="1"/>
          </p:cNvSpPr>
          <p:nvPr/>
        </p:nvSpPr>
        <p:spPr>
          <a:xfrm xmlns:a="http://schemas.openxmlformats.org/drawingml/2006/main">
            <a:off x="609600" y="60102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  благоприятно      −  ограничение      ±  зависит от условий</a:t>
            </a:r>
          </a:p>
        </p:txBody>
      </p:sp>
    </p:spTree>
    <p:extLst>
      <p:ext uri="{BB962C8B-B14F-4D97-AF65-F5344CB8AC3E}">
        <p14:creationId xmlns:p14="http://schemas.microsoft.com/office/powerpoint/2010/main" val="7690177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0415D5B-2F7F-4DB7-A084-D808DA7D4AD8}"/>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Критерии выбора партнёров</a:t>
            </a:r>
          </a:p>
        </p:txBody>
      </p:sp>
      <p:sp>
        <p:nvSpPr>
          <p:cNvPr id="2" name="">
            <a:extLst xmlns:a="http://schemas.openxmlformats.org/drawingml/2006/main">
              <a:ext uri="{FF2B5EF4-FFF2-40B4-BE49-F238E27FC236}">
                <a16:creationId xmlns:a16="http://schemas.microsoft.com/office/drawing/2014/main" id="{E0158E91-8C9D-456D-8760-2C747F139A3A}"/>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958536F-6890-40FD-AC70-0A6EBE570556}"/>
              </a:ext>
            </a:extLst>
          </p:cNvPr>
          <p:cNvSpPr>
            <a:spLocks xmlns:a="http://schemas.openxmlformats.org/drawingml/2006/main" noGrp="1"/>
          </p:cNvSpPr>
          <p:nvPr/>
        </p:nvSpPr>
        <p:spPr>
          <a:xfrm xmlns:a="http://schemas.openxmlformats.org/drawingml/2006/main">
            <a:off x="609600" y="1447800"/>
            <a:ext cx="5210175" cy="704850"/>
          </a:xfrm>
          <a:prstGeom xmlns:a="http://schemas.openxmlformats.org/drawingml/2006/main" prst="roundRect">
            <a:avLst>
              <a:gd name="adj" fmla="val 21622"/>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Растение</a:t>
            </a:r>
          </a:p>
        </p:txBody>
      </p:sp>
      <p:sp>
        <p:nvSpPr>
          <p:cNvPr id="4" name="">
            <a:extLst xmlns:a="http://schemas.openxmlformats.org/drawingml/2006/main">
              <a:ext uri="{FF2B5EF4-FFF2-40B4-BE49-F238E27FC236}">
                <a16:creationId xmlns:a16="http://schemas.microsoft.com/office/drawing/2014/main" id="{3CC02C43-E57E-4E34-9C44-52793AEEBCB7}"/>
              </a:ext>
            </a:extLst>
          </p:cNvPr>
          <p:cNvSpPr>
            <a:spLocks xmlns:a="http://schemas.openxmlformats.org/drawingml/2006/main" noGrp="1"/>
          </p:cNvSpPr>
          <p:nvPr/>
        </p:nvSpPr>
        <p:spPr>
          <a:xfrm xmlns:a="http://schemas.openxmlformats.org/drawingml/2006/main">
            <a:off x="6381750" y="1447800"/>
            <a:ext cx="5200650" cy="704850"/>
          </a:xfrm>
          <a:prstGeom xmlns:a="http://schemas.openxmlformats.org/drawingml/2006/main" prst="roundRect">
            <a:avLst>
              <a:gd name="adj" fmla="val 21622"/>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Животное</a:t>
            </a:r>
          </a:p>
        </p:txBody>
      </p:sp>
      <p:sp>
        <p:nvSpPr>
          <p:cNvPr id="5" name="">
            <a:extLst xmlns:a="http://schemas.openxmlformats.org/drawingml/2006/main">
              <a:ext uri="{FF2B5EF4-FFF2-40B4-BE49-F238E27FC236}">
                <a16:creationId xmlns:a16="http://schemas.microsoft.com/office/drawing/2014/main" id="{A1CA011C-5286-40B7-BC26-4F821FA17460}"/>
              </a:ext>
            </a:extLst>
          </p:cNvPr>
          <p:cNvSpPr>
            <a:spLocks xmlns:a="http://schemas.openxmlformats.org/drawingml/2006/main" noGrp="1"/>
          </p:cNvSpPr>
          <p:nvPr/>
        </p:nvSpPr>
        <p:spPr>
          <a:xfrm xmlns:a="http://schemas.openxmlformats.org/drawingml/2006/main">
            <a:off x="762000" y="2428875"/>
            <a:ext cx="4962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Размер и механические ткани</a:t>
            </a:r>
          </a:p>
        </p:txBody>
      </p:sp>
      <p:sp>
        <p:nvSpPr>
          <p:cNvPr id="6" name="">
            <a:extLst xmlns:a="http://schemas.openxmlformats.org/drawingml/2006/main">
              <a:ext uri="{FF2B5EF4-FFF2-40B4-BE49-F238E27FC236}">
                <a16:creationId xmlns:a16="http://schemas.microsoft.com/office/drawing/2014/main" id="{DBDAD5D7-598D-4934-87C2-A4273FC008A7}"/>
              </a:ext>
            </a:extLst>
          </p:cNvPr>
          <p:cNvSpPr>
            <a:spLocks xmlns:a="http://schemas.openxmlformats.org/drawingml/2006/main" noGrp="1"/>
          </p:cNvSpPr>
          <p:nvPr/>
        </p:nvSpPr>
        <p:spPr>
          <a:xfrm xmlns:a="http://schemas.openxmlformats.org/drawingml/2006/main">
            <a:off x="762000" y="2857500"/>
            <a:ext cx="49625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Позволяют разместить орган,</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который излучает слышимый звук.</a:t>
            </a:r>
          </a:p>
        </p:txBody>
      </p:sp>
      <p:sp>
        <p:nvSpPr>
          <p:cNvPr id="7" name="">
            <a:extLst xmlns:a="http://schemas.openxmlformats.org/drawingml/2006/main">
              <a:ext uri="{FF2B5EF4-FFF2-40B4-BE49-F238E27FC236}">
                <a16:creationId xmlns:a16="http://schemas.microsoft.com/office/drawing/2014/main" id="{EA3DA2A9-5247-4371-9E48-F93B89553C97}"/>
              </a:ext>
            </a:extLst>
          </p:cNvPr>
          <p:cNvSpPr>
            <a:spLocks xmlns:a="http://schemas.openxmlformats.org/drawingml/2006/main" noGrp="1"/>
          </p:cNvSpPr>
          <p:nvPr/>
        </p:nvSpPr>
        <p:spPr>
          <a:xfrm xmlns:a="http://schemas.openxmlformats.org/drawingml/2006/main">
            <a:off x="762000" y="3733800"/>
            <a:ext cx="4962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Польза от быстрой реакции</a:t>
            </a:r>
          </a:p>
        </p:txBody>
      </p:sp>
      <p:sp>
        <p:nvSpPr>
          <p:cNvPr id="8" name="">
            <a:extLst xmlns:a="http://schemas.openxmlformats.org/drawingml/2006/main">
              <a:ext uri="{FF2B5EF4-FFF2-40B4-BE49-F238E27FC236}">
                <a16:creationId xmlns:a16="http://schemas.microsoft.com/office/drawing/2014/main" id="{F11074FF-5B4E-4B34-A36D-57ACDF9397E7}"/>
              </a:ext>
            </a:extLst>
          </p:cNvPr>
          <p:cNvSpPr>
            <a:spLocks xmlns:a="http://schemas.openxmlformats.org/drawingml/2006/main" noGrp="1"/>
          </p:cNvSpPr>
          <p:nvPr/>
        </p:nvSpPr>
        <p:spPr>
          <a:xfrm xmlns:a="http://schemas.openxmlformats.org/drawingml/2006/main">
            <a:off x="762000" y="4162425"/>
            <a:ext cx="49625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Результат для растения зависит</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от скорости реакции животного.</a:t>
            </a:r>
          </a:p>
        </p:txBody>
      </p:sp>
      <p:sp>
        <p:nvSpPr>
          <p:cNvPr id="9" name="">
            <a:extLst xmlns:a="http://schemas.openxmlformats.org/drawingml/2006/main">
              <a:ext uri="{FF2B5EF4-FFF2-40B4-BE49-F238E27FC236}">
                <a16:creationId xmlns:a16="http://schemas.microsoft.com/office/drawing/2014/main" id="{4D5EFF47-0699-4348-8A44-EE9B1DF94DF8}"/>
              </a:ext>
            </a:extLst>
          </p:cNvPr>
          <p:cNvSpPr>
            <a:spLocks xmlns:a="http://schemas.openxmlformats.org/drawingml/2006/main" noGrp="1"/>
          </p:cNvSpPr>
          <p:nvPr/>
        </p:nvSpPr>
        <p:spPr>
          <a:xfrm xmlns:a="http://schemas.openxmlformats.org/drawingml/2006/main">
            <a:off x="762000" y="5038725"/>
            <a:ext cx="4962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Повод для сигнала</a:t>
            </a:r>
          </a:p>
        </p:txBody>
      </p:sp>
      <p:sp>
        <p:nvSpPr>
          <p:cNvPr id="10" name="">
            <a:extLst xmlns:a="http://schemas.openxmlformats.org/drawingml/2006/main">
              <a:ext uri="{FF2B5EF4-FFF2-40B4-BE49-F238E27FC236}">
                <a16:creationId xmlns:a16="http://schemas.microsoft.com/office/drawing/2014/main" id="{6BB63794-01C9-4318-9ED2-D9AFB6260418}"/>
              </a:ext>
            </a:extLst>
          </p:cNvPr>
          <p:cNvSpPr>
            <a:spLocks xmlns:a="http://schemas.openxmlformats.org/drawingml/2006/main" noGrp="1"/>
          </p:cNvSpPr>
          <p:nvPr/>
        </p:nvSpPr>
        <p:spPr>
          <a:xfrm xmlns:a="http://schemas.openxmlformats.org/drawingml/2006/main">
            <a:off x="762000" y="5467350"/>
            <a:ext cx="49625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Есть события, о которых</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полезно сообщить животному.</a:t>
            </a:r>
          </a:p>
        </p:txBody>
      </p:sp>
      <p:sp>
        <p:nvSpPr>
          <p:cNvPr id="11" name="">
            <a:extLst xmlns:a="http://schemas.openxmlformats.org/drawingml/2006/main">
              <a:ext uri="{FF2B5EF4-FFF2-40B4-BE49-F238E27FC236}">
                <a16:creationId xmlns:a16="http://schemas.microsoft.com/office/drawing/2014/main" id="{9D439969-191C-4865-8380-F35627E2B53D}"/>
              </a:ext>
            </a:extLst>
          </p:cNvPr>
          <p:cNvSpPr>
            <a:spLocks xmlns:a="http://schemas.openxmlformats.org/drawingml/2006/main" noGrp="1"/>
          </p:cNvSpPr>
          <p:nvPr/>
        </p:nvSpPr>
        <p:spPr>
          <a:xfrm xmlns:a="http://schemas.openxmlformats.org/drawingml/2006/main">
            <a:off x="6534150" y="2428875"/>
            <a:ext cx="4962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Подходящий слух</a:t>
            </a:r>
          </a:p>
        </p:txBody>
      </p:sp>
      <p:sp>
        <p:nvSpPr>
          <p:cNvPr id="12" name="">
            <a:extLst xmlns:a="http://schemas.openxmlformats.org/drawingml/2006/main">
              <a:ext uri="{FF2B5EF4-FFF2-40B4-BE49-F238E27FC236}">
                <a16:creationId xmlns:a16="http://schemas.microsoft.com/office/drawing/2014/main" id="{5A10FD65-3F32-4A26-80D3-457E21A3EEE9}"/>
              </a:ext>
            </a:extLst>
          </p:cNvPr>
          <p:cNvSpPr>
            <a:spLocks xmlns:a="http://schemas.openxmlformats.org/drawingml/2006/main" noGrp="1"/>
          </p:cNvSpPr>
          <p:nvPr/>
        </p:nvSpPr>
        <p:spPr>
          <a:xfrm xmlns:a="http://schemas.openxmlformats.org/drawingml/2006/main">
            <a:off x="6534150" y="2857500"/>
            <a:ext cx="49625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Воспринимает частоты органа</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и находит источник звука.</a:t>
            </a:r>
          </a:p>
        </p:txBody>
      </p:sp>
      <p:sp>
        <p:nvSpPr>
          <p:cNvPr id="13" name="">
            <a:extLst xmlns:a="http://schemas.openxmlformats.org/drawingml/2006/main">
              <a:ext uri="{FF2B5EF4-FFF2-40B4-BE49-F238E27FC236}">
                <a16:creationId xmlns:a16="http://schemas.microsoft.com/office/drawing/2014/main" id="{8B944C31-66C3-48A1-BD74-3DAD2B781E6A}"/>
              </a:ext>
            </a:extLst>
          </p:cNvPr>
          <p:cNvSpPr>
            <a:spLocks xmlns:a="http://schemas.openxmlformats.org/drawingml/2006/main" noGrp="1"/>
          </p:cNvSpPr>
          <p:nvPr/>
        </p:nvSpPr>
        <p:spPr>
          <a:xfrm xmlns:a="http://schemas.openxmlformats.org/drawingml/2006/main">
            <a:off x="6534150" y="3733800"/>
            <a:ext cx="4962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Взаимодействие с растением</a:t>
            </a:r>
          </a:p>
        </p:txBody>
      </p:sp>
      <p:sp>
        <p:nvSpPr>
          <p:cNvPr id="14" name="">
            <a:extLst xmlns:a="http://schemas.openxmlformats.org/drawingml/2006/main">
              <a:ext uri="{FF2B5EF4-FFF2-40B4-BE49-F238E27FC236}">
                <a16:creationId xmlns:a16="http://schemas.microsoft.com/office/drawing/2014/main" id="{E2F3E438-1F4C-441B-A3BD-B2AAE36FF627}"/>
              </a:ext>
            </a:extLst>
          </p:cNvPr>
          <p:cNvSpPr>
            <a:spLocks xmlns:a="http://schemas.openxmlformats.org/drawingml/2006/main" noGrp="1"/>
          </p:cNvSpPr>
          <p:nvPr/>
        </p:nvSpPr>
        <p:spPr>
          <a:xfrm xmlns:a="http://schemas.openxmlformats.org/drawingml/2006/main">
            <a:off x="6534150" y="4162425"/>
            <a:ext cx="49625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Уже взаимодействует</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с выбранным растением.</a:t>
            </a:r>
          </a:p>
        </p:txBody>
      </p:sp>
      <p:sp>
        <p:nvSpPr>
          <p:cNvPr id="15" name="">
            <a:extLst xmlns:a="http://schemas.openxmlformats.org/drawingml/2006/main">
              <a:ext uri="{FF2B5EF4-FFF2-40B4-BE49-F238E27FC236}">
                <a16:creationId xmlns:a16="http://schemas.microsoft.com/office/drawing/2014/main" id="{02CEE50D-BA98-44D7-83BB-AFAA1E7D2458}"/>
              </a:ext>
            </a:extLst>
          </p:cNvPr>
          <p:cNvSpPr>
            <a:spLocks xmlns:a="http://schemas.openxmlformats.org/drawingml/2006/main" noGrp="1"/>
          </p:cNvSpPr>
          <p:nvPr/>
        </p:nvSpPr>
        <p:spPr>
          <a:xfrm xmlns:a="http://schemas.openxmlformats.org/drawingml/2006/main">
            <a:off x="6534150" y="5038725"/>
            <a:ext cx="49625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Коммуникация и обучение</a:t>
            </a:r>
          </a:p>
        </p:txBody>
      </p:sp>
      <p:sp>
        <p:nvSpPr>
          <p:cNvPr id="16" name="">
            <a:extLst xmlns:a="http://schemas.openxmlformats.org/drawingml/2006/main">
              <a:ext uri="{FF2B5EF4-FFF2-40B4-BE49-F238E27FC236}">
                <a16:creationId xmlns:a16="http://schemas.microsoft.com/office/drawing/2014/main" id="{50B1AA77-06D8-4C07-AEF5-229F394579CB}"/>
              </a:ext>
            </a:extLst>
          </p:cNvPr>
          <p:cNvSpPr>
            <a:spLocks xmlns:a="http://schemas.openxmlformats.org/drawingml/2006/main" noGrp="1"/>
          </p:cNvSpPr>
          <p:nvPr/>
        </p:nvSpPr>
        <p:spPr>
          <a:xfrm xmlns:a="http://schemas.openxmlformats.org/drawingml/2006/main">
            <a:off x="6534150" y="5467350"/>
            <a:ext cx="49625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Уже различает звуки. Социальность</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может облегчать обучение.</a:t>
            </a:r>
          </a:p>
        </p:txBody>
      </p:sp>
      <p:sp>
        <p:nvSpPr>
          <p:cNvPr id="17" name="">
            <a:extLst xmlns:a="http://schemas.openxmlformats.org/drawingml/2006/main">
              <a:ext uri="{FF2B5EF4-FFF2-40B4-BE49-F238E27FC236}">
                <a16:creationId xmlns:a16="http://schemas.microsoft.com/office/drawing/2014/main" id="{D14F7139-073C-44B4-9A24-FC1F6E3B3A21}"/>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[8]</a:t>
            </a:r>
          </a:p>
        </p:txBody>
      </p:sp>
    </p:spTree>
    <p:extLst>
      <p:ext uri="{BB962C8B-B14F-4D97-AF65-F5344CB8AC3E}">
        <p14:creationId xmlns:p14="http://schemas.microsoft.com/office/powerpoint/2010/main" val="9732976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A6F4B18-D76B-4AD1-B324-CBBDAC0BC813}"/>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Модель: дерево и летучие мыши</a:t>
            </a:r>
          </a:p>
        </p:txBody>
      </p:sp>
      <p:sp>
        <p:nvSpPr>
          <p:cNvPr id="2" name="">
            <a:extLst xmlns:a="http://schemas.openxmlformats.org/drawingml/2006/main">
              <a:ext uri="{FF2B5EF4-FFF2-40B4-BE49-F238E27FC236}">
                <a16:creationId xmlns:a16="http://schemas.microsoft.com/office/drawing/2014/main" id="{04E2F596-F1F9-4E3D-BFCE-86A8129BC67C}"/>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5F254AE-F1F3-400C-8F8B-CF3EDC40A126}"/>
              </a:ext>
            </a:extLst>
          </p:cNvPr>
          <p:cNvSpPr>
            <a:spLocks xmlns:a="http://schemas.openxmlformats.org/drawingml/2006/main" noGrp="1"/>
          </p:cNvSpPr>
          <p:nvPr/>
        </p:nvSpPr>
        <p:spPr>
          <a:xfrm xmlns:a="http://schemas.openxmlformats.org/drawingml/2006/main">
            <a:off x="609600" y="15240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Гипотетическое дерево</a:t>
            </a:r>
          </a:p>
        </p:txBody>
      </p:sp>
      <p:sp>
        <p:nvSpPr>
          <p:cNvPr id="4" name="">
            <a:extLst xmlns:a="http://schemas.openxmlformats.org/drawingml/2006/main">
              <a:ext uri="{FF2B5EF4-FFF2-40B4-BE49-F238E27FC236}">
                <a16:creationId xmlns:a16="http://schemas.microsoft.com/office/drawing/2014/main" id="{C58C4FEA-B5BC-4448-A4A9-28877C522802}"/>
              </a:ext>
            </a:extLst>
          </p:cNvPr>
          <p:cNvSpPr>
            <a:spLocks xmlns:a="http://schemas.openxmlformats.org/drawingml/2006/main" noGrp="1"/>
          </p:cNvSpPr>
          <p:nvPr/>
        </p:nvSpPr>
        <p:spPr>
          <a:xfrm xmlns:a="http://schemas.openxmlformats.org/drawingml/2006/main">
            <a:off x="609600" y="2076450"/>
            <a:ext cx="5524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Сообщает о нектаре и насекомых.</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Серия — до четырёх щелчков.</a:t>
            </a:r>
          </a:p>
        </p:txBody>
      </p:sp>
      <p:sp>
        <p:nvSpPr>
          <p:cNvPr id="5" name="">
            <a:extLst xmlns:a="http://schemas.openxmlformats.org/drawingml/2006/main">
              <a:ext uri="{FF2B5EF4-FFF2-40B4-BE49-F238E27FC236}">
                <a16:creationId xmlns:a16="http://schemas.microsoft.com/office/drawing/2014/main" id="{26CC3F0A-1A7B-4860-8307-2111CF66F001}"/>
              </a:ext>
            </a:extLst>
          </p:cNvPr>
          <p:cNvSpPr>
            <a:spLocks xmlns:a="http://schemas.openxmlformats.org/drawingml/2006/main" noGrp="1"/>
          </p:cNvSpPr>
          <p:nvPr/>
        </p:nvSpPr>
        <p:spPr>
          <a:xfrm xmlns:a="http://schemas.openxmlformats.org/drawingml/2006/main">
            <a:off x="7038975" y="1524000"/>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Большой копьенос</a:t>
            </a:r>
          </a:p>
        </p:txBody>
      </p:sp>
      <p:sp>
        <p:nvSpPr>
          <p:cNvPr id="6" name="">
            <a:extLst xmlns:a="http://schemas.openxmlformats.org/drawingml/2006/main">
              <a:ext uri="{FF2B5EF4-FFF2-40B4-BE49-F238E27FC236}">
                <a16:creationId xmlns:a16="http://schemas.microsoft.com/office/drawing/2014/main" id="{EA28D060-60A4-4F69-BDDE-4CB5450CA1CC}"/>
              </a:ext>
            </a:extLst>
          </p:cNvPr>
          <p:cNvSpPr>
            <a:spLocks xmlns:a="http://schemas.openxmlformats.org/drawingml/2006/main" noGrp="1"/>
          </p:cNvSpPr>
          <p:nvPr/>
        </p:nvSpPr>
        <p:spPr>
          <a:xfrm xmlns:a="http://schemas.openxmlformats.org/drawingml/2006/main">
            <a:off x="7038975" y="2076450"/>
            <a:ext cx="45434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Phyllostomus hastatus</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Выбирает кормление,</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сбор группы или охоту.</a:t>
            </a:r>
          </a:p>
        </p:txBody>
      </p:sp>
      <p:sp>
        <p:nvSpPr>
          <p:cNvPr id="7" name="">
            <a:extLst xmlns:a="http://schemas.openxmlformats.org/drawingml/2006/main">
              <a:ext uri="{FF2B5EF4-FFF2-40B4-BE49-F238E27FC236}">
                <a16:creationId xmlns:a16="http://schemas.microsoft.com/office/drawing/2014/main" id="{A0664FD0-3850-4EE9-999B-933FA358AF97}"/>
              </a:ext>
            </a:extLst>
          </p:cNvPr>
          <p:cNvSpPr>
            <a:spLocks xmlns:a="http://schemas.openxmlformats.org/drawingml/2006/main" noGrp="1"/>
          </p:cNvSpPr>
          <p:nvPr/>
        </p:nvSpPr>
        <p:spPr>
          <a:xfrm xmlns:a="http://schemas.openxmlformats.org/drawingml/2006/main">
            <a:off x="2028825" y="3343275"/>
            <a:ext cx="352425" cy="2047875"/>
          </a:xfrm>
          <a:custGeom xmlns:a="http://schemas.openxmlformats.org/drawingml/2006/main">
            <a:pathLst>
              <a:path w="352425" h="2047875">
                <a:moveTo>
                  <a:pt x="0" y="2047875"/>
                </a:moveTo>
                <a:lnTo>
                  <a:pt x="352425" y="933450"/>
                </a:lnTo>
                <a:lnTo>
                  <a:pt x="257175" y="0"/>
                </a:lnTo>
              </a:path>
            </a:pathLst>
          </a:custGeom>
          <a:noFill xmlns:a="http://schemas.openxmlformats.org/drawingml/2006/main"/>
          <a:ln xmlns:a="http://schemas.openxmlformats.org/drawingml/2006/main" w="123825">
            <a:solidFill>
              <a:srgbClr val="47705A"/>
            </a:solidFill>
          </a:ln>
        </p:spPr>
      </p:sp>
      <p:sp>
        <p:nvSpPr>
          <p:cNvPr id="8" name="">
            <a:extLst xmlns:a="http://schemas.openxmlformats.org/drawingml/2006/main">
              <a:ext uri="{FF2B5EF4-FFF2-40B4-BE49-F238E27FC236}">
                <a16:creationId xmlns:a16="http://schemas.microsoft.com/office/drawing/2014/main" id="{F2B70292-B17E-4A18-8B4B-CD46F34C6A15}"/>
              </a:ext>
            </a:extLst>
          </p:cNvPr>
          <p:cNvSpPr>
            <a:spLocks xmlns:a="http://schemas.openxmlformats.org/drawingml/2006/main" noGrp="1"/>
          </p:cNvSpPr>
          <p:nvPr/>
        </p:nvSpPr>
        <p:spPr>
          <a:xfrm xmlns:a="http://schemas.openxmlformats.org/drawingml/2006/main">
            <a:off x="2390775" y="3648075"/>
            <a:ext cx="1266825" cy="619125"/>
          </a:xfrm>
          <a:custGeom xmlns:a="http://schemas.openxmlformats.org/drawingml/2006/main">
            <a:pathLst>
              <a:path w="1266825" h="619125">
                <a:moveTo>
                  <a:pt x="0" y="619125"/>
                </a:moveTo>
                <a:lnTo>
                  <a:pt x="1266825" y="0"/>
                </a:lnTo>
              </a:path>
            </a:pathLst>
          </a:custGeom>
          <a:noFill xmlns:a="http://schemas.openxmlformats.org/drawingml/2006/main"/>
          <a:ln xmlns:a="http://schemas.openxmlformats.org/drawingml/2006/main" w="85725">
            <a:solidFill>
              <a:srgbClr val="47705A"/>
            </a:solidFill>
          </a:ln>
        </p:spPr>
      </p:sp>
      <p:sp>
        <p:nvSpPr>
          <p:cNvPr id="9" name="">
            <a:extLst xmlns:a="http://schemas.openxmlformats.org/drawingml/2006/main">
              <a:ext uri="{FF2B5EF4-FFF2-40B4-BE49-F238E27FC236}">
                <a16:creationId xmlns:a16="http://schemas.microsoft.com/office/drawing/2014/main" id="{3A6F3825-B9A4-490B-8CF5-3F5DBB8D9C78}"/>
              </a:ext>
            </a:extLst>
          </p:cNvPr>
          <p:cNvSpPr>
            <a:spLocks xmlns:a="http://schemas.openxmlformats.org/drawingml/2006/main" noGrp="1"/>
          </p:cNvSpPr>
          <p:nvPr/>
        </p:nvSpPr>
        <p:spPr>
          <a:xfrm xmlns:a="http://schemas.openxmlformats.org/drawingml/2006/main">
            <a:off x="1314450" y="3381375"/>
            <a:ext cx="1028700" cy="533400"/>
          </a:xfrm>
          <a:custGeom xmlns:a="http://schemas.openxmlformats.org/drawingml/2006/main">
            <a:pathLst>
              <a:path w="1028700" h="533400">
                <a:moveTo>
                  <a:pt x="1028700" y="533400"/>
                </a:moveTo>
                <a:lnTo>
                  <a:pt x="0" y="0"/>
                </a:lnTo>
              </a:path>
            </a:pathLst>
          </a:custGeom>
          <a:noFill xmlns:a="http://schemas.openxmlformats.org/drawingml/2006/main"/>
          <a:ln xmlns:a="http://schemas.openxmlformats.org/drawingml/2006/main" w="85725">
            <a:solidFill>
              <a:srgbClr val="47705A"/>
            </a:solidFill>
          </a:ln>
        </p:spPr>
      </p:sp>
      <p:sp>
        <p:nvSpPr>
          <p:cNvPr id="10" name="">
            <a:extLst xmlns:a="http://schemas.openxmlformats.org/drawingml/2006/main">
              <a:ext uri="{FF2B5EF4-FFF2-40B4-BE49-F238E27FC236}">
                <a16:creationId xmlns:a16="http://schemas.microsoft.com/office/drawing/2014/main" id="{43E6414A-D08D-4B87-97E1-2640A6A34376}"/>
              </a:ext>
            </a:extLst>
          </p:cNvPr>
          <p:cNvSpPr>
            <a:spLocks xmlns:a="http://schemas.openxmlformats.org/drawingml/2006/main" noGrp="1"/>
          </p:cNvSpPr>
          <p:nvPr/>
        </p:nvSpPr>
        <p:spPr>
          <a:xfrm xmlns:a="http://schemas.openxmlformats.org/drawingml/2006/main">
            <a:off x="1389221" y="3157538"/>
            <a:ext cx="371475" cy="37147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11" name="">
            <a:extLst xmlns:a="http://schemas.openxmlformats.org/drawingml/2006/main">
              <a:ext uri="{FF2B5EF4-FFF2-40B4-BE49-F238E27FC236}">
                <a16:creationId xmlns:a16="http://schemas.microsoft.com/office/drawing/2014/main" id="{519AD2DD-60AE-4FF3-801B-5428C915373D}"/>
              </a:ext>
            </a:extLst>
          </p:cNvPr>
          <p:cNvSpPr>
            <a:spLocks xmlns:a="http://schemas.openxmlformats.org/drawingml/2006/main" noGrp="1"/>
          </p:cNvSpPr>
          <p:nvPr/>
        </p:nvSpPr>
        <p:spPr>
          <a:xfrm xmlns:a="http://schemas.openxmlformats.org/drawingml/2006/main">
            <a:off x="1222377" y="3387178"/>
            <a:ext cx="371475" cy="37147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12" name="">
            <a:extLst xmlns:a="http://schemas.openxmlformats.org/drawingml/2006/main">
              <a:ext uri="{FF2B5EF4-FFF2-40B4-BE49-F238E27FC236}">
                <a16:creationId xmlns:a16="http://schemas.microsoft.com/office/drawing/2014/main" id="{3BD1F5B2-04C8-4686-ADB0-93450DDEEF0C}"/>
              </a:ext>
            </a:extLst>
          </p:cNvPr>
          <p:cNvSpPr>
            <a:spLocks xmlns:a="http://schemas.openxmlformats.org/drawingml/2006/main" noGrp="1"/>
          </p:cNvSpPr>
          <p:nvPr/>
        </p:nvSpPr>
        <p:spPr>
          <a:xfrm xmlns:a="http://schemas.openxmlformats.org/drawingml/2006/main">
            <a:off x="952418" y="3299463"/>
            <a:ext cx="371475" cy="37147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13" name="">
            <a:extLst xmlns:a="http://schemas.openxmlformats.org/drawingml/2006/main">
              <a:ext uri="{FF2B5EF4-FFF2-40B4-BE49-F238E27FC236}">
                <a16:creationId xmlns:a16="http://schemas.microsoft.com/office/drawing/2014/main" id="{01ABEF7F-5EC7-4E0E-B209-0D066F77FCDB}"/>
              </a:ext>
            </a:extLst>
          </p:cNvPr>
          <p:cNvSpPr>
            <a:spLocks xmlns:a="http://schemas.openxmlformats.org/drawingml/2006/main" noGrp="1"/>
          </p:cNvSpPr>
          <p:nvPr/>
        </p:nvSpPr>
        <p:spPr>
          <a:xfrm xmlns:a="http://schemas.openxmlformats.org/drawingml/2006/main">
            <a:off x="952418" y="3015612"/>
            <a:ext cx="371475" cy="37147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14" name="">
            <a:extLst xmlns:a="http://schemas.openxmlformats.org/drawingml/2006/main">
              <a:ext uri="{FF2B5EF4-FFF2-40B4-BE49-F238E27FC236}">
                <a16:creationId xmlns:a16="http://schemas.microsoft.com/office/drawing/2014/main" id="{C63F02F2-4BD8-4049-84E8-89BFAA4D4AB0}"/>
              </a:ext>
            </a:extLst>
          </p:cNvPr>
          <p:cNvSpPr>
            <a:spLocks xmlns:a="http://schemas.openxmlformats.org/drawingml/2006/main" noGrp="1"/>
          </p:cNvSpPr>
          <p:nvPr/>
        </p:nvSpPr>
        <p:spPr>
          <a:xfrm xmlns:a="http://schemas.openxmlformats.org/drawingml/2006/main">
            <a:off x="1222377" y="2927897"/>
            <a:ext cx="371475" cy="37147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15" name="">
            <a:extLst xmlns:a="http://schemas.openxmlformats.org/drawingml/2006/main">
              <a:ext uri="{FF2B5EF4-FFF2-40B4-BE49-F238E27FC236}">
                <a16:creationId xmlns:a16="http://schemas.microsoft.com/office/drawing/2014/main" id="{6D965CDD-E737-4F64-87E8-BD958FB89DAB}"/>
              </a:ext>
            </a:extLst>
          </p:cNvPr>
          <p:cNvSpPr>
            <a:spLocks xmlns:a="http://schemas.openxmlformats.org/drawingml/2006/main" noGrp="1"/>
          </p:cNvSpPr>
          <p:nvPr/>
        </p:nvSpPr>
        <p:spPr>
          <a:xfrm xmlns:a="http://schemas.openxmlformats.org/drawingml/2006/main">
            <a:off x="1240631" y="3250406"/>
            <a:ext cx="185738" cy="185738"/>
          </a:xfrm>
          <a:prstGeom xmlns:a="http://schemas.openxmlformats.org/drawingml/2006/main" prst="ellipse">
            <a:avLst/>
          </a:prstGeom>
          <a:solidFill xmlns:a="http://schemas.openxmlformats.org/drawingml/2006/main">
            <a:srgbClr val="A967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507A255-B4DD-481F-BFC0-DB7386FEE4A8}"/>
              </a:ext>
            </a:extLst>
          </p:cNvPr>
          <p:cNvSpPr>
            <a:spLocks xmlns:a="http://schemas.openxmlformats.org/drawingml/2006/main" noGrp="1"/>
          </p:cNvSpPr>
          <p:nvPr/>
        </p:nvSpPr>
        <p:spPr>
          <a:xfrm xmlns:a="http://schemas.openxmlformats.org/drawingml/2006/main">
            <a:off x="2354104" y="3090863"/>
            <a:ext cx="390525" cy="39052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17" name="">
            <a:extLst xmlns:a="http://schemas.openxmlformats.org/drawingml/2006/main">
              <a:ext uri="{FF2B5EF4-FFF2-40B4-BE49-F238E27FC236}">
                <a16:creationId xmlns:a16="http://schemas.microsoft.com/office/drawing/2014/main" id="{B3DC06A7-237D-406E-84F1-3A53AF12B64E}"/>
              </a:ext>
            </a:extLst>
          </p:cNvPr>
          <p:cNvSpPr>
            <a:spLocks xmlns:a="http://schemas.openxmlformats.org/drawingml/2006/main" noGrp="1"/>
          </p:cNvSpPr>
          <p:nvPr/>
        </p:nvSpPr>
        <p:spPr>
          <a:xfrm xmlns:a="http://schemas.openxmlformats.org/drawingml/2006/main">
            <a:off x="2178704" y="3332280"/>
            <a:ext cx="390525" cy="39052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18" name="">
            <a:extLst xmlns:a="http://schemas.openxmlformats.org/drawingml/2006/main">
              <a:ext uri="{FF2B5EF4-FFF2-40B4-BE49-F238E27FC236}">
                <a16:creationId xmlns:a16="http://schemas.microsoft.com/office/drawing/2014/main" id="{90545883-9F48-4DCB-A123-363308B23372}"/>
              </a:ext>
            </a:extLst>
          </p:cNvPr>
          <p:cNvSpPr>
            <a:spLocks xmlns:a="http://schemas.openxmlformats.org/drawingml/2006/main" noGrp="1"/>
          </p:cNvSpPr>
          <p:nvPr/>
        </p:nvSpPr>
        <p:spPr>
          <a:xfrm xmlns:a="http://schemas.openxmlformats.org/drawingml/2006/main">
            <a:off x="1894901" y="3240067"/>
            <a:ext cx="390525" cy="39052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19" name="">
            <a:extLst xmlns:a="http://schemas.openxmlformats.org/drawingml/2006/main">
              <a:ext uri="{FF2B5EF4-FFF2-40B4-BE49-F238E27FC236}">
                <a16:creationId xmlns:a16="http://schemas.microsoft.com/office/drawing/2014/main" id="{2D34A2CB-6E85-420D-9B01-55188FDC4F88}"/>
              </a:ext>
            </a:extLst>
          </p:cNvPr>
          <p:cNvSpPr>
            <a:spLocks xmlns:a="http://schemas.openxmlformats.org/drawingml/2006/main" noGrp="1"/>
          </p:cNvSpPr>
          <p:nvPr/>
        </p:nvSpPr>
        <p:spPr>
          <a:xfrm xmlns:a="http://schemas.openxmlformats.org/drawingml/2006/main">
            <a:off x="1894901" y="2941658"/>
            <a:ext cx="390525" cy="39052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20" name="">
            <a:extLst xmlns:a="http://schemas.openxmlformats.org/drawingml/2006/main">
              <a:ext uri="{FF2B5EF4-FFF2-40B4-BE49-F238E27FC236}">
                <a16:creationId xmlns:a16="http://schemas.microsoft.com/office/drawing/2014/main" id="{D0FA1E54-E37D-41E4-AC12-B89F062AB6F9}"/>
              </a:ext>
            </a:extLst>
          </p:cNvPr>
          <p:cNvSpPr>
            <a:spLocks xmlns:a="http://schemas.openxmlformats.org/drawingml/2006/main" noGrp="1"/>
          </p:cNvSpPr>
          <p:nvPr/>
        </p:nvSpPr>
        <p:spPr>
          <a:xfrm xmlns:a="http://schemas.openxmlformats.org/drawingml/2006/main">
            <a:off x="2178704" y="2849445"/>
            <a:ext cx="390525" cy="390525"/>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21" name="">
            <a:extLst xmlns:a="http://schemas.openxmlformats.org/drawingml/2006/main">
              <a:ext uri="{FF2B5EF4-FFF2-40B4-BE49-F238E27FC236}">
                <a16:creationId xmlns:a16="http://schemas.microsoft.com/office/drawing/2014/main" id="{0CC3F005-1F91-44A2-A40F-2BE8FA62EE15}"/>
              </a:ext>
            </a:extLst>
          </p:cNvPr>
          <p:cNvSpPr>
            <a:spLocks xmlns:a="http://schemas.openxmlformats.org/drawingml/2006/main" noGrp="1"/>
          </p:cNvSpPr>
          <p:nvPr/>
        </p:nvSpPr>
        <p:spPr>
          <a:xfrm xmlns:a="http://schemas.openxmlformats.org/drawingml/2006/main">
            <a:off x="2197894" y="3188494"/>
            <a:ext cx="195263" cy="195263"/>
          </a:xfrm>
          <a:prstGeom xmlns:a="http://schemas.openxmlformats.org/drawingml/2006/main" prst="ellipse">
            <a:avLst/>
          </a:prstGeom>
          <a:solidFill xmlns:a="http://schemas.openxmlformats.org/drawingml/2006/main">
            <a:srgbClr val="A9674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D7FB7F4-169C-4C8E-A474-DB9A879DB044}"/>
              </a:ext>
            </a:extLst>
          </p:cNvPr>
          <p:cNvSpPr>
            <a:spLocks xmlns:a="http://schemas.openxmlformats.org/drawingml/2006/main" noGrp="1"/>
          </p:cNvSpPr>
          <p:nvPr/>
        </p:nvSpPr>
        <p:spPr>
          <a:xfrm xmlns:a="http://schemas.openxmlformats.org/drawingml/2006/main">
            <a:off x="3705225" y="3400425"/>
            <a:ext cx="381000" cy="381000"/>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23" name="">
            <a:extLst xmlns:a="http://schemas.openxmlformats.org/drawingml/2006/main">
              <a:ext uri="{FF2B5EF4-FFF2-40B4-BE49-F238E27FC236}">
                <a16:creationId xmlns:a16="http://schemas.microsoft.com/office/drawing/2014/main" id="{72C733FA-D0D8-4E2E-B691-2D498D4B266F}"/>
              </a:ext>
            </a:extLst>
          </p:cNvPr>
          <p:cNvSpPr>
            <a:spLocks xmlns:a="http://schemas.openxmlformats.org/drawingml/2006/main" noGrp="1"/>
          </p:cNvSpPr>
          <p:nvPr/>
        </p:nvSpPr>
        <p:spPr>
          <a:xfrm xmlns:a="http://schemas.openxmlformats.org/drawingml/2006/main">
            <a:off x="3534103" y="3635954"/>
            <a:ext cx="381000" cy="381000"/>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24" name="">
            <a:extLst xmlns:a="http://schemas.openxmlformats.org/drawingml/2006/main">
              <a:ext uri="{FF2B5EF4-FFF2-40B4-BE49-F238E27FC236}">
                <a16:creationId xmlns:a16="http://schemas.microsoft.com/office/drawing/2014/main" id="{A356805D-8D05-4035-A3C8-48C3BF7C37A6}"/>
              </a:ext>
            </a:extLst>
          </p:cNvPr>
          <p:cNvSpPr>
            <a:spLocks xmlns:a="http://schemas.openxmlformats.org/drawingml/2006/main" noGrp="1"/>
          </p:cNvSpPr>
          <p:nvPr/>
        </p:nvSpPr>
        <p:spPr>
          <a:xfrm xmlns:a="http://schemas.openxmlformats.org/drawingml/2006/main">
            <a:off x="3257222" y="3545990"/>
            <a:ext cx="381000" cy="381000"/>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25" name="">
            <a:extLst xmlns:a="http://schemas.openxmlformats.org/drawingml/2006/main">
              <a:ext uri="{FF2B5EF4-FFF2-40B4-BE49-F238E27FC236}">
                <a16:creationId xmlns:a16="http://schemas.microsoft.com/office/drawing/2014/main" id="{53D44785-FF00-4D1E-8668-EA63E1E95704}"/>
              </a:ext>
            </a:extLst>
          </p:cNvPr>
          <p:cNvSpPr>
            <a:spLocks xmlns:a="http://schemas.openxmlformats.org/drawingml/2006/main" noGrp="1"/>
          </p:cNvSpPr>
          <p:nvPr/>
        </p:nvSpPr>
        <p:spPr>
          <a:xfrm xmlns:a="http://schemas.openxmlformats.org/drawingml/2006/main">
            <a:off x="3257222" y="3254860"/>
            <a:ext cx="381000" cy="381000"/>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26" name="">
            <a:extLst xmlns:a="http://schemas.openxmlformats.org/drawingml/2006/main">
              <a:ext uri="{FF2B5EF4-FFF2-40B4-BE49-F238E27FC236}">
                <a16:creationId xmlns:a16="http://schemas.microsoft.com/office/drawing/2014/main" id="{5CCB15B3-9C77-4970-8649-DD9D3B901931}"/>
              </a:ext>
            </a:extLst>
          </p:cNvPr>
          <p:cNvSpPr>
            <a:spLocks xmlns:a="http://schemas.openxmlformats.org/drawingml/2006/main" noGrp="1"/>
          </p:cNvSpPr>
          <p:nvPr/>
        </p:nvSpPr>
        <p:spPr>
          <a:xfrm xmlns:a="http://schemas.openxmlformats.org/drawingml/2006/main">
            <a:off x="3534103" y="3164896"/>
            <a:ext cx="381000" cy="381000"/>
          </a:xfrm>
          <a:prstGeom xmlns:a="http://schemas.openxmlformats.org/drawingml/2006/main" prst="ellipse">
            <a:avLst/>
          </a:prstGeom>
          <a:solidFill xmlns:a="http://schemas.openxmlformats.org/drawingml/2006/main">
            <a:srgbClr val="F6E7DB"/>
          </a:solidFill>
          <a:ln xmlns:a="http://schemas.openxmlformats.org/drawingml/2006/main" w="9525">
            <a:solidFill>
              <a:srgbClr val="A96743"/>
            </a:solidFill>
          </a:ln>
        </p:spPr>
      </p:sp>
      <p:sp>
        <p:nvSpPr>
          <p:cNvPr id="27" name="">
            <a:extLst xmlns:a="http://schemas.openxmlformats.org/drawingml/2006/main">
              <a:ext uri="{FF2B5EF4-FFF2-40B4-BE49-F238E27FC236}">
                <a16:creationId xmlns:a16="http://schemas.microsoft.com/office/drawing/2014/main" id="{DC527959-AE7F-4C13-BE42-B9878CB01A98}"/>
              </a:ext>
            </a:extLst>
          </p:cNvPr>
          <p:cNvSpPr>
            <a:spLocks xmlns:a="http://schemas.openxmlformats.org/drawingml/2006/main" noGrp="1"/>
          </p:cNvSpPr>
          <p:nvPr/>
        </p:nvSpPr>
        <p:spPr>
          <a:xfrm xmlns:a="http://schemas.openxmlformats.org/drawingml/2006/main">
            <a:off x="3552825" y="3495675"/>
            <a:ext cx="190500" cy="190500"/>
          </a:xfrm>
          <a:prstGeom xmlns:a="http://schemas.openxmlformats.org/drawingml/2006/main" prst="ellipse">
            <a:avLst/>
          </a:prstGeom>
          <a:solidFill xmlns:a="http://schemas.openxmlformats.org/drawingml/2006/main">
            <a:srgbClr val="A9674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F09E5B5-2636-48FE-B25D-360DAEA9B9CA}"/>
              </a:ext>
            </a:extLst>
          </p:cNvPr>
          <p:cNvSpPr>
            <a:spLocks xmlns:a="http://schemas.openxmlformats.org/drawingml/2006/main" noGrp="1"/>
          </p:cNvSpPr>
          <p:nvPr/>
        </p:nvSpPr>
        <p:spPr>
          <a:xfrm xmlns:a="http://schemas.openxmlformats.org/drawingml/2006/main" flipV="1">
            <a:off x="2381250" y="4210050"/>
            <a:ext cx="971550" cy="57150"/>
          </a:xfrm>
          <a:prstGeom xmlns:a="http://schemas.openxmlformats.org/drawingml/2006/main" prst="line">
            <a:avLst/>
          </a:prstGeom>
          <a:noFill xmlns:a="http://schemas.openxmlformats.org/drawingml/2006/main"/>
          <a:ln xmlns:a="http://schemas.openxmlformats.org/drawingml/2006/main" w="47625">
            <a:solidFill>
              <a:srgbClr val="47705A"/>
            </a:solidFill>
          </a:ln>
        </p:spPr>
      </p:sp>
      <p:sp>
        <p:nvSpPr>
          <p:cNvPr id="29" name="">
            <a:extLst xmlns:a="http://schemas.openxmlformats.org/drawingml/2006/main">
              <a:ext uri="{FF2B5EF4-FFF2-40B4-BE49-F238E27FC236}">
                <a16:creationId xmlns:a16="http://schemas.microsoft.com/office/drawing/2014/main" id="{64130460-0E8C-4C57-921F-D62AE4787A61}"/>
              </a:ext>
            </a:extLst>
          </p:cNvPr>
          <p:cNvSpPr>
            <a:spLocks xmlns:a="http://schemas.openxmlformats.org/drawingml/2006/main" noGrp="1"/>
          </p:cNvSpPr>
          <p:nvPr/>
        </p:nvSpPr>
        <p:spPr>
          <a:xfrm xmlns:a="http://schemas.openxmlformats.org/drawingml/2006/main">
            <a:off x="3143250" y="4086225"/>
            <a:ext cx="428625" cy="200025"/>
          </a:xfrm>
          <a:prstGeom xmlns:a="http://schemas.openxmlformats.org/drawingml/2006/main" prst="ellipse">
            <a:avLst/>
          </a:prstGeom>
          <a:solidFill xmlns:a="http://schemas.openxmlformats.org/drawingml/2006/main">
            <a:srgbClr val="A9674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F1E7EBA-3C16-428E-B20D-B57CEDC2CE9D}"/>
              </a:ext>
            </a:extLst>
          </p:cNvPr>
          <p:cNvSpPr>
            <a:spLocks xmlns:a="http://schemas.openxmlformats.org/drawingml/2006/main" noGrp="1"/>
          </p:cNvSpPr>
          <p:nvPr/>
        </p:nvSpPr>
        <p:spPr>
          <a:xfrm xmlns:a="http://schemas.openxmlformats.org/drawingml/2006/main">
            <a:off x="3914775" y="3978536"/>
            <a:ext cx="2457450" cy="463519"/>
          </a:xfrm>
          <a:custGeom xmlns:a="http://schemas.openxmlformats.org/drawingml/2006/main">
            <a:pathLst>
              <a:path w="2457450" h="463519">
                <a:moveTo>
                  <a:pt x="0" y="202939"/>
                </a:moveTo>
                <a:lnTo>
                  <a:pt x="20479" y="291931"/>
                </a:lnTo>
                <a:lnTo>
                  <a:pt x="40958" y="368033"/>
                </a:lnTo>
                <a:lnTo>
                  <a:pt x="61436" y="424561"/>
                </a:lnTo>
                <a:lnTo>
                  <a:pt x="81915" y="457039"/>
                </a:lnTo>
                <a:lnTo>
                  <a:pt x="102394" y="463519"/>
                </a:lnTo>
                <a:lnTo>
                  <a:pt x="122872" y="444646"/>
                </a:lnTo>
                <a:lnTo>
                  <a:pt x="143351" y="403471"/>
                </a:lnTo>
                <a:lnTo>
                  <a:pt x="163830" y="345037"/>
                </a:lnTo>
                <a:lnTo>
                  <a:pt x="184309" y="275800"/>
                </a:lnTo>
                <a:lnTo>
                  <a:pt x="204788" y="202939"/>
                </a:lnTo>
                <a:lnTo>
                  <a:pt x="225266" y="133632"/>
                </a:lnTo>
                <a:lnTo>
                  <a:pt x="245745" y="74364"/>
                </a:lnTo>
                <a:lnTo>
                  <a:pt x="266224" y="30340"/>
                </a:lnTo>
                <a:lnTo>
                  <a:pt x="286703" y="5047"/>
                </a:lnTo>
                <a:lnTo>
                  <a:pt x="307181" y="0"/>
                </a:lnTo>
                <a:lnTo>
                  <a:pt x="327660" y="14698"/>
                </a:lnTo>
                <a:lnTo>
                  <a:pt x="348139" y="46765"/>
                </a:lnTo>
                <a:lnTo>
                  <a:pt x="368617" y="92274"/>
                </a:lnTo>
                <a:lnTo>
                  <a:pt x="389096" y="146195"/>
                </a:lnTo>
                <a:lnTo>
                  <a:pt x="409575" y="202939"/>
                </a:lnTo>
                <a:lnTo>
                  <a:pt x="430054" y="256916"/>
                </a:lnTo>
                <a:lnTo>
                  <a:pt x="450533" y="303074"/>
                </a:lnTo>
                <a:lnTo>
                  <a:pt x="471011" y="337360"/>
                </a:lnTo>
                <a:lnTo>
                  <a:pt x="491490" y="357058"/>
                </a:lnTo>
                <a:lnTo>
                  <a:pt x="511969" y="360989"/>
                </a:lnTo>
                <a:lnTo>
                  <a:pt x="532447" y="349542"/>
                </a:lnTo>
                <a:lnTo>
                  <a:pt x="552926" y="324568"/>
                </a:lnTo>
                <a:lnTo>
                  <a:pt x="573405" y="289126"/>
                </a:lnTo>
                <a:lnTo>
                  <a:pt x="593884" y="247132"/>
                </a:lnTo>
                <a:lnTo>
                  <a:pt x="614363" y="202939"/>
                </a:lnTo>
                <a:lnTo>
                  <a:pt x="634841" y="160902"/>
                </a:lnTo>
                <a:lnTo>
                  <a:pt x="655320" y="124955"/>
                </a:lnTo>
                <a:lnTo>
                  <a:pt x="675799" y="98253"/>
                </a:lnTo>
                <a:lnTo>
                  <a:pt x="696278" y="82911"/>
                </a:lnTo>
                <a:lnTo>
                  <a:pt x="716756" y="79850"/>
                </a:lnTo>
                <a:lnTo>
                  <a:pt x="737235" y="88765"/>
                </a:lnTo>
                <a:lnTo>
                  <a:pt x="757714" y="108215"/>
                </a:lnTo>
                <a:lnTo>
                  <a:pt x="778192" y="135817"/>
                </a:lnTo>
                <a:lnTo>
                  <a:pt x="798671" y="168522"/>
                </a:lnTo>
                <a:lnTo>
                  <a:pt x="819150" y="202939"/>
                </a:lnTo>
                <a:lnTo>
                  <a:pt x="839629" y="235678"/>
                </a:lnTo>
                <a:lnTo>
                  <a:pt x="860108" y="263674"/>
                </a:lnTo>
                <a:lnTo>
                  <a:pt x="880586" y="284469"/>
                </a:lnTo>
                <a:lnTo>
                  <a:pt x="901065" y="296417"/>
                </a:lnTo>
                <a:lnTo>
                  <a:pt x="921544" y="298801"/>
                </a:lnTo>
                <a:lnTo>
                  <a:pt x="942022" y="291858"/>
                </a:lnTo>
                <a:lnTo>
                  <a:pt x="962501" y="276711"/>
                </a:lnTo>
                <a:lnTo>
                  <a:pt x="982980" y="255214"/>
                </a:lnTo>
                <a:lnTo>
                  <a:pt x="1003459" y="229743"/>
                </a:lnTo>
                <a:lnTo>
                  <a:pt x="1023938" y="202939"/>
                </a:lnTo>
                <a:lnTo>
                  <a:pt x="1044416" y="177443"/>
                </a:lnTo>
                <a:lnTo>
                  <a:pt x="1064895" y="155639"/>
                </a:lnTo>
                <a:lnTo>
                  <a:pt x="1085374" y="139444"/>
                </a:lnTo>
                <a:lnTo>
                  <a:pt x="1105853" y="130139"/>
                </a:lnTo>
                <a:lnTo>
                  <a:pt x="1126331" y="128282"/>
                </a:lnTo>
                <a:lnTo>
                  <a:pt x="1146810" y="133689"/>
                </a:lnTo>
                <a:lnTo>
                  <a:pt x="1167289" y="145486"/>
                </a:lnTo>
                <a:lnTo>
                  <a:pt x="1187768" y="162228"/>
                </a:lnTo>
                <a:lnTo>
                  <a:pt x="1208246" y="182064"/>
                </a:lnTo>
                <a:lnTo>
                  <a:pt x="1228725" y="202939"/>
                </a:lnTo>
                <a:lnTo>
                  <a:pt x="1249204" y="222796"/>
                </a:lnTo>
                <a:lnTo>
                  <a:pt x="1269682" y="239777"/>
                </a:lnTo>
                <a:lnTo>
                  <a:pt x="1290161" y="252390"/>
                </a:lnTo>
                <a:lnTo>
                  <a:pt x="1310640" y="259637"/>
                </a:lnTo>
                <a:lnTo>
                  <a:pt x="1331119" y="261082"/>
                </a:lnTo>
                <a:lnTo>
                  <a:pt x="1351597" y="256871"/>
                </a:lnTo>
                <a:lnTo>
                  <a:pt x="1372076" y="247684"/>
                </a:lnTo>
                <a:lnTo>
                  <a:pt x="1392555" y="234646"/>
                </a:lnTo>
                <a:lnTo>
                  <a:pt x="1413034" y="219197"/>
                </a:lnTo>
                <a:lnTo>
                  <a:pt x="1433513" y="202939"/>
                </a:lnTo>
                <a:lnTo>
                  <a:pt x="1453991" y="187475"/>
                </a:lnTo>
                <a:lnTo>
                  <a:pt x="1474470" y="174250"/>
                </a:lnTo>
                <a:lnTo>
                  <a:pt x="1494949" y="164427"/>
                </a:lnTo>
                <a:lnTo>
                  <a:pt x="1515428" y="158783"/>
                </a:lnTo>
                <a:lnTo>
                  <a:pt x="1535906" y="157657"/>
                </a:lnTo>
                <a:lnTo>
                  <a:pt x="1556385" y="160937"/>
                </a:lnTo>
                <a:lnTo>
                  <a:pt x="1576864" y="168092"/>
                </a:lnTo>
                <a:lnTo>
                  <a:pt x="1597343" y="178246"/>
                </a:lnTo>
                <a:lnTo>
                  <a:pt x="1617821" y="190278"/>
                </a:lnTo>
                <a:lnTo>
                  <a:pt x="1638300" y="202939"/>
                </a:lnTo>
                <a:lnTo>
                  <a:pt x="1658779" y="214983"/>
                </a:lnTo>
                <a:lnTo>
                  <a:pt x="1679257" y="225282"/>
                </a:lnTo>
                <a:lnTo>
                  <a:pt x="1699736" y="232933"/>
                </a:lnTo>
                <a:lnTo>
                  <a:pt x="1720215" y="237328"/>
                </a:lnTo>
                <a:lnTo>
                  <a:pt x="1740694" y="238205"/>
                </a:lnTo>
                <a:lnTo>
                  <a:pt x="1761172" y="235651"/>
                </a:lnTo>
                <a:lnTo>
                  <a:pt x="1781651" y="230078"/>
                </a:lnTo>
                <a:lnTo>
                  <a:pt x="1802130" y="222170"/>
                </a:lnTo>
                <a:lnTo>
                  <a:pt x="1822609" y="212800"/>
                </a:lnTo>
                <a:lnTo>
                  <a:pt x="1843088" y="202939"/>
                </a:lnTo>
                <a:lnTo>
                  <a:pt x="1863566" y="193560"/>
                </a:lnTo>
                <a:lnTo>
                  <a:pt x="1884045" y="185539"/>
                </a:lnTo>
                <a:lnTo>
                  <a:pt x="1904524" y="179581"/>
                </a:lnTo>
                <a:lnTo>
                  <a:pt x="1925003" y="176157"/>
                </a:lnTo>
                <a:lnTo>
                  <a:pt x="1945481" y="175474"/>
                </a:lnTo>
                <a:lnTo>
                  <a:pt x="1965960" y="177464"/>
                </a:lnTo>
                <a:lnTo>
                  <a:pt x="1986439" y="181803"/>
                </a:lnTo>
                <a:lnTo>
                  <a:pt x="2006918" y="187962"/>
                </a:lnTo>
                <a:lnTo>
                  <a:pt x="2027396" y="195260"/>
                </a:lnTo>
                <a:lnTo>
                  <a:pt x="2047875" y="202939"/>
                </a:lnTo>
                <a:lnTo>
                  <a:pt x="2068354" y="210244"/>
                </a:lnTo>
                <a:lnTo>
                  <a:pt x="2088832" y="216491"/>
                </a:lnTo>
                <a:lnTo>
                  <a:pt x="2109311" y="221131"/>
                </a:lnTo>
                <a:lnTo>
                  <a:pt x="2129790" y="223797"/>
                </a:lnTo>
                <a:lnTo>
                  <a:pt x="2150269" y="224329"/>
                </a:lnTo>
                <a:lnTo>
                  <a:pt x="2170748" y="222780"/>
                </a:lnTo>
                <a:lnTo>
                  <a:pt x="2191226" y="219400"/>
                </a:lnTo>
                <a:lnTo>
                  <a:pt x="2211705" y="214603"/>
                </a:lnTo>
                <a:lnTo>
                  <a:pt x="2232184" y="208920"/>
                </a:lnTo>
                <a:lnTo>
                  <a:pt x="2252663" y="202939"/>
                </a:lnTo>
                <a:lnTo>
                  <a:pt x="2273141" y="197250"/>
                </a:lnTo>
                <a:lnTo>
                  <a:pt x="2293620" y="192385"/>
                </a:lnTo>
                <a:lnTo>
                  <a:pt x="2314099" y="188772"/>
                </a:lnTo>
                <a:lnTo>
                  <a:pt x="2334578" y="186695"/>
                </a:lnTo>
                <a:lnTo>
                  <a:pt x="2355056" y="186281"/>
                </a:lnTo>
                <a:lnTo>
                  <a:pt x="2375535" y="187488"/>
                </a:lnTo>
                <a:lnTo>
                  <a:pt x="2396014" y="190120"/>
                </a:lnTo>
                <a:lnTo>
                  <a:pt x="2416493" y="193855"/>
                </a:lnTo>
                <a:lnTo>
                  <a:pt x="2436971" y="198282"/>
                </a:lnTo>
                <a:lnTo>
                  <a:pt x="2457450" y="202939"/>
                </a:lnTo>
              </a:path>
            </a:pathLst>
          </a:custGeom>
          <a:noFill xmlns:a="http://schemas.openxmlformats.org/drawingml/2006/main"/>
          <a:ln xmlns:a="http://schemas.openxmlformats.org/drawingml/2006/main" w="28575">
            <a:solidFill>
              <a:srgbClr val="39667D"/>
            </a:solidFill>
          </a:ln>
        </p:spPr>
      </p:sp>
      <p:sp>
        <p:nvSpPr>
          <p:cNvPr id="31" name="">
            <a:extLst xmlns:a="http://schemas.openxmlformats.org/drawingml/2006/main">
              <a:ext uri="{FF2B5EF4-FFF2-40B4-BE49-F238E27FC236}">
                <a16:creationId xmlns:a16="http://schemas.microsoft.com/office/drawing/2014/main" id="{21A6F3BC-D960-4815-B4FC-9E8DC27E6EAF}"/>
              </a:ext>
            </a:extLst>
          </p:cNvPr>
          <p:cNvSpPr>
            <a:spLocks xmlns:a="http://schemas.openxmlformats.org/drawingml/2006/main" noGrp="1"/>
          </p:cNvSpPr>
          <p:nvPr/>
        </p:nvSpPr>
        <p:spPr>
          <a:xfrm xmlns:a="http://schemas.openxmlformats.org/drawingml/2006/main">
            <a:off x="7134225" y="3727371"/>
            <a:ext cx="1762125" cy="713661"/>
          </a:xfrm>
          <a:custGeom xmlns:a="http://schemas.openxmlformats.org/drawingml/2006/main">
            <a:pathLst>
              <a:path w="1762125" h="713661">
                <a:moveTo>
                  <a:pt x="0" y="63437"/>
                </a:moveTo>
                <a:lnTo>
                  <a:pt x="352425" y="118943"/>
                </a:lnTo>
                <a:lnTo>
                  <a:pt x="687229" y="317183"/>
                </a:lnTo>
                <a:lnTo>
                  <a:pt x="775335" y="0"/>
                </a:lnTo>
                <a:lnTo>
                  <a:pt x="881063" y="166521"/>
                </a:lnTo>
                <a:lnTo>
                  <a:pt x="986790" y="0"/>
                </a:lnTo>
                <a:lnTo>
                  <a:pt x="1074896" y="317183"/>
                </a:lnTo>
                <a:lnTo>
                  <a:pt x="1409700" y="118943"/>
                </a:lnTo>
                <a:lnTo>
                  <a:pt x="1762125" y="63437"/>
                </a:lnTo>
                <a:lnTo>
                  <a:pt x="1533049" y="475774"/>
                </a:lnTo>
                <a:lnTo>
                  <a:pt x="1286351" y="412337"/>
                </a:lnTo>
                <a:lnTo>
                  <a:pt x="1057275" y="578858"/>
                </a:lnTo>
                <a:lnTo>
                  <a:pt x="881063" y="713661"/>
                </a:lnTo>
                <a:lnTo>
                  <a:pt x="704850" y="578858"/>
                </a:lnTo>
                <a:lnTo>
                  <a:pt x="475774" y="412337"/>
                </a:lnTo>
                <a:lnTo>
                  <a:pt x="229076" y="475774"/>
                </a:lnTo>
                <a:lnTo>
                  <a:pt x="0" y="63437"/>
                </a:lnTo>
              </a:path>
            </a:pathLst>
          </a:custGeom>
          <a:solidFill xmlns:a="http://schemas.openxmlformats.org/drawingml/2006/main">
            <a:srgbClr val="263B31"/>
          </a:solidFill>
          <a:ln xmlns:a="http://schemas.openxmlformats.org/drawingml/2006/main" w="19050">
            <a:solidFill>
              <a:srgbClr val="263B31"/>
            </a:solidFill>
          </a:ln>
        </p:spPr>
      </p:sp>
      <p:sp>
        <p:nvSpPr>
          <p:cNvPr id="32" name="">
            <a:extLst xmlns:a="http://schemas.openxmlformats.org/drawingml/2006/main">
              <a:ext uri="{FF2B5EF4-FFF2-40B4-BE49-F238E27FC236}">
                <a16:creationId xmlns:a16="http://schemas.microsoft.com/office/drawing/2014/main" id="{70E943E2-63FC-4F27-859D-216D767100D5}"/>
              </a:ext>
            </a:extLst>
          </p:cNvPr>
          <p:cNvSpPr>
            <a:spLocks xmlns:a="http://schemas.openxmlformats.org/drawingml/2006/main" noGrp="1"/>
          </p:cNvSpPr>
          <p:nvPr/>
        </p:nvSpPr>
        <p:spPr>
          <a:xfrm xmlns:a="http://schemas.openxmlformats.org/drawingml/2006/main">
            <a:off x="9715500" y="3926062"/>
            <a:ext cx="885825" cy="358759"/>
          </a:xfrm>
          <a:custGeom xmlns:a="http://schemas.openxmlformats.org/drawingml/2006/main">
            <a:pathLst>
              <a:path w="885825" h="358759">
                <a:moveTo>
                  <a:pt x="0" y="31890"/>
                </a:moveTo>
                <a:lnTo>
                  <a:pt x="177165" y="59793"/>
                </a:lnTo>
                <a:lnTo>
                  <a:pt x="345472" y="159449"/>
                </a:lnTo>
                <a:lnTo>
                  <a:pt x="389763" y="0"/>
                </a:lnTo>
                <a:lnTo>
                  <a:pt x="442913" y="83710"/>
                </a:lnTo>
                <a:lnTo>
                  <a:pt x="496062" y="0"/>
                </a:lnTo>
                <a:lnTo>
                  <a:pt x="540353" y="159449"/>
                </a:lnTo>
                <a:lnTo>
                  <a:pt x="708660" y="59793"/>
                </a:lnTo>
                <a:lnTo>
                  <a:pt x="885825" y="31890"/>
                </a:lnTo>
                <a:lnTo>
                  <a:pt x="770668" y="239173"/>
                </a:lnTo>
                <a:lnTo>
                  <a:pt x="646652" y="207283"/>
                </a:lnTo>
                <a:lnTo>
                  <a:pt x="531495" y="290994"/>
                </a:lnTo>
                <a:lnTo>
                  <a:pt x="442913" y="358759"/>
                </a:lnTo>
                <a:lnTo>
                  <a:pt x="354330" y="290994"/>
                </a:lnTo>
                <a:lnTo>
                  <a:pt x="239173" y="207283"/>
                </a:lnTo>
                <a:lnTo>
                  <a:pt x="115157" y="239173"/>
                </a:lnTo>
                <a:lnTo>
                  <a:pt x="0" y="31890"/>
                </a:lnTo>
              </a:path>
            </a:pathLst>
          </a:custGeom>
          <a:solidFill xmlns:a="http://schemas.openxmlformats.org/drawingml/2006/main">
            <a:srgbClr val="263B31"/>
          </a:solidFill>
          <a:ln xmlns:a="http://schemas.openxmlformats.org/drawingml/2006/main" w="19050">
            <a:solidFill>
              <a:srgbClr val="263B31"/>
            </a:solidFill>
          </a:ln>
        </p:spPr>
      </p:sp>
      <p:sp>
        <p:nvSpPr>
          <p:cNvPr id="33" name="">
            <a:extLst xmlns:a="http://schemas.openxmlformats.org/drawingml/2006/main">
              <a:ext uri="{FF2B5EF4-FFF2-40B4-BE49-F238E27FC236}">
                <a16:creationId xmlns:a16="http://schemas.microsoft.com/office/drawing/2014/main" id="{96DD1E88-9F95-47A1-A857-3DEF993E1FB9}"/>
              </a:ext>
            </a:extLst>
          </p:cNvPr>
          <p:cNvSpPr>
            <a:spLocks xmlns:a="http://schemas.openxmlformats.org/drawingml/2006/main" noGrp="1"/>
          </p:cNvSpPr>
          <p:nvPr/>
        </p:nvSpPr>
        <p:spPr>
          <a:xfrm xmlns:a="http://schemas.openxmlformats.org/drawingml/2006/main">
            <a:off x="9801225" y="5002387"/>
            <a:ext cx="885825" cy="358759"/>
          </a:xfrm>
          <a:custGeom xmlns:a="http://schemas.openxmlformats.org/drawingml/2006/main">
            <a:pathLst>
              <a:path w="885825" h="358759">
                <a:moveTo>
                  <a:pt x="0" y="31890"/>
                </a:moveTo>
                <a:lnTo>
                  <a:pt x="177165" y="59793"/>
                </a:lnTo>
                <a:lnTo>
                  <a:pt x="345472" y="159449"/>
                </a:lnTo>
                <a:lnTo>
                  <a:pt x="389763" y="0"/>
                </a:lnTo>
                <a:lnTo>
                  <a:pt x="442913" y="83710"/>
                </a:lnTo>
                <a:lnTo>
                  <a:pt x="496062" y="0"/>
                </a:lnTo>
                <a:lnTo>
                  <a:pt x="540353" y="159449"/>
                </a:lnTo>
                <a:lnTo>
                  <a:pt x="708660" y="59793"/>
                </a:lnTo>
                <a:lnTo>
                  <a:pt x="885825" y="31890"/>
                </a:lnTo>
                <a:lnTo>
                  <a:pt x="770668" y="239173"/>
                </a:lnTo>
                <a:lnTo>
                  <a:pt x="646652" y="207283"/>
                </a:lnTo>
                <a:lnTo>
                  <a:pt x="531495" y="290994"/>
                </a:lnTo>
                <a:lnTo>
                  <a:pt x="442913" y="358759"/>
                </a:lnTo>
                <a:lnTo>
                  <a:pt x="354330" y="290994"/>
                </a:lnTo>
                <a:lnTo>
                  <a:pt x="239173" y="207283"/>
                </a:lnTo>
                <a:lnTo>
                  <a:pt x="115157" y="239173"/>
                </a:lnTo>
                <a:lnTo>
                  <a:pt x="0" y="31890"/>
                </a:lnTo>
              </a:path>
            </a:pathLst>
          </a:custGeom>
          <a:solidFill xmlns:a="http://schemas.openxmlformats.org/drawingml/2006/main">
            <a:srgbClr val="263B31"/>
          </a:solidFill>
          <a:ln xmlns:a="http://schemas.openxmlformats.org/drawingml/2006/main" w="19050">
            <a:solidFill>
              <a:srgbClr val="263B31"/>
            </a:solidFill>
          </a:ln>
        </p:spPr>
      </p:sp>
      <p:sp>
        <p:nvSpPr>
          <p:cNvPr id="34" name="">
            <a:extLst xmlns:a="http://schemas.openxmlformats.org/drawingml/2006/main">
              <a:ext uri="{FF2B5EF4-FFF2-40B4-BE49-F238E27FC236}">
                <a16:creationId xmlns:a16="http://schemas.microsoft.com/office/drawing/2014/main" id="{1122966F-7CE5-436A-AD27-191BE323CDF0}"/>
              </a:ext>
            </a:extLst>
          </p:cNvPr>
          <p:cNvSpPr>
            <a:spLocks xmlns:a="http://schemas.openxmlformats.org/drawingml/2006/main" noGrp="1"/>
          </p:cNvSpPr>
          <p:nvPr/>
        </p:nvSpPr>
        <p:spPr>
          <a:xfrm xmlns:a="http://schemas.openxmlformats.org/drawingml/2006/main">
            <a:off x="4038600" y="4705350"/>
            <a:ext cx="27908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9667D"/>
                </a:solidFill>
                <a:latin typeface="Arial"/>
                <a:ea typeface="Arial"/>
                <a:cs typeface="Arial"/>
              </a:defRPr>
            </a:pPr>
            <a:r>
              <a:rPr sz="2100" b="1">
                <a:solidFill>
                  <a:srgbClr val="39667D"/>
                </a:solidFill>
                <a:latin typeface="Arial"/>
                <a:ea typeface="Arial"/>
                <a:cs typeface="Arial"/>
              </a:rPr>
              <a:t>Звук через воздух</a:t>
            </a:r>
          </a:p>
        </p:txBody>
      </p:sp>
      <p:sp>
        <p:nvSpPr>
          <p:cNvPr id="35" name="">
            <a:extLst xmlns:a="http://schemas.openxmlformats.org/drawingml/2006/main">
              <a:ext uri="{FF2B5EF4-FFF2-40B4-BE49-F238E27FC236}">
                <a16:creationId xmlns:a16="http://schemas.microsoft.com/office/drawing/2014/main" id="{C8136CE3-04F2-4888-8EF6-B30AC1CBFA1E}"/>
              </a:ext>
            </a:extLst>
          </p:cNvPr>
          <p:cNvSpPr>
            <a:spLocks xmlns:a="http://schemas.openxmlformats.org/drawingml/2006/main" noGrp="1"/>
          </p:cNvSpPr>
          <p:nvPr/>
        </p:nvSpPr>
        <p:spPr>
          <a:xfrm xmlns:a="http://schemas.openxmlformats.org/drawingml/2006/main">
            <a:off x="7058025" y="5562600"/>
            <a:ext cx="4476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Мыши получают пищу.</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Дерево — опыление и защиту.</a:t>
            </a:r>
          </a:p>
        </p:txBody>
      </p:sp>
      <p:sp>
        <p:nvSpPr>
          <p:cNvPr id="36" name="">
            <a:extLst xmlns:a="http://schemas.openxmlformats.org/drawingml/2006/main">
              <a:ext uri="{FF2B5EF4-FFF2-40B4-BE49-F238E27FC236}">
                <a16:creationId xmlns:a16="http://schemas.microsoft.com/office/drawing/2014/main" id="{9C2075C2-2F62-4174-BC8F-F0BE28E813CA}"/>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[5], [6], [7], [8]</a:t>
            </a:r>
          </a:p>
        </p:txBody>
      </p:sp>
    </p:spTree>
    <p:extLst>
      <p:ext uri="{BB962C8B-B14F-4D97-AF65-F5344CB8AC3E}">
        <p14:creationId xmlns:p14="http://schemas.microsoft.com/office/powerpoint/2010/main" val="19363048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F8E5C5-96EC-4143-BDA5-24689CCD4406}"/>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Зачем знать количество нектара заранее</a:t>
            </a:r>
          </a:p>
        </p:txBody>
      </p:sp>
      <p:sp>
        <p:nvSpPr>
          <p:cNvPr id="2" name="">
            <a:extLst xmlns:a="http://schemas.openxmlformats.org/drawingml/2006/main">
              <a:ext uri="{FF2B5EF4-FFF2-40B4-BE49-F238E27FC236}">
                <a16:creationId xmlns:a16="http://schemas.microsoft.com/office/drawing/2014/main" id="{E83213BF-29CF-4043-A914-E7E420572EEA}"/>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753b25d301e4512"/>
          <a:stretch xmlns:a="http://schemas.openxmlformats.org/drawingml/2006/main"/>
        </p:blipFill>
        <p:spPr>
          <a:xfrm xmlns:a="http://schemas.openxmlformats.org/drawingml/2006/main">
            <a:off x="804863" y="1628775"/>
            <a:ext cx="5572125"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10B1302-ADA2-4566-A64C-AD62DAB49FB5}"/>
              </a:ext>
            </a:extLst>
          </p:cNvPr>
          <p:cNvSpPr>
            <a:spLocks xmlns:a="http://schemas.openxmlformats.org/drawingml/2006/main" noGrp="1"/>
          </p:cNvSpPr>
          <p:nvPr/>
        </p:nvSpPr>
        <p:spPr>
          <a:xfrm xmlns:a="http://schemas.openxmlformats.org/drawingml/2006/main">
            <a:off x="7048500" y="1533525"/>
            <a:ext cx="4533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3B31"/>
                </a:solidFill>
                <a:latin typeface="Arial"/>
                <a:ea typeface="Arial"/>
                <a:cs typeface="Arial"/>
              </a:defRPr>
            </a:pPr>
            <a:r>
              <a:rPr sz="2475" b="1">
                <a:solidFill>
                  <a:srgbClr val="263B31"/>
                </a:solidFill>
                <a:latin typeface="Arial"/>
                <a:ea typeface="Arial"/>
                <a:cs typeface="Arial"/>
              </a:rPr>
              <a:t>Нектар скрыт в цветках</a:t>
            </a:r>
          </a:p>
        </p:txBody>
      </p:sp>
      <p:sp>
        <p:nvSpPr>
          <p:cNvPr id="5" name="">
            <a:extLst xmlns:a="http://schemas.openxmlformats.org/drawingml/2006/main">
              <a:ext uri="{FF2B5EF4-FFF2-40B4-BE49-F238E27FC236}">
                <a16:creationId xmlns:a16="http://schemas.microsoft.com/office/drawing/2014/main" id="{30C92FA8-904B-45ED-BF81-9EDC6F866AEE}"/>
              </a:ext>
            </a:extLst>
          </p:cNvPr>
          <p:cNvSpPr>
            <a:spLocks xmlns:a="http://schemas.openxmlformats.org/drawingml/2006/main" noGrp="1"/>
          </p:cNvSpPr>
          <p:nvPr/>
        </p:nvSpPr>
        <p:spPr>
          <a:xfrm xmlns:a="http://schemas.openxmlformats.org/drawingml/2006/main">
            <a:off x="7048500" y="2114550"/>
            <a:ext cx="45339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Для оценки запаса нужно</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обследовать несколько цветков.</a:t>
            </a:r>
          </a:p>
        </p:txBody>
      </p:sp>
      <p:sp>
        <p:nvSpPr>
          <p:cNvPr id="6" name="">
            <a:extLst xmlns:a="http://schemas.openxmlformats.org/drawingml/2006/main">
              <a:ext uri="{FF2B5EF4-FFF2-40B4-BE49-F238E27FC236}">
                <a16:creationId xmlns:a16="http://schemas.microsoft.com/office/drawing/2014/main" id="{49DBD86F-CE4B-456E-AEE5-2F11C03B464A}"/>
              </a:ext>
            </a:extLst>
          </p:cNvPr>
          <p:cNvSpPr>
            <a:spLocks xmlns:a="http://schemas.openxmlformats.org/drawingml/2006/main" noGrp="1"/>
          </p:cNvSpPr>
          <p:nvPr/>
        </p:nvSpPr>
        <p:spPr>
          <a:xfrm xmlns:a="http://schemas.openxmlformats.org/drawingml/2006/main">
            <a:off x="7048500" y="3295650"/>
            <a:ext cx="45339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3B31"/>
                </a:solidFill>
                <a:latin typeface="Arial"/>
                <a:ea typeface="Arial"/>
                <a:cs typeface="Arial"/>
              </a:defRPr>
            </a:pPr>
            <a:r>
              <a:rPr sz="2475" b="1">
                <a:solidFill>
                  <a:srgbClr val="263B31"/>
                </a:solidFill>
                <a:latin typeface="Arial"/>
                <a:ea typeface="Arial"/>
                <a:cs typeface="Arial"/>
              </a:rPr>
              <a:t>Размер группы важен</a:t>
            </a:r>
          </a:p>
        </p:txBody>
      </p:sp>
      <p:sp>
        <p:nvSpPr>
          <p:cNvPr id="7" name="">
            <a:extLst xmlns:a="http://schemas.openxmlformats.org/drawingml/2006/main">
              <a:ext uri="{FF2B5EF4-FFF2-40B4-BE49-F238E27FC236}">
                <a16:creationId xmlns:a16="http://schemas.microsoft.com/office/drawing/2014/main" id="{22002E3E-9BE0-4292-AE78-AB90889851CA}"/>
              </a:ext>
            </a:extLst>
          </p:cNvPr>
          <p:cNvSpPr>
            <a:spLocks xmlns:a="http://schemas.openxmlformats.org/drawingml/2006/main" noGrp="1"/>
          </p:cNvSpPr>
          <p:nvPr/>
        </p:nvSpPr>
        <p:spPr>
          <a:xfrm xmlns:a="http://schemas.openxmlformats.org/drawingml/2006/main">
            <a:off x="7048500" y="3876675"/>
            <a:ext cx="4533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Бедный участок подходит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для одиночного кормления.</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Богатый может кормить группу.</a:t>
            </a:r>
          </a:p>
        </p:txBody>
      </p:sp>
      <p:sp>
        <p:nvSpPr>
          <p:cNvPr id="8" name="">
            <a:extLst xmlns:a="http://schemas.openxmlformats.org/drawingml/2006/main">
              <a:ext uri="{FF2B5EF4-FFF2-40B4-BE49-F238E27FC236}">
                <a16:creationId xmlns:a16="http://schemas.microsoft.com/office/drawing/2014/main" id="{2A8A726D-B70E-4F62-8B96-21076D3EEAC7}"/>
              </a:ext>
            </a:extLst>
          </p:cNvPr>
          <p:cNvSpPr>
            <a:spLocks xmlns:a="http://schemas.openxmlformats.org/drawingml/2006/main" noGrp="1"/>
          </p:cNvSpPr>
          <p:nvPr/>
        </p:nvSpPr>
        <p:spPr>
          <a:xfrm xmlns:a="http://schemas.openxmlformats.org/drawingml/2006/main">
            <a:off x="609600" y="55054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3B31"/>
                </a:solidFill>
                <a:latin typeface="Arial"/>
                <a:ea typeface="Arial"/>
                <a:cs typeface="Arial"/>
              </a:defRPr>
            </a:pPr>
            <a:r>
              <a:rPr sz="2400" b="1">
                <a:solidFill>
                  <a:srgbClr val="263B31"/>
                </a:solidFill>
                <a:latin typeface="Arial"/>
                <a:ea typeface="Arial"/>
                <a:cs typeface="Arial"/>
              </a:rPr>
              <a:t>Сигнал помогает решить, стоит ли привлекать сородичей,</a:t>
            </a:r>
          </a:p>
          <a:p xmlns:a="http://schemas.openxmlformats.org/drawingml/2006/main">
            <a:pPr algn="l">
              <a:defRPr sz="2400" b="1">
                <a:solidFill>
                  <a:srgbClr val="263B31"/>
                </a:solidFill>
                <a:latin typeface="Arial"/>
                <a:ea typeface="Arial"/>
                <a:cs typeface="Arial"/>
              </a:defRPr>
            </a:pPr>
            <a:r>
              <a:rPr sz="2400" b="1">
                <a:solidFill>
                  <a:srgbClr val="263B31"/>
                </a:solidFill>
                <a:latin typeface="Arial"/>
                <a:ea typeface="Arial"/>
                <a:cs typeface="Arial"/>
              </a:rPr>
              <a:t>до их сбора у дерева.</a:t>
            </a:r>
          </a:p>
        </p:txBody>
      </p:sp>
      <p:sp>
        <p:nvSpPr>
          <p:cNvPr id="9" name="">
            <a:extLst xmlns:a="http://schemas.openxmlformats.org/drawingml/2006/main">
              <a:ext uri="{FF2B5EF4-FFF2-40B4-BE49-F238E27FC236}">
                <a16:creationId xmlns:a16="http://schemas.microsoft.com/office/drawing/2014/main" id="{0CFD4BA6-4D61-432F-8496-F6552E1FDB64}"/>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[6], [8]</a:t>
            </a:r>
          </a:p>
        </p:txBody>
      </p:sp>
    </p:spTree>
    <p:extLst>
      <p:ext uri="{BB962C8B-B14F-4D97-AF65-F5344CB8AC3E}">
        <p14:creationId xmlns:p14="http://schemas.microsoft.com/office/powerpoint/2010/main" val="7046376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11F2CD-1CDB-40C6-B7F2-251F40DD9D7A}"/>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Сообщение меняет стратегию</a:t>
            </a:r>
          </a:p>
        </p:txBody>
      </p:sp>
      <p:sp>
        <p:nvSpPr>
          <p:cNvPr id="2" name="">
            <a:extLst xmlns:a="http://schemas.openxmlformats.org/drawingml/2006/main">
              <a:ext uri="{FF2B5EF4-FFF2-40B4-BE49-F238E27FC236}">
                <a16:creationId xmlns:a16="http://schemas.microsoft.com/office/drawing/2014/main" id="{5ABA3CA0-68FC-4A7E-8E41-9A60701098ED}"/>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12</a:t>
            </a:r>
          </a:p>
        </p:txBody>
      </p:sp>
      <p:graphicFrame>
        <p:nvGraphicFramePr>
          <p:cNvPr id="8" name=""/>
          <p:cNvGraphicFramePr/>
          <p:nvPr/>
        </p:nvGraphicFramePr>
        <p:xfrm>
          <a:off xmlns:a="http://schemas.openxmlformats.org/drawingml/2006/main" x="609600" y="1495425"/>
          <a:ext xmlns:a="http://schemas.openxmlformats.org/drawingml/2006/main" cx="10972800" cy="4524375"/>
        </p:xfrm>
        <a:graphic xmlns:a="http://schemas.openxmlformats.org/drawingml/2006/main">
          <a:graphicData uri="http://schemas.openxmlformats.org/drawingml/2006/table">
            <a:tbl>
              <a:tblPr/>
              <a:tblGrid>
                <a:gridCol w="3505200"/>
                <a:gridCol w="3771900"/>
                <a:gridCol w="3695700"/>
              </a:tblGrid>
              <a:tr h="638175">
                <a:tc>
                  <a:txBody>
                    <a:bodyPr lIns="142875" tIns="76200" rIns="114300" bIns="76200">
                      <a:noAutofit/>
                    </a:bodyPr>
                    <a:lstStyle/>
                    <a:p>
                      <a:r>
                        <a:rPr sz="2100" b="1">
                          <a:solidFill>
                            <a:srgbClr val="FFFFFF"/>
                          </a:solidFill>
                          <a:latin typeface="Arial"/>
                          <a:ea typeface="Arial"/>
                          <a:cs typeface="Arial"/>
                        </a:rPr>
                        <a:t>Сообщение растения</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Реакция животного</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Польза информации</a:t>
                      </a:r>
                    </a:p>
                  </a:txBody>
                  <a:tcPr marL="91440" marR="91440" marT="45720" marB="45720" anchor="ctr">
                    <a:solidFill>
                      <a:srgbClr val="263B31"/>
                    </a:solidFill>
                  </a:tcPr>
                </a:tc>
              </a:tr>
              <a:tr h="942975">
                <a:tc>
                  <a:txBody>
                    <a:bodyPr lIns="142875" tIns="76200" rIns="114300" bIns="76200">
                      <a:noAutofit/>
                    </a:bodyPr>
                    <a:lstStyle/>
                    <a:p>
                      <a:r>
                        <a:rPr sz="2100" b="1">
                          <a:solidFill>
                            <a:srgbClr val="263B31"/>
                          </a:solidFill>
                          <a:latin typeface="Arial"/>
                          <a:ea typeface="Arial"/>
                          <a:cs typeface="Arial"/>
                        </a:rPr>
                        <a:t>Нектара немного</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Кормиться самостоятельно</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Не собирать группу</a:t>
                      </a:r>
                    </a:p>
                    <a:p>
                      <a:r>
                        <a:rPr sz="2100" b="0">
                          <a:solidFill>
                            <a:srgbClr val="263B31"/>
                          </a:solidFill>
                          <a:latin typeface="Arial"/>
                          <a:ea typeface="Arial"/>
                          <a:cs typeface="Arial"/>
                        </a:rPr>
                        <a:t>у бедного участка</a:t>
                      </a:r>
                    </a:p>
                  </a:txBody>
                  <a:tcPr marL="91440" marR="91440" marT="45720" marB="45720" anchor="ctr">
                    <a:solidFill>
                      <a:srgbClr val="FFFFFF"/>
                    </a:solidFill>
                  </a:tcPr>
                </a:tc>
              </a:tr>
              <a:tr h="942975">
                <a:tc>
                  <a:txBody>
                    <a:bodyPr lIns="142875" tIns="76200" rIns="114300" bIns="76200">
                      <a:noAutofit/>
                    </a:bodyPr>
                    <a:lstStyle/>
                    <a:p>
                      <a:r>
                        <a:rPr sz="2100" b="1">
                          <a:solidFill>
                            <a:srgbClr val="263B31"/>
                          </a:solidFill>
                          <a:latin typeface="Arial"/>
                          <a:ea typeface="Arial"/>
                          <a:cs typeface="Arial"/>
                        </a:rPr>
                        <a:t>Нектара много</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Привлечь сородичей</a:t>
                      </a:r>
                    </a:p>
                    <a:p>
                      <a:r>
                        <a:rPr sz="2100" b="0">
                          <a:solidFill>
                            <a:srgbClr val="263B31"/>
                          </a:solidFill>
                          <a:latin typeface="Arial"/>
                          <a:ea typeface="Arial"/>
                          <a:cs typeface="Arial"/>
                        </a:rPr>
                        <a:t>голосовыми сигналами</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Использовать богатый</a:t>
                      </a:r>
                    </a:p>
                    <a:p>
                      <a:r>
                        <a:rPr sz="2100" b="0">
                          <a:solidFill>
                            <a:srgbClr val="263B31"/>
                          </a:solidFill>
                          <a:latin typeface="Arial"/>
                          <a:ea typeface="Arial"/>
                          <a:cs typeface="Arial"/>
                        </a:rPr>
                        <a:t>участок вместе</a:t>
                      </a:r>
                    </a:p>
                  </a:txBody>
                  <a:tcPr marL="91440" marR="91440" marT="45720" marB="45720" anchor="ctr">
                    <a:solidFill>
                      <a:srgbClr val="FFFFFF"/>
                    </a:solidFill>
                  </a:tcPr>
                </a:tc>
              </a:tr>
              <a:tr h="942975">
                <a:tc>
                  <a:txBody>
                    <a:bodyPr lIns="142875" tIns="76200" rIns="114300" bIns="76200">
                      <a:noAutofit/>
                    </a:bodyPr>
                    <a:lstStyle/>
                    <a:p>
                      <a:r>
                        <a:rPr sz="2100" b="1">
                          <a:solidFill>
                            <a:srgbClr val="263B31"/>
                          </a:solidFill>
                          <a:latin typeface="Arial"/>
                          <a:ea typeface="Arial"/>
                          <a:cs typeface="Arial"/>
                        </a:rPr>
                        <a:t>Нектар закончился</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Перейти к другому</a:t>
                      </a:r>
                    </a:p>
                    <a:p>
                      <a:r>
                        <a:rPr sz="2100" b="0">
                          <a:solidFill>
                            <a:srgbClr val="263B31"/>
                          </a:solidFill>
                          <a:latin typeface="Arial"/>
                          <a:ea typeface="Arial"/>
                          <a:cs typeface="Arial"/>
                        </a:rPr>
                        <a:t>соцветию или дереву</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Не обследовать</a:t>
                      </a:r>
                    </a:p>
                    <a:p>
                      <a:r>
                        <a:rPr sz="2100" b="0">
                          <a:solidFill>
                            <a:srgbClr val="263B31"/>
                          </a:solidFill>
                          <a:latin typeface="Arial"/>
                          <a:ea typeface="Arial"/>
                          <a:cs typeface="Arial"/>
                        </a:rPr>
                        <a:t>пустые цветки</a:t>
                      </a:r>
                    </a:p>
                  </a:txBody>
                  <a:tcPr marL="91440" marR="91440" marT="45720" marB="45720" anchor="ctr">
                    <a:solidFill>
                      <a:srgbClr val="FFFFFF"/>
                    </a:solidFill>
                  </a:tcPr>
                </a:tc>
              </a:tr>
              <a:tr h="1057275">
                <a:tc>
                  <a:txBody>
                    <a:bodyPr lIns="142875" tIns="76200" rIns="114300" bIns="76200">
                      <a:noAutofit/>
                    </a:bodyPr>
                    <a:lstStyle/>
                    <a:p>
                      <a:r>
                        <a:rPr sz="2100" b="1">
                          <a:solidFill>
                            <a:srgbClr val="263B31"/>
                          </a:solidFill>
                          <a:latin typeface="Arial"/>
                          <a:ea typeface="Arial"/>
                          <a:cs typeface="Arial"/>
                        </a:rPr>
                        <a:t>Есть насекомые,</a:t>
                      </a:r>
                    </a:p>
                    <a:p>
                      <a:r>
                        <a:rPr sz="2100" b="1">
                          <a:solidFill>
                            <a:srgbClr val="263B31"/>
                          </a:solidFill>
                          <a:latin typeface="Arial"/>
                          <a:ea typeface="Arial"/>
                          <a:cs typeface="Arial"/>
                        </a:rPr>
                        <a:t>повреждающие листья</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Искать добычу</a:t>
                      </a:r>
                    </a:p>
                    <a:p>
                      <a:r>
                        <a:rPr sz="2100" b="0">
                          <a:solidFill>
                            <a:srgbClr val="263B31"/>
                          </a:solidFill>
                          <a:latin typeface="Arial"/>
                          <a:ea typeface="Arial"/>
                          <a:cs typeface="Arial"/>
                        </a:rPr>
                        <a:t>на листьях и ветвях</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Переключиться</a:t>
                      </a:r>
                    </a:p>
                    <a:p>
                      <a:r>
                        <a:rPr sz="2100" b="0">
                          <a:solidFill>
                            <a:srgbClr val="263B31"/>
                          </a:solidFill>
                          <a:latin typeface="Arial"/>
                          <a:ea typeface="Arial"/>
                          <a:cs typeface="Arial"/>
                        </a:rPr>
                        <a:t>с нектара на охоту</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7C64B96-2FB2-4269-A3D7-E8A516272D2C}"/>
              </a:ext>
            </a:extLst>
          </p:cNvPr>
          <p:cNvSpPr>
            <a:spLocks xmlns:a="http://schemas.openxmlformats.org/drawingml/2006/main" noGrp="1"/>
          </p:cNvSpPr>
          <p:nvPr/>
        </p:nvSpPr>
        <p:spPr>
          <a:xfrm xmlns:a="http://schemas.openxmlformats.org/drawingml/2006/main">
            <a:off x="609600" y="6076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Растение сообщает о корме. Стратегию и размер группы выбирает животное.</a:t>
            </a:r>
          </a:p>
        </p:txBody>
      </p:sp>
      <p:sp>
        <p:nvSpPr>
          <p:cNvPr id="5" name="">
            <a:extLst xmlns:a="http://schemas.openxmlformats.org/drawingml/2006/main">
              <a:ext uri="{FF2B5EF4-FFF2-40B4-BE49-F238E27FC236}">
                <a16:creationId xmlns:a16="http://schemas.microsoft.com/office/drawing/2014/main" id="{E21745C8-5879-4BB4-8DD3-EFA577CB8639}"/>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[6], [15]</a:t>
            </a:r>
          </a:p>
        </p:txBody>
      </p:sp>
    </p:spTree>
    <p:extLst>
      <p:ext uri="{BB962C8B-B14F-4D97-AF65-F5344CB8AC3E}">
        <p14:creationId xmlns:p14="http://schemas.microsoft.com/office/powerpoint/2010/main" val="2463090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211D61-A712-4F4E-BAC5-5B66A70A6F19}"/>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Защита: переключение с нектара на охоту</a:t>
            </a:r>
          </a:p>
        </p:txBody>
      </p:sp>
      <p:sp>
        <p:nvSpPr>
          <p:cNvPr id="2" name="">
            <a:extLst xmlns:a="http://schemas.openxmlformats.org/drawingml/2006/main">
              <a:ext uri="{FF2B5EF4-FFF2-40B4-BE49-F238E27FC236}">
                <a16:creationId xmlns:a16="http://schemas.microsoft.com/office/drawing/2014/main" id="{8AD8D009-9977-4781-BC90-6BCEEBAB1D6D}"/>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dc962e29c0a4e21"/>
          <a:stretch xmlns:a="http://schemas.openxmlformats.org/drawingml/2006/main"/>
        </p:blipFill>
        <p:spPr>
          <a:xfrm xmlns:a="http://schemas.openxmlformats.org/drawingml/2006/main">
            <a:off x="457200" y="1746250"/>
            <a:ext cx="6334125" cy="4222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6F9D23-9973-4E46-B7F1-FFE0EA11CC74}"/>
              </a:ext>
            </a:extLst>
          </p:cNvPr>
          <p:cNvSpPr>
            <a:spLocks xmlns:a="http://schemas.openxmlformats.org/drawingml/2006/main" noGrp="1"/>
          </p:cNvSpPr>
          <p:nvPr/>
        </p:nvSpPr>
        <p:spPr>
          <a:xfrm xmlns:a="http://schemas.openxmlformats.org/drawingml/2006/main">
            <a:off x="7105650" y="1543050"/>
            <a:ext cx="4476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3B31"/>
                </a:solidFill>
                <a:latin typeface="Arial"/>
                <a:ea typeface="Arial"/>
                <a:cs typeface="Arial"/>
              </a:defRPr>
            </a:pPr>
            <a:r>
              <a:rPr sz="2400" b="1">
                <a:solidFill>
                  <a:srgbClr val="263B31"/>
                </a:solidFill>
                <a:latin typeface="Arial"/>
                <a:ea typeface="Arial"/>
                <a:cs typeface="Arial"/>
              </a:rPr>
              <a:t>Листья повреждают насекомые</a:t>
            </a:r>
          </a:p>
        </p:txBody>
      </p:sp>
      <p:sp>
        <p:nvSpPr>
          <p:cNvPr id="5" name="">
            <a:extLst xmlns:a="http://schemas.openxmlformats.org/drawingml/2006/main">
              <a:ext uri="{FF2B5EF4-FFF2-40B4-BE49-F238E27FC236}">
                <a16:creationId xmlns:a16="http://schemas.microsoft.com/office/drawing/2014/main" id="{5DA674B1-C2A2-4FAC-A05B-89355CE75D38}"/>
              </a:ext>
            </a:extLst>
          </p:cNvPr>
          <p:cNvSpPr>
            <a:spLocks xmlns:a="http://schemas.openxmlformats.org/drawingml/2006/main" noGrp="1"/>
          </p:cNvSpPr>
          <p:nvPr/>
        </p:nvSpPr>
        <p:spPr>
          <a:xfrm xmlns:a="http://schemas.openxmlformats.org/drawingml/2006/main">
            <a:off x="7105650" y="2495550"/>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Растение запускает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особую серию щелчков.</a:t>
            </a:r>
          </a:p>
        </p:txBody>
      </p:sp>
      <p:sp>
        <p:nvSpPr>
          <p:cNvPr id="6" name="">
            <a:extLst xmlns:a="http://schemas.openxmlformats.org/drawingml/2006/main">
              <a:ext uri="{FF2B5EF4-FFF2-40B4-BE49-F238E27FC236}">
                <a16:creationId xmlns:a16="http://schemas.microsoft.com/office/drawing/2014/main" id="{73D8CBB8-65FB-4CFC-9A5D-22B3362102F2}"/>
              </a:ext>
            </a:extLst>
          </p:cNvPr>
          <p:cNvSpPr>
            <a:spLocks xmlns:a="http://schemas.openxmlformats.org/drawingml/2006/main" noGrp="1"/>
          </p:cNvSpPr>
          <p:nvPr/>
        </p:nvSpPr>
        <p:spPr>
          <a:xfrm xmlns:a="http://schemas.openxmlformats.org/drawingml/2006/main">
            <a:off x="7105650" y="36671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3B31"/>
                </a:solidFill>
                <a:latin typeface="Arial"/>
                <a:ea typeface="Arial"/>
                <a:cs typeface="Arial"/>
              </a:defRPr>
            </a:pPr>
            <a:r>
              <a:rPr sz="2400" b="1">
                <a:solidFill>
                  <a:srgbClr val="263B31"/>
                </a:solidFill>
                <a:latin typeface="Arial"/>
                <a:ea typeface="Arial"/>
                <a:cs typeface="Arial"/>
              </a:rPr>
              <a:t>Копьенос ищет добычу</a:t>
            </a:r>
          </a:p>
        </p:txBody>
      </p:sp>
      <p:sp>
        <p:nvSpPr>
          <p:cNvPr id="7" name="">
            <a:extLst xmlns:a="http://schemas.openxmlformats.org/drawingml/2006/main">
              <a:ext uri="{FF2B5EF4-FFF2-40B4-BE49-F238E27FC236}">
                <a16:creationId xmlns:a16="http://schemas.microsoft.com/office/drawing/2014/main" id="{98B33F25-B533-46C7-B45D-417D13DC9976}"/>
              </a:ext>
            </a:extLst>
          </p:cNvPr>
          <p:cNvSpPr>
            <a:spLocks xmlns:a="http://schemas.openxmlformats.org/drawingml/2006/main" noGrp="1"/>
          </p:cNvSpPr>
          <p:nvPr/>
        </p:nvSpPr>
        <p:spPr>
          <a:xfrm xmlns:a="http://schemas.openxmlformats.org/drawingml/2006/main">
            <a:off x="7105650" y="4276725"/>
            <a:ext cx="4476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Меняет маршрут и обследует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листья, где может поймать жука.</a:t>
            </a:r>
          </a:p>
        </p:txBody>
      </p:sp>
      <p:sp>
        <p:nvSpPr>
          <p:cNvPr id="8" name="">
            <a:extLst xmlns:a="http://schemas.openxmlformats.org/drawingml/2006/main">
              <a:ext uri="{FF2B5EF4-FFF2-40B4-BE49-F238E27FC236}">
                <a16:creationId xmlns:a16="http://schemas.microsoft.com/office/drawing/2014/main" id="{E42CA5B7-6385-4D0A-8C5C-CEB4F0832E30}"/>
              </a:ext>
            </a:extLst>
          </p:cNvPr>
          <p:cNvSpPr>
            <a:spLocks xmlns:a="http://schemas.openxmlformats.org/drawingml/2006/main" noGrp="1"/>
          </p:cNvSpPr>
          <p:nvPr/>
        </p:nvSpPr>
        <p:spPr>
          <a:xfrm xmlns:a="http://schemas.openxmlformats.org/drawingml/2006/main">
            <a:off x="609600" y="59531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Гипотеза: поедание растительноядных насекомых уменьшает повреждения.</a:t>
            </a:r>
          </a:p>
        </p:txBody>
      </p:sp>
      <p:sp>
        <p:nvSpPr>
          <p:cNvPr id="9" name="">
            <a:extLst xmlns:a="http://schemas.openxmlformats.org/drawingml/2006/main">
              <a:ext uri="{FF2B5EF4-FFF2-40B4-BE49-F238E27FC236}">
                <a16:creationId xmlns:a16="http://schemas.microsoft.com/office/drawing/2014/main" id="{165D9989-827F-45E6-91B6-F9077CABAF38}"/>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[15]</a:t>
            </a:r>
          </a:p>
        </p:txBody>
      </p:sp>
    </p:spTree>
    <p:extLst>
      <p:ext uri="{BB962C8B-B14F-4D97-AF65-F5344CB8AC3E}">
        <p14:creationId xmlns:p14="http://schemas.microsoft.com/office/powerpoint/2010/main" val="12889282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4C07F9D-A3A9-49B5-98BC-A986F79C8663}"/>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Звуковой орган: видоизменённый прицветник</a:t>
            </a:r>
          </a:p>
        </p:txBody>
      </p:sp>
      <p:sp>
        <p:nvSpPr>
          <p:cNvPr id="2" name="">
            <a:extLst xmlns:a="http://schemas.openxmlformats.org/drawingml/2006/main">
              <a:ext uri="{FF2B5EF4-FFF2-40B4-BE49-F238E27FC236}">
                <a16:creationId xmlns:a16="http://schemas.microsoft.com/office/drawing/2014/main" id="{95B823F3-CC2D-4745-8879-DA43269782AC}"/>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14</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a3b0bb60236540b4"/>
          <a:stretch xmlns:a="http://schemas.openxmlformats.org/drawingml/2006/main"/>
        </p:blipFill>
        <p:spPr>
          <a:xfrm xmlns:a="http://schemas.openxmlformats.org/drawingml/2006/main">
            <a:off x="728663" y="1504950"/>
            <a:ext cx="6019800" cy="45148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0DFCFA3-4763-4B7A-8062-E7F06524DB49}"/>
              </a:ext>
            </a:extLst>
          </p:cNvPr>
          <p:cNvSpPr>
            <a:spLocks xmlns:a="http://schemas.openxmlformats.org/drawingml/2006/main" noGrp="1"/>
          </p:cNvSpPr>
          <p:nvPr/>
        </p:nvSpPr>
        <p:spPr>
          <a:xfrm xmlns:a="http://schemas.openxmlformats.org/drawingml/2006/main">
            <a:off x="7086600" y="150495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47705A"/>
                </a:solidFill>
                <a:latin typeface="Arial"/>
                <a:ea typeface="Arial"/>
                <a:cs typeface="Arial"/>
              </a:defRPr>
            </a:pPr>
            <a:r>
              <a:rPr sz="2100" b="1">
                <a:solidFill>
                  <a:srgbClr val="47705A"/>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656FD235-FC5A-4F0A-84AB-6E27CE61C7DB}"/>
              </a:ext>
            </a:extLst>
          </p:cNvPr>
          <p:cNvSpPr>
            <a:spLocks xmlns:a="http://schemas.openxmlformats.org/drawingml/2006/main" noGrp="1"/>
          </p:cNvSpPr>
          <p:nvPr/>
        </p:nvSpPr>
        <p:spPr>
          <a:xfrm xmlns:a="http://schemas.openxmlformats.org/drawingml/2006/main">
            <a:off x="7467600" y="1504950"/>
            <a:ext cx="4114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Пластинка и ободок</a:t>
            </a:r>
          </a:p>
        </p:txBody>
      </p:sp>
      <p:sp>
        <p:nvSpPr>
          <p:cNvPr id="6" name="">
            <a:extLst xmlns:a="http://schemas.openxmlformats.org/drawingml/2006/main">
              <a:ext uri="{FF2B5EF4-FFF2-40B4-BE49-F238E27FC236}">
                <a16:creationId xmlns:a16="http://schemas.microsoft.com/office/drawing/2014/main" id="{983D13B0-1CB4-452F-A495-ED2F6312B1CF}"/>
              </a:ext>
            </a:extLst>
          </p:cNvPr>
          <p:cNvSpPr>
            <a:spLocks xmlns:a="http://schemas.openxmlformats.org/drawingml/2006/main" noGrp="1"/>
          </p:cNvSpPr>
          <p:nvPr/>
        </p:nvSpPr>
        <p:spPr>
          <a:xfrm xmlns:a="http://schemas.openxmlformats.org/drawingml/2006/main">
            <a:off x="7467600" y="1885950"/>
            <a:ext cx="4114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Мёртвые волокна склеренхимы.</a:t>
            </a:r>
          </a:p>
        </p:txBody>
      </p:sp>
      <p:sp>
        <p:nvSpPr>
          <p:cNvPr id="7" name="">
            <a:extLst xmlns:a="http://schemas.openxmlformats.org/drawingml/2006/main">
              <a:ext uri="{FF2B5EF4-FFF2-40B4-BE49-F238E27FC236}">
                <a16:creationId xmlns:a16="http://schemas.microsoft.com/office/drawing/2014/main" id="{824B6A01-1FDA-4725-835E-3511C63BA2A2}"/>
              </a:ext>
            </a:extLst>
          </p:cNvPr>
          <p:cNvSpPr>
            <a:spLocks xmlns:a="http://schemas.openxmlformats.org/drawingml/2006/main" noGrp="1"/>
          </p:cNvSpPr>
          <p:nvPr/>
        </p:nvSpPr>
        <p:spPr>
          <a:xfrm xmlns:a="http://schemas.openxmlformats.org/drawingml/2006/main">
            <a:off x="7086600" y="238125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47705A"/>
                </a:solidFill>
                <a:latin typeface="Arial"/>
                <a:ea typeface="Arial"/>
                <a:cs typeface="Arial"/>
              </a:defRPr>
            </a:pPr>
            <a:r>
              <a:rPr sz="2100" b="1">
                <a:solidFill>
                  <a:srgbClr val="47705A"/>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C81D90E0-5F1C-4F53-8C32-8CE9722561B0}"/>
              </a:ext>
            </a:extLst>
          </p:cNvPr>
          <p:cNvSpPr>
            <a:spLocks xmlns:a="http://schemas.openxmlformats.org/drawingml/2006/main" noGrp="1"/>
          </p:cNvSpPr>
          <p:nvPr/>
        </p:nvSpPr>
        <p:spPr>
          <a:xfrm xmlns:a="http://schemas.openxmlformats.org/drawingml/2006/main">
            <a:off x="7467600" y="2381250"/>
            <a:ext cx="4114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Тяж и рычаг</a:t>
            </a:r>
          </a:p>
        </p:txBody>
      </p:sp>
      <p:sp>
        <p:nvSpPr>
          <p:cNvPr id="9" name="">
            <a:extLst xmlns:a="http://schemas.openxmlformats.org/drawingml/2006/main">
              <a:ext uri="{FF2B5EF4-FFF2-40B4-BE49-F238E27FC236}">
                <a16:creationId xmlns:a16="http://schemas.microsoft.com/office/drawing/2014/main" id="{73A2FB41-D3F3-4D55-B54F-19766394A029}"/>
              </a:ext>
            </a:extLst>
          </p:cNvPr>
          <p:cNvSpPr>
            <a:spLocks xmlns:a="http://schemas.openxmlformats.org/drawingml/2006/main" noGrp="1"/>
          </p:cNvSpPr>
          <p:nvPr/>
        </p:nvSpPr>
        <p:spPr>
          <a:xfrm xmlns:a="http://schemas.openxmlformats.org/drawingml/2006/main">
            <a:off x="7467600" y="2762250"/>
            <a:ext cx="4114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Жилка передаёт усилие.</a:t>
            </a:r>
          </a:p>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Гибкий шарнир — колленхима.</a:t>
            </a:r>
          </a:p>
        </p:txBody>
      </p:sp>
      <p:sp>
        <p:nvSpPr>
          <p:cNvPr id="10" name="">
            <a:extLst xmlns:a="http://schemas.openxmlformats.org/drawingml/2006/main">
              <a:ext uri="{FF2B5EF4-FFF2-40B4-BE49-F238E27FC236}">
                <a16:creationId xmlns:a16="http://schemas.microsoft.com/office/drawing/2014/main" id="{BA56CCEC-2045-40AC-9A97-72803B67126E}"/>
              </a:ext>
            </a:extLst>
          </p:cNvPr>
          <p:cNvSpPr>
            <a:spLocks xmlns:a="http://schemas.openxmlformats.org/drawingml/2006/main" noGrp="1"/>
          </p:cNvSpPr>
          <p:nvPr/>
        </p:nvSpPr>
        <p:spPr>
          <a:xfrm xmlns:a="http://schemas.openxmlformats.org/drawingml/2006/main">
            <a:off x="7086600" y="337185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47705A"/>
                </a:solidFill>
                <a:latin typeface="Arial"/>
                <a:ea typeface="Arial"/>
                <a:cs typeface="Arial"/>
              </a:defRPr>
            </a:pPr>
            <a:r>
              <a:rPr sz="2100" b="1">
                <a:solidFill>
                  <a:srgbClr val="47705A"/>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C3B5786B-ED89-47E3-8B25-9E9B01557C28}"/>
              </a:ext>
            </a:extLst>
          </p:cNvPr>
          <p:cNvSpPr>
            <a:spLocks xmlns:a="http://schemas.openxmlformats.org/drawingml/2006/main" noGrp="1"/>
          </p:cNvSpPr>
          <p:nvPr/>
        </p:nvSpPr>
        <p:spPr>
          <a:xfrm xmlns:a="http://schemas.openxmlformats.org/drawingml/2006/main">
            <a:off x="7467600" y="3371850"/>
            <a:ext cx="4114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Двигательная подушка</a:t>
            </a:r>
          </a:p>
        </p:txBody>
      </p:sp>
      <p:sp>
        <p:nvSpPr>
          <p:cNvPr id="12" name="">
            <a:extLst xmlns:a="http://schemas.openxmlformats.org/drawingml/2006/main">
              <a:ext uri="{FF2B5EF4-FFF2-40B4-BE49-F238E27FC236}">
                <a16:creationId xmlns:a16="http://schemas.microsoft.com/office/drawing/2014/main" id="{03A440C6-E360-4229-89A2-289698691EFD}"/>
              </a:ext>
            </a:extLst>
          </p:cNvPr>
          <p:cNvSpPr>
            <a:spLocks xmlns:a="http://schemas.openxmlformats.org/drawingml/2006/main" noGrp="1"/>
          </p:cNvSpPr>
          <p:nvPr/>
        </p:nvSpPr>
        <p:spPr>
          <a:xfrm xmlns:a="http://schemas.openxmlformats.org/drawingml/2006/main">
            <a:off x="7467600" y="3752850"/>
            <a:ext cx="4114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Живая паренхима над рычагом.</a:t>
            </a:r>
          </a:p>
        </p:txBody>
      </p:sp>
      <p:sp>
        <p:nvSpPr>
          <p:cNvPr id="13" name="">
            <a:extLst xmlns:a="http://schemas.openxmlformats.org/drawingml/2006/main">
              <a:ext uri="{FF2B5EF4-FFF2-40B4-BE49-F238E27FC236}">
                <a16:creationId xmlns:a16="http://schemas.microsoft.com/office/drawing/2014/main" id="{AA825421-DBC2-450B-938D-EC4E8A0FF9AC}"/>
              </a:ext>
            </a:extLst>
          </p:cNvPr>
          <p:cNvSpPr>
            <a:spLocks xmlns:a="http://schemas.openxmlformats.org/drawingml/2006/main" noGrp="1"/>
          </p:cNvSpPr>
          <p:nvPr/>
        </p:nvSpPr>
        <p:spPr>
          <a:xfrm xmlns:a="http://schemas.openxmlformats.org/drawingml/2006/main">
            <a:off x="7086600" y="424815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47705A"/>
                </a:solidFill>
                <a:latin typeface="Arial"/>
                <a:ea typeface="Arial"/>
                <a:cs typeface="Arial"/>
              </a:defRPr>
            </a:pPr>
            <a:r>
              <a:rPr sz="2100" b="1">
                <a:solidFill>
                  <a:srgbClr val="47705A"/>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EC12AC32-6430-47E2-8F6F-DF0277300392}"/>
              </a:ext>
            </a:extLst>
          </p:cNvPr>
          <p:cNvSpPr>
            <a:spLocks xmlns:a="http://schemas.openxmlformats.org/drawingml/2006/main" noGrp="1"/>
          </p:cNvSpPr>
          <p:nvPr/>
        </p:nvSpPr>
        <p:spPr>
          <a:xfrm xmlns:a="http://schemas.openxmlformats.org/drawingml/2006/main">
            <a:off x="7467600" y="4248150"/>
            <a:ext cx="4114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Упор и спусковой участок</a:t>
            </a:r>
          </a:p>
        </p:txBody>
      </p:sp>
      <p:sp>
        <p:nvSpPr>
          <p:cNvPr id="15" name="">
            <a:extLst xmlns:a="http://schemas.openxmlformats.org/drawingml/2006/main">
              <a:ext uri="{FF2B5EF4-FFF2-40B4-BE49-F238E27FC236}">
                <a16:creationId xmlns:a16="http://schemas.microsoft.com/office/drawing/2014/main" id="{E8E1028F-C20E-45F5-8C4F-FA3E151B6A70}"/>
              </a:ext>
            </a:extLst>
          </p:cNvPr>
          <p:cNvSpPr>
            <a:spLocks xmlns:a="http://schemas.openxmlformats.org/drawingml/2006/main" noGrp="1"/>
          </p:cNvSpPr>
          <p:nvPr/>
        </p:nvSpPr>
        <p:spPr>
          <a:xfrm xmlns:a="http://schemas.openxmlformats.org/drawingml/2006/main">
            <a:off x="7467600" y="4629150"/>
            <a:ext cx="4114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Жёсткий упор удерживает рычаг;</a:t>
            </a:r>
          </a:p>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живые клетки управляют отводом.</a:t>
            </a:r>
          </a:p>
        </p:txBody>
      </p:sp>
      <p:sp>
        <p:nvSpPr>
          <p:cNvPr id="16" name="">
            <a:extLst xmlns:a="http://schemas.openxmlformats.org/drawingml/2006/main">
              <a:ext uri="{FF2B5EF4-FFF2-40B4-BE49-F238E27FC236}">
                <a16:creationId xmlns:a16="http://schemas.microsoft.com/office/drawing/2014/main" id="{01DBE90B-BF1F-4236-977E-BBE881EAD307}"/>
              </a:ext>
            </a:extLst>
          </p:cNvPr>
          <p:cNvSpPr>
            <a:spLocks xmlns:a="http://schemas.openxmlformats.org/drawingml/2006/main" noGrp="1"/>
          </p:cNvSpPr>
          <p:nvPr/>
        </p:nvSpPr>
        <p:spPr>
          <a:xfrm xmlns:a="http://schemas.openxmlformats.org/drawingml/2006/main">
            <a:off x="7086600" y="5314950"/>
            <a:ext cx="323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47705A"/>
                </a:solidFill>
                <a:latin typeface="Arial"/>
                <a:ea typeface="Arial"/>
                <a:cs typeface="Arial"/>
              </a:defRPr>
            </a:pPr>
            <a:r>
              <a:rPr sz="2100" b="1">
                <a:solidFill>
                  <a:srgbClr val="47705A"/>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D6DE40B7-7C65-4AF2-AD5D-B8C5760E3FB0}"/>
              </a:ext>
            </a:extLst>
          </p:cNvPr>
          <p:cNvSpPr>
            <a:spLocks xmlns:a="http://schemas.openxmlformats.org/drawingml/2006/main" noGrp="1"/>
          </p:cNvSpPr>
          <p:nvPr/>
        </p:nvSpPr>
        <p:spPr>
          <a:xfrm xmlns:a="http://schemas.openxmlformats.org/drawingml/2006/main">
            <a:off x="7467600" y="5314950"/>
            <a:ext cx="4114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Снабжение и покров</a:t>
            </a:r>
          </a:p>
        </p:txBody>
      </p:sp>
      <p:sp>
        <p:nvSpPr>
          <p:cNvPr id="18" name="">
            <a:extLst xmlns:a="http://schemas.openxmlformats.org/drawingml/2006/main">
              <a:ext uri="{FF2B5EF4-FFF2-40B4-BE49-F238E27FC236}">
                <a16:creationId xmlns:a16="http://schemas.microsoft.com/office/drawing/2014/main" id="{85867E5E-C1CC-486C-BCD1-708055F9369C}"/>
              </a:ext>
            </a:extLst>
          </p:cNvPr>
          <p:cNvSpPr>
            <a:spLocks xmlns:a="http://schemas.openxmlformats.org/drawingml/2006/main" noGrp="1"/>
          </p:cNvSpPr>
          <p:nvPr/>
        </p:nvSpPr>
        <p:spPr>
          <a:xfrm xmlns:a="http://schemas.openxmlformats.org/drawingml/2006/main">
            <a:off x="7467600" y="5695950"/>
            <a:ext cx="4114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Ксилема — вода; флоэма — сахара.</a:t>
            </a:r>
          </a:p>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Покров — эпидерма с кутикулой.</a:t>
            </a:r>
          </a:p>
        </p:txBody>
      </p:sp>
      <p:sp>
        <p:nvSpPr>
          <p:cNvPr id="19" name="">
            <a:extLst xmlns:a="http://schemas.openxmlformats.org/drawingml/2006/main">
              <a:ext uri="{FF2B5EF4-FFF2-40B4-BE49-F238E27FC236}">
                <a16:creationId xmlns:a16="http://schemas.microsoft.com/office/drawing/2014/main" id="{1564ED5A-8950-4CD0-A6E0-61350A17A679}"/>
              </a:ext>
            </a:extLst>
          </p:cNvPr>
          <p:cNvSpPr>
            <a:spLocks xmlns:a="http://schemas.openxmlformats.org/drawingml/2006/main" noGrp="1"/>
          </p:cNvSpPr>
          <p:nvPr/>
        </p:nvSpPr>
        <p:spPr>
          <a:xfrm xmlns:a="http://schemas.openxmlformats.org/drawingml/2006/main">
            <a:off x="3895725" y="2238375"/>
            <a:ext cx="304800" cy="304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47705A"/>
            </a:solidFill>
          </a:ln>
        </p:spPr>
      </p:sp>
      <p:sp>
        <p:nvSpPr>
          <p:cNvPr id="20" name="">
            <a:extLst xmlns:a="http://schemas.openxmlformats.org/drawingml/2006/main">
              <a:ext uri="{FF2B5EF4-FFF2-40B4-BE49-F238E27FC236}">
                <a16:creationId xmlns:a16="http://schemas.microsoft.com/office/drawing/2014/main" id="{E5188E40-80D0-4446-8419-CE94593A56B3}"/>
              </a:ext>
            </a:extLst>
          </p:cNvPr>
          <p:cNvSpPr>
            <a:spLocks xmlns:a="http://schemas.openxmlformats.org/drawingml/2006/main" noGrp="1"/>
          </p:cNvSpPr>
          <p:nvPr/>
        </p:nvSpPr>
        <p:spPr>
          <a:xfrm xmlns:a="http://schemas.openxmlformats.org/drawingml/2006/main">
            <a:off x="3933825" y="225742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47705A"/>
                </a:solidFill>
                <a:latin typeface="Arial"/>
                <a:ea typeface="Arial"/>
                <a:cs typeface="Arial"/>
              </a:defRPr>
            </a:pPr>
            <a:r>
              <a:rPr sz="1725" b="1">
                <a:solidFill>
                  <a:srgbClr val="47705A"/>
                </a:solidFill>
                <a:latin typeface="Arial"/>
                <a:ea typeface="Arial"/>
                <a:cs typeface="Arial"/>
              </a:rPr>
              <a:t>1</a:t>
            </a:r>
          </a:p>
        </p:txBody>
      </p:sp>
      <p:sp>
        <p:nvSpPr>
          <p:cNvPr id="21" name="">
            <a:extLst xmlns:a="http://schemas.openxmlformats.org/drawingml/2006/main">
              <a:ext uri="{FF2B5EF4-FFF2-40B4-BE49-F238E27FC236}">
                <a16:creationId xmlns:a16="http://schemas.microsoft.com/office/drawing/2014/main" id="{CBE31743-05E3-454C-BB54-20F0E00A13EC}"/>
              </a:ext>
            </a:extLst>
          </p:cNvPr>
          <p:cNvSpPr>
            <a:spLocks xmlns:a="http://schemas.openxmlformats.org/drawingml/2006/main" noGrp="1"/>
          </p:cNvSpPr>
          <p:nvPr/>
        </p:nvSpPr>
        <p:spPr>
          <a:xfrm xmlns:a="http://schemas.openxmlformats.org/drawingml/2006/main">
            <a:off x="4295775" y="2724150"/>
            <a:ext cx="304800" cy="304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47705A"/>
            </a:solidFill>
          </a:ln>
        </p:spPr>
      </p:sp>
      <p:sp>
        <p:nvSpPr>
          <p:cNvPr id="22" name="">
            <a:extLst xmlns:a="http://schemas.openxmlformats.org/drawingml/2006/main">
              <a:ext uri="{FF2B5EF4-FFF2-40B4-BE49-F238E27FC236}">
                <a16:creationId xmlns:a16="http://schemas.microsoft.com/office/drawing/2014/main" id="{2E025533-8C29-41E8-98C6-D5ECBE5F2C7B}"/>
              </a:ext>
            </a:extLst>
          </p:cNvPr>
          <p:cNvSpPr>
            <a:spLocks xmlns:a="http://schemas.openxmlformats.org/drawingml/2006/main" noGrp="1"/>
          </p:cNvSpPr>
          <p:nvPr/>
        </p:nvSpPr>
        <p:spPr>
          <a:xfrm xmlns:a="http://schemas.openxmlformats.org/drawingml/2006/main">
            <a:off x="4333875" y="2743200"/>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47705A"/>
                </a:solidFill>
                <a:latin typeface="Arial"/>
                <a:ea typeface="Arial"/>
                <a:cs typeface="Arial"/>
              </a:defRPr>
            </a:pPr>
            <a:r>
              <a:rPr sz="1725" b="1">
                <a:solidFill>
                  <a:srgbClr val="47705A"/>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1EF7C821-9579-4DFE-95BC-30BD9E8EA52F}"/>
              </a:ext>
            </a:extLst>
          </p:cNvPr>
          <p:cNvSpPr>
            <a:spLocks xmlns:a="http://schemas.openxmlformats.org/drawingml/2006/main" noGrp="1"/>
          </p:cNvSpPr>
          <p:nvPr/>
        </p:nvSpPr>
        <p:spPr>
          <a:xfrm xmlns:a="http://schemas.openxmlformats.org/drawingml/2006/main">
            <a:off x="3257550" y="3057525"/>
            <a:ext cx="304800" cy="304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47705A"/>
            </a:solidFill>
          </a:ln>
        </p:spPr>
      </p:sp>
      <p:sp>
        <p:nvSpPr>
          <p:cNvPr id="24" name="">
            <a:extLst xmlns:a="http://schemas.openxmlformats.org/drawingml/2006/main">
              <a:ext uri="{FF2B5EF4-FFF2-40B4-BE49-F238E27FC236}">
                <a16:creationId xmlns:a16="http://schemas.microsoft.com/office/drawing/2014/main" id="{F223CF81-3B57-497F-9A66-A539978CC318}"/>
              </a:ext>
            </a:extLst>
          </p:cNvPr>
          <p:cNvSpPr>
            <a:spLocks xmlns:a="http://schemas.openxmlformats.org/drawingml/2006/main" noGrp="1"/>
          </p:cNvSpPr>
          <p:nvPr/>
        </p:nvSpPr>
        <p:spPr>
          <a:xfrm xmlns:a="http://schemas.openxmlformats.org/drawingml/2006/main">
            <a:off x="3295650" y="30765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47705A"/>
                </a:solidFill>
                <a:latin typeface="Arial"/>
                <a:ea typeface="Arial"/>
                <a:cs typeface="Arial"/>
              </a:defRPr>
            </a:pPr>
            <a:r>
              <a:rPr sz="1725" b="1">
                <a:solidFill>
                  <a:srgbClr val="47705A"/>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D1344F9E-D31A-4037-9F9A-3F639C72F501}"/>
              </a:ext>
            </a:extLst>
          </p:cNvPr>
          <p:cNvSpPr>
            <a:spLocks xmlns:a="http://schemas.openxmlformats.org/drawingml/2006/main" noGrp="1"/>
          </p:cNvSpPr>
          <p:nvPr/>
        </p:nvSpPr>
        <p:spPr>
          <a:xfrm xmlns:a="http://schemas.openxmlformats.org/drawingml/2006/main">
            <a:off x="4533900" y="3324225"/>
            <a:ext cx="304800" cy="304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47705A"/>
            </a:solidFill>
          </a:ln>
        </p:spPr>
      </p:sp>
      <p:sp>
        <p:nvSpPr>
          <p:cNvPr id="26" name="">
            <a:extLst xmlns:a="http://schemas.openxmlformats.org/drawingml/2006/main">
              <a:ext uri="{FF2B5EF4-FFF2-40B4-BE49-F238E27FC236}">
                <a16:creationId xmlns:a16="http://schemas.microsoft.com/office/drawing/2014/main" id="{F89C752E-97C8-4502-9378-D06DF1CE83BE}"/>
              </a:ext>
            </a:extLst>
          </p:cNvPr>
          <p:cNvSpPr>
            <a:spLocks xmlns:a="http://schemas.openxmlformats.org/drawingml/2006/main" noGrp="1"/>
          </p:cNvSpPr>
          <p:nvPr/>
        </p:nvSpPr>
        <p:spPr>
          <a:xfrm xmlns:a="http://schemas.openxmlformats.org/drawingml/2006/main">
            <a:off x="4572000" y="334327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47705A"/>
                </a:solidFill>
                <a:latin typeface="Arial"/>
                <a:ea typeface="Arial"/>
                <a:cs typeface="Arial"/>
              </a:defRPr>
            </a:pPr>
            <a:r>
              <a:rPr sz="1725" b="1">
                <a:solidFill>
                  <a:srgbClr val="47705A"/>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676EDD1A-3603-4AE9-A6EA-85B70E185214}"/>
              </a:ext>
            </a:extLst>
          </p:cNvPr>
          <p:cNvSpPr>
            <a:spLocks xmlns:a="http://schemas.openxmlformats.org/drawingml/2006/main" noGrp="1"/>
          </p:cNvSpPr>
          <p:nvPr/>
        </p:nvSpPr>
        <p:spPr>
          <a:xfrm xmlns:a="http://schemas.openxmlformats.org/drawingml/2006/main">
            <a:off x="2352675" y="3724275"/>
            <a:ext cx="304800" cy="304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47705A"/>
            </a:solidFill>
          </a:ln>
        </p:spPr>
      </p:sp>
      <p:sp>
        <p:nvSpPr>
          <p:cNvPr id="28" name="">
            <a:extLst xmlns:a="http://schemas.openxmlformats.org/drawingml/2006/main">
              <a:ext uri="{FF2B5EF4-FFF2-40B4-BE49-F238E27FC236}">
                <a16:creationId xmlns:a16="http://schemas.microsoft.com/office/drawing/2014/main" id="{99C1C2F5-8116-4C4C-A34B-1D637C539202}"/>
              </a:ext>
            </a:extLst>
          </p:cNvPr>
          <p:cNvSpPr>
            <a:spLocks xmlns:a="http://schemas.openxmlformats.org/drawingml/2006/main" noGrp="1"/>
          </p:cNvSpPr>
          <p:nvPr/>
        </p:nvSpPr>
        <p:spPr>
          <a:xfrm xmlns:a="http://schemas.openxmlformats.org/drawingml/2006/main">
            <a:off x="2390775" y="3743325"/>
            <a:ext cx="22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47705A"/>
                </a:solidFill>
                <a:latin typeface="Arial"/>
                <a:ea typeface="Arial"/>
                <a:cs typeface="Arial"/>
              </a:defRPr>
            </a:pPr>
            <a:r>
              <a:rPr sz="1725" b="1">
                <a:solidFill>
                  <a:srgbClr val="47705A"/>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43D9E6BE-685A-4C33-BE3D-0F37BAF7AAC6}"/>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[19], [20], [21]</a:t>
            </a:r>
          </a:p>
        </p:txBody>
      </p:sp>
    </p:spTree>
    <p:extLst>
      <p:ext uri="{BB962C8B-B14F-4D97-AF65-F5344CB8AC3E}">
        <p14:creationId xmlns:p14="http://schemas.microsoft.com/office/powerpoint/2010/main" val="20100665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11" idx="3"/>
            <a:endCxn xmlns:a="http://schemas.openxmlformats.org/drawingml/2006/main" id="12" idx="1"/>
          </p:cNvCxnSpPr>
          <p:nvPr/>
        </p:nvCxnSpPr>
        <p:spPr>
          <a:xfrm xmlns:a="http://schemas.openxmlformats.org/drawingml/2006/main">
            <a:off x="5819775" y="4929188"/>
            <a:ext cx="561975"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7" name=""/>
          <p:cNvCxnSpPr>
            <a:stCxn xmlns:a="http://schemas.openxmlformats.org/drawingml/2006/main" id="4" idx="3"/>
            <a:endCxn xmlns:a="http://schemas.openxmlformats.org/drawingml/2006/main" id="6" idx="1"/>
          </p:cNvCxnSpPr>
          <p:nvPr/>
        </p:nvCxnSpPr>
        <p:spPr>
          <a:xfrm xmlns:a="http://schemas.openxmlformats.org/drawingml/2006/main">
            <a:off x="7781925" y="2162175"/>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981450" y="2162175"/>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9" name="">
            <a:extLst xmlns:a="http://schemas.openxmlformats.org/drawingml/2006/main">
              <a:ext uri="{FF2B5EF4-FFF2-40B4-BE49-F238E27FC236}">
                <a16:creationId xmlns:a16="http://schemas.microsoft.com/office/drawing/2014/main" id="{22596D0B-D508-45E7-A3F7-4BAEB118A6D1}"/>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Осмос натягивает пластинку</a:t>
            </a:r>
          </a:p>
        </p:txBody>
      </p:sp>
      <p:sp>
        <p:nvSpPr>
          <p:cNvPr id="2" name="">
            <a:extLst xmlns:a="http://schemas.openxmlformats.org/drawingml/2006/main">
              <a:ext uri="{FF2B5EF4-FFF2-40B4-BE49-F238E27FC236}">
                <a16:creationId xmlns:a16="http://schemas.microsoft.com/office/drawing/2014/main" id="{B6DC6386-ADF1-4041-A6D8-1DC9AB6E16C5}"/>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D588F160-9582-466C-961E-F45202F5E9AD}"/>
              </a:ext>
            </a:extLst>
          </p:cNvPr>
          <p:cNvSpPr>
            <a:spLocks xmlns:a="http://schemas.openxmlformats.org/drawingml/2006/main" noGrp="1"/>
          </p:cNvSpPr>
          <p:nvPr/>
        </p:nvSpPr>
        <p:spPr>
          <a:xfrm xmlns:a="http://schemas.openxmlformats.org/drawingml/2006/main">
            <a:off x="609600" y="1666875"/>
            <a:ext cx="3371850" cy="990600"/>
          </a:xfrm>
          <a:prstGeom xmlns:a="http://schemas.openxmlformats.org/drawingml/2006/main" prst="roundRect">
            <a:avLst>
              <a:gd name="adj" fmla="val 15385"/>
            </a:avLst>
          </a:prstGeom>
          <a:solidFill xmlns:a="http://schemas.openxmlformats.org/drawingml/2006/main">
            <a:srgbClr val="F6E7D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Накопление</a:t>
            </a:r>
          </a:p>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ионов</a:t>
            </a:r>
          </a:p>
        </p:txBody>
      </p:sp>
      <p:sp>
        <p:nvSpPr>
          <p:cNvPr id="4" name="">
            <a:extLst xmlns:a="http://schemas.openxmlformats.org/drawingml/2006/main">
              <a:ext uri="{FF2B5EF4-FFF2-40B4-BE49-F238E27FC236}">
                <a16:creationId xmlns:a16="http://schemas.microsoft.com/office/drawing/2014/main" id="{515C069B-8D83-4E12-8234-545A772BE39C}"/>
              </a:ext>
            </a:extLst>
          </p:cNvPr>
          <p:cNvSpPr>
            <a:spLocks xmlns:a="http://schemas.openxmlformats.org/drawingml/2006/main" noGrp="1"/>
          </p:cNvSpPr>
          <p:nvPr/>
        </p:nvSpPr>
        <p:spPr>
          <a:xfrm xmlns:a="http://schemas.openxmlformats.org/drawingml/2006/main">
            <a:off x="4410075" y="1666875"/>
            <a:ext cx="3371850" cy="990600"/>
          </a:xfrm>
          <a:prstGeom xmlns:a="http://schemas.openxmlformats.org/drawingml/2006/main" prst="roundRect">
            <a:avLst>
              <a:gd name="adj" fmla="val 15385"/>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Приток воды</a:t>
            </a:r>
          </a:p>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через мембраны</a:t>
            </a:r>
          </a:p>
        </p:txBody>
      </p:sp>
      <p:sp>
        <p:nvSpPr>
          <p:cNvPr id="6" name="">
            <a:extLst xmlns:a="http://schemas.openxmlformats.org/drawingml/2006/main">
              <a:ext uri="{FF2B5EF4-FFF2-40B4-BE49-F238E27FC236}">
                <a16:creationId xmlns:a16="http://schemas.microsoft.com/office/drawing/2014/main" id="{8038FAAE-FE93-4BDD-9F86-B32AACE399DD}"/>
              </a:ext>
            </a:extLst>
          </p:cNvPr>
          <p:cNvSpPr>
            <a:spLocks xmlns:a="http://schemas.openxmlformats.org/drawingml/2006/main" noGrp="1"/>
          </p:cNvSpPr>
          <p:nvPr/>
        </p:nvSpPr>
        <p:spPr>
          <a:xfrm xmlns:a="http://schemas.openxmlformats.org/drawingml/2006/main">
            <a:off x="8210550" y="1666875"/>
            <a:ext cx="3371850" cy="990600"/>
          </a:xfrm>
          <a:prstGeom xmlns:a="http://schemas.openxmlformats.org/drawingml/2006/main" prst="roundRect">
            <a:avLst>
              <a:gd name="adj" fmla="val 15385"/>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Расширение</a:t>
            </a:r>
          </a:p>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живых клеток</a:t>
            </a:r>
          </a:p>
        </p:txBody>
      </p:sp>
      <p:sp>
        <p:nvSpPr>
          <p:cNvPr id="8" name="">
            <a:extLst xmlns:a="http://schemas.openxmlformats.org/drawingml/2006/main">
              <a:ext uri="{FF2B5EF4-FFF2-40B4-BE49-F238E27FC236}">
                <a16:creationId xmlns:a16="http://schemas.microsoft.com/office/drawing/2014/main" id="{809357D8-92D2-4F9C-9916-CA046B70C844}"/>
              </a:ext>
            </a:extLst>
          </p:cNvPr>
          <p:cNvSpPr>
            <a:spLocks xmlns:a="http://schemas.openxmlformats.org/drawingml/2006/main" noGrp="1"/>
          </p:cNvSpPr>
          <p:nvPr/>
        </p:nvSpPr>
        <p:spPr>
          <a:xfrm xmlns:a="http://schemas.openxmlformats.org/drawingml/2006/main">
            <a:off x="704850" y="2905125"/>
            <a:ext cx="3333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Насосы и переносчики</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увеличивают содержание</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растворённых веществ.</a:t>
            </a:r>
          </a:p>
        </p:txBody>
      </p:sp>
      <p:sp>
        <p:nvSpPr>
          <p:cNvPr id="9" name="">
            <a:extLst xmlns:a="http://schemas.openxmlformats.org/drawingml/2006/main">
              <a:ext uri="{FF2B5EF4-FFF2-40B4-BE49-F238E27FC236}">
                <a16:creationId xmlns:a16="http://schemas.microsoft.com/office/drawing/2014/main" id="{E925E9D3-B1AA-43D0-A009-FCFCACEFADC5}"/>
              </a:ext>
            </a:extLst>
          </p:cNvPr>
          <p:cNvSpPr>
            <a:spLocks xmlns:a="http://schemas.openxmlformats.org/drawingml/2006/main" noGrp="1"/>
          </p:cNvSpPr>
          <p:nvPr/>
        </p:nvSpPr>
        <p:spPr>
          <a:xfrm xmlns:a="http://schemas.openxmlformats.org/drawingml/2006/main">
            <a:off x="4591050" y="2905125"/>
            <a:ext cx="3333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Вода входит осмотически;</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аквапорины облегчают</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её прохождение.</a:t>
            </a:r>
          </a:p>
        </p:txBody>
      </p:sp>
      <p:sp>
        <p:nvSpPr>
          <p:cNvPr id="10" name="">
            <a:extLst xmlns:a="http://schemas.openxmlformats.org/drawingml/2006/main">
              <a:ext uri="{FF2B5EF4-FFF2-40B4-BE49-F238E27FC236}">
                <a16:creationId xmlns:a16="http://schemas.microsoft.com/office/drawing/2014/main" id="{7E28FF73-BF2C-4610-9174-913505512572}"/>
              </a:ext>
            </a:extLst>
          </p:cNvPr>
          <p:cNvSpPr>
            <a:spLocks xmlns:a="http://schemas.openxmlformats.org/drawingml/2006/main" noGrp="1"/>
          </p:cNvSpPr>
          <p:nvPr/>
        </p:nvSpPr>
        <p:spPr>
          <a:xfrm xmlns:a="http://schemas.openxmlformats.org/drawingml/2006/main">
            <a:off x="8458200" y="2905125"/>
            <a:ext cx="31242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Тургорная подушка</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давит на рычаг сверху.</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Тяж натягивает пластинку.</a:t>
            </a:r>
          </a:p>
        </p:txBody>
      </p:sp>
      <p:sp>
        <p:nvSpPr>
          <p:cNvPr id="11" name="">
            <a:extLst xmlns:a="http://schemas.openxmlformats.org/drawingml/2006/main">
              <a:ext uri="{FF2B5EF4-FFF2-40B4-BE49-F238E27FC236}">
                <a16:creationId xmlns:a16="http://schemas.microsoft.com/office/drawing/2014/main" id="{36891CB3-7155-46EE-A86D-76F83ACED5FF}"/>
              </a:ext>
            </a:extLst>
          </p:cNvPr>
          <p:cNvSpPr>
            <a:spLocks xmlns:a="http://schemas.openxmlformats.org/drawingml/2006/main" noGrp="1"/>
          </p:cNvSpPr>
          <p:nvPr/>
        </p:nvSpPr>
        <p:spPr>
          <a:xfrm xmlns:a="http://schemas.openxmlformats.org/drawingml/2006/main">
            <a:off x="609600" y="4543425"/>
            <a:ext cx="5210175" cy="771525"/>
          </a:xfrm>
          <a:prstGeom xmlns:a="http://schemas.openxmlformats.org/drawingml/2006/main" prst="roundRect">
            <a:avLst>
              <a:gd name="adj" fmla="val 19753"/>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550" b="1">
                <a:solidFill>
                  <a:srgbClr val="263B31"/>
                </a:solidFill>
                <a:latin typeface="Arial"/>
                <a:ea typeface="Arial"/>
                <a:cs typeface="Arial"/>
              </a:defRPr>
            </a:pPr>
            <a:r>
              <a:rPr sz="2550" b="1">
                <a:solidFill>
                  <a:srgbClr val="263B31"/>
                </a:solidFill>
                <a:latin typeface="Arial"/>
                <a:ea typeface="Arial"/>
                <a:cs typeface="Arial"/>
              </a:rPr>
              <a:t>Тургор → сила</a:t>
            </a:r>
          </a:p>
        </p:txBody>
      </p:sp>
      <p:sp>
        <p:nvSpPr>
          <p:cNvPr id="12" name="">
            <a:extLst xmlns:a="http://schemas.openxmlformats.org/drawingml/2006/main">
              <a:ext uri="{FF2B5EF4-FFF2-40B4-BE49-F238E27FC236}">
                <a16:creationId xmlns:a16="http://schemas.microsoft.com/office/drawing/2014/main" id="{431A9B0A-A1A4-4CD0-ADFA-768E01848BA9}"/>
              </a:ext>
            </a:extLst>
          </p:cNvPr>
          <p:cNvSpPr>
            <a:spLocks xmlns:a="http://schemas.openxmlformats.org/drawingml/2006/main" noGrp="1"/>
          </p:cNvSpPr>
          <p:nvPr/>
        </p:nvSpPr>
        <p:spPr>
          <a:xfrm xmlns:a="http://schemas.openxmlformats.org/drawingml/2006/main">
            <a:off x="6381750" y="4543425"/>
            <a:ext cx="5200650" cy="771525"/>
          </a:xfrm>
          <a:prstGeom xmlns:a="http://schemas.openxmlformats.org/drawingml/2006/main" prst="roundRect">
            <a:avLst>
              <a:gd name="adj" fmla="val 19753"/>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Упругость → быстрый щелчок</a:t>
            </a:r>
          </a:p>
        </p:txBody>
      </p:sp>
      <p:sp>
        <p:nvSpPr>
          <p:cNvPr id="14" name="">
            <a:extLst xmlns:a="http://schemas.openxmlformats.org/drawingml/2006/main">
              <a:ext uri="{FF2B5EF4-FFF2-40B4-BE49-F238E27FC236}">
                <a16:creationId xmlns:a16="http://schemas.microsoft.com/office/drawing/2014/main" id="{BECF028E-D01C-491B-AAF1-DDEB60EA94D9}"/>
              </a:ext>
            </a:extLst>
          </p:cNvPr>
          <p:cNvSpPr>
            <a:spLocks xmlns:a="http://schemas.openxmlformats.org/drawingml/2006/main" noGrp="1"/>
          </p:cNvSpPr>
          <p:nvPr/>
        </p:nvSpPr>
        <p:spPr>
          <a:xfrm xmlns:a="http://schemas.openxmlformats.org/drawingml/2006/main">
            <a:off x="609600" y="56673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При зарядке энергия накапливается в деформированной пластинке.</a:t>
            </a:r>
          </a:p>
        </p:txBody>
      </p:sp>
      <p:sp>
        <p:nvSpPr>
          <p:cNvPr id="15" name="">
            <a:extLst xmlns:a="http://schemas.openxmlformats.org/drawingml/2006/main">
              <a:ext uri="{FF2B5EF4-FFF2-40B4-BE49-F238E27FC236}">
                <a16:creationId xmlns:a16="http://schemas.microsoft.com/office/drawing/2014/main" id="{427D8433-FA60-4118-9A9C-9DC2D635B336}"/>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[3], [19], [20]</a:t>
            </a:r>
          </a:p>
        </p:txBody>
      </p:sp>
    </p:spTree>
    <p:extLst>
      <p:ext uri="{BB962C8B-B14F-4D97-AF65-F5344CB8AC3E}">
        <p14:creationId xmlns:p14="http://schemas.microsoft.com/office/powerpoint/2010/main" val="7208591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3B502C4C-D402-4450-AF47-4C0794306C70}"/>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Зарядка, удержание и щелчок</a:t>
            </a:r>
          </a:p>
        </p:txBody>
      </p:sp>
      <p:sp>
        <p:nvSpPr>
          <p:cNvPr id="2" name="">
            <a:extLst xmlns:a="http://schemas.openxmlformats.org/drawingml/2006/main">
              <a:ext uri="{FF2B5EF4-FFF2-40B4-BE49-F238E27FC236}">
                <a16:creationId xmlns:a16="http://schemas.microsoft.com/office/drawing/2014/main" id="{E4FF293E-58CB-440D-B41C-14DCF25D4FD1}"/>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FD902F78-38C2-454C-AFFC-B72018C3C21A}"/>
              </a:ext>
            </a:extLst>
          </p:cNvPr>
          <p:cNvSpPr>
            <a:spLocks xmlns:a="http://schemas.openxmlformats.org/drawingml/2006/main" noGrp="1"/>
          </p:cNvSpPr>
          <p:nvPr/>
        </p:nvSpPr>
        <p:spPr>
          <a:xfrm xmlns:a="http://schemas.openxmlformats.org/drawingml/2006/main">
            <a:off x="609600" y="15716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1. Натяжение</a:t>
            </a:r>
          </a:p>
        </p:txBody>
      </p:sp>
      <p:sp>
        <p:nvSpPr>
          <p:cNvPr id="4" name="">
            <a:extLst xmlns:a="http://schemas.openxmlformats.org/drawingml/2006/main">
              <a:ext uri="{FF2B5EF4-FFF2-40B4-BE49-F238E27FC236}">
                <a16:creationId xmlns:a16="http://schemas.microsoft.com/office/drawing/2014/main" id="{265FBA3E-4B43-48AB-93F0-70E72449AF33}"/>
              </a:ext>
            </a:extLst>
          </p:cNvPr>
          <p:cNvSpPr>
            <a:spLocks xmlns:a="http://schemas.openxmlformats.org/drawingml/2006/main" noGrp="1"/>
          </p:cNvSpPr>
          <p:nvPr/>
        </p:nvSpPr>
        <p:spPr>
          <a:xfrm xmlns:a="http://schemas.openxmlformats.org/drawingml/2006/main">
            <a:off x="809625" y="2352675"/>
            <a:ext cx="142875" cy="1771650"/>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490641-9482-41A1-8C89-88C5B2D59A41}"/>
              </a:ext>
            </a:extLst>
          </p:cNvPr>
          <p:cNvSpPr>
            <a:spLocks xmlns:a="http://schemas.openxmlformats.org/drawingml/2006/main" noGrp="1"/>
          </p:cNvSpPr>
          <p:nvPr/>
        </p:nvSpPr>
        <p:spPr>
          <a:xfrm xmlns:a="http://schemas.openxmlformats.org/drawingml/2006/main">
            <a:off x="3505200" y="2352675"/>
            <a:ext cx="142875" cy="1771650"/>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A0B4531-DB80-4692-82F9-BEED4E4F5EB8}"/>
              </a:ext>
            </a:extLst>
          </p:cNvPr>
          <p:cNvSpPr>
            <a:spLocks xmlns:a="http://schemas.openxmlformats.org/drawingml/2006/main" noGrp="1"/>
          </p:cNvSpPr>
          <p:nvPr/>
        </p:nvSpPr>
        <p:spPr>
          <a:xfrm xmlns:a="http://schemas.openxmlformats.org/drawingml/2006/main" flipV="0">
            <a:off x="942975" y="2590800"/>
            <a:ext cx="1085850" cy="953"/>
          </a:xfrm>
          <a:prstGeom xmlns:a="http://schemas.openxmlformats.org/drawingml/2006/main" prst="line">
            <a:avLst/>
          </a:prstGeom>
          <a:noFill xmlns:a="http://schemas.openxmlformats.org/drawingml/2006/main"/>
          <a:ln xmlns:a="http://schemas.openxmlformats.org/drawingml/2006/main" w="76200">
            <a:solidFill>
              <a:srgbClr val="47705A"/>
            </a:solidFill>
          </a:ln>
        </p:spPr>
      </p:sp>
      <p:sp>
        <p:nvSpPr>
          <p:cNvPr id="7" name="">
            <a:extLst xmlns:a="http://schemas.openxmlformats.org/drawingml/2006/main">
              <a:ext uri="{FF2B5EF4-FFF2-40B4-BE49-F238E27FC236}">
                <a16:creationId xmlns:a16="http://schemas.microsoft.com/office/drawing/2014/main" id="{D7A600B1-DFE9-480F-81ED-F1D31A307AA1}"/>
              </a:ext>
            </a:extLst>
          </p:cNvPr>
          <p:cNvSpPr>
            <a:spLocks xmlns:a="http://schemas.openxmlformats.org/drawingml/2006/main" noGrp="1"/>
          </p:cNvSpPr>
          <p:nvPr/>
        </p:nvSpPr>
        <p:spPr>
          <a:xfrm xmlns:a="http://schemas.openxmlformats.org/drawingml/2006/main">
            <a:off x="942975" y="2409825"/>
            <a:ext cx="2562225" cy="542925"/>
          </a:xfrm>
          <a:custGeom xmlns:a="http://schemas.openxmlformats.org/drawingml/2006/main">
            <a:pathLst>
              <a:path w="2562225" h="542925">
                <a:moveTo>
                  <a:pt x="0" y="0"/>
                </a:moveTo>
                <a:lnTo>
                  <a:pt x="42704" y="28414"/>
                </a:lnTo>
                <a:lnTo>
                  <a:pt x="85408" y="56751"/>
                </a:lnTo>
                <a:lnTo>
                  <a:pt x="128111" y="84932"/>
                </a:lnTo>
                <a:lnTo>
                  <a:pt x="170815" y="112880"/>
                </a:lnTo>
                <a:lnTo>
                  <a:pt x="213519" y="140519"/>
                </a:lnTo>
                <a:lnTo>
                  <a:pt x="256223" y="167773"/>
                </a:lnTo>
                <a:lnTo>
                  <a:pt x="298926" y="194567"/>
                </a:lnTo>
                <a:lnTo>
                  <a:pt x="341630" y="220827"/>
                </a:lnTo>
                <a:lnTo>
                  <a:pt x="384334" y="246483"/>
                </a:lnTo>
                <a:lnTo>
                  <a:pt x="427037" y="271463"/>
                </a:lnTo>
                <a:lnTo>
                  <a:pt x="469741" y="295698"/>
                </a:lnTo>
                <a:lnTo>
                  <a:pt x="512445" y="319123"/>
                </a:lnTo>
                <a:lnTo>
                  <a:pt x="555149" y="341674"/>
                </a:lnTo>
                <a:lnTo>
                  <a:pt x="597852" y="363288"/>
                </a:lnTo>
                <a:lnTo>
                  <a:pt x="640556" y="383906"/>
                </a:lnTo>
                <a:lnTo>
                  <a:pt x="683260" y="403472"/>
                </a:lnTo>
                <a:lnTo>
                  <a:pt x="725964" y="421932"/>
                </a:lnTo>
                <a:lnTo>
                  <a:pt x="768667" y="439236"/>
                </a:lnTo>
                <a:lnTo>
                  <a:pt x="811371" y="455335"/>
                </a:lnTo>
                <a:lnTo>
                  <a:pt x="854075" y="470187"/>
                </a:lnTo>
                <a:lnTo>
                  <a:pt x="896779" y="483750"/>
                </a:lnTo>
                <a:lnTo>
                  <a:pt x="939482" y="495987"/>
                </a:lnTo>
                <a:lnTo>
                  <a:pt x="982186" y="506864"/>
                </a:lnTo>
                <a:lnTo>
                  <a:pt x="1024890" y="516352"/>
                </a:lnTo>
                <a:lnTo>
                  <a:pt x="1067594" y="524425"/>
                </a:lnTo>
                <a:lnTo>
                  <a:pt x="1110298" y="531061"/>
                </a:lnTo>
                <a:lnTo>
                  <a:pt x="1153001" y="536241"/>
                </a:lnTo>
                <a:lnTo>
                  <a:pt x="1195705" y="539951"/>
                </a:lnTo>
                <a:lnTo>
                  <a:pt x="1238409" y="542181"/>
                </a:lnTo>
                <a:lnTo>
                  <a:pt x="1281113" y="542925"/>
                </a:lnTo>
                <a:lnTo>
                  <a:pt x="1323816" y="542181"/>
                </a:lnTo>
                <a:lnTo>
                  <a:pt x="1366520" y="539951"/>
                </a:lnTo>
                <a:lnTo>
                  <a:pt x="1409224" y="536241"/>
                </a:lnTo>
                <a:lnTo>
                  <a:pt x="1451928" y="531061"/>
                </a:lnTo>
                <a:lnTo>
                  <a:pt x="1494631" y="524425"/>
                </a:lnTo>
                <a:lnTo>
                  <a:pt x="1537335" y="516352"/>
                </a:lnTo>
                <a:lnTo>
                  <a:pt x="1580039" y="506864"/>
                </a:lnTo>
                <a:lnTo>
                  <a:pt x="1622743" y="495987"/>
                </a:lnTo>
                <a:lnTo>
                  <a:pt x="1665446" y="483750"/>
                </a:lnTo>
                <a:lnTo>
                  <a:pt x="1708150" y="470187"/>
                </a:lnTo>
                <a:lnTo>
                  <a:pt x="1750854" y="455335"/>
                </a:lnTo>
                <a:lnTo>
                  <a:pt x="1793557" y="439236"/>
                </a:lnTo>
                <a:lnTo>
                  <a:pt x="1836261" y="421932"/>
                </a:lnTo>
                <a:lnTo>
                  <a:pt x="1878965" y="403472"/>
                </a:lnTo>
                <a:lnTo>
                  <a:pt x="1921669" y="383906"/>
                </a:lnTo>
                <a:lnTo>
                  <a:pt x="1964373" y="363288"/>
                </a:lnTo>
                <a:lnTo>
                  <a:pt x="2007076" y="341674"/>
                </a:lnTo>
                <a:lnTo>
                  <a:pt x="2049780" y="319123"/>
                </a:lnTo>
                <a:lnTo>
                  <a:pt x="2092484" y="295698"/>
                </a:lnTo>
                <a:lnTo>
                  <a:pt x="2135188" y="271463"/>
                </a:lnTo>
                <a:lnTo>
                  <a:pt x="2177891" y="246483"/>
                </a:lnTo>
                <a:lnTo>
                  <a:pt x="2220595" y="220827"/>
                </a:lnTo>
                <a:lnTo>
                  <a:pt x="2263299" y="194567"/>
                </a:lnTo>
                <a:lnTo>
                  <a:pt x="2306003" y="167773"/>
                </a:lnTo>
                <a:lnTo>
                  <a:pt x="2348706" y="140519"/>
                </a:lnTo>
                <a:lnTo>
                  <a:pt x="2391410" y="112880"/>
                </a:lnTo>
                <a:lnTo>
                  <a:pt x="2434114" y="84932"/>
                </a:lnTo>
                <a:lnTo>
                  <a:pt x="2476818" y="56751"/>
                </a:lnTo>
                <a:lnTo>
                  <a:pt x="2519521" y="28414"/>
                </a:lnTo>
                <a:lnTo>
                  <a:pt x="2562225" y="0"/>
                </a:lnTo>
              </a:path>
            </a:pathLst>
          </a:custGeom>
          <a:noFill xmlns:a="http://schemas.openxmlformats.org/drawingml/2006/main"/>
          <a:ln xmlns:a="http://schemas.openxmlformats.org/drawingml/2006/main" w="57150">
            <a:solidFill>
              <a:srgbClr val="A96743"/>
            </a:solidFill>
          </a:ln>
        </p:spPr>
      </p:sp>
      <p:sp>
        <p:nvSpPr>
          <p:cNvPr id="8" name="">
            <a:extLst xmlns:a="http://schemas.openxmlformats.org/drawingml/2006/main">
              <a:ext uri="{FF2B5EF4-FFF2-40B4-BE49-F238E27FC236}">
                <a16:creationId xmlns:a16="http://schemas.microsoft.com/office/drawing/2014/main" id="{4A698094-781C-4529-942F-456EDB3C521F}"/>
              </a:ext>
            </a:extLst>
          </p:cNvPr>
          <p:cNvSpPr>
            <a:spLocks xmlns:a="http://schemas.openxmlformats.org/drawingml/2006/main" noGrp="1"/>
          </p:cNvSpPr>
          <p:nvPr/>
        </p:nvSpPr>
        <p:spPr>
          <a:xfrm xmlns:a="http://schemas.openxmlformats.org/drawingml/2006/main" flipV="0">
            <a:off x="2343150" y="2952750"/>
            <a:ext cx="953" cy="952500"/>
          </a:xfrm>
          <a:prstGeom xmlns:a="http://schemas.openxmlformats.org/drawingml/2006/main" prst="line">
            <a:avLst/>
          </a:prstGeom>
          <a:noFill xmlns:a="http://schemas.openxmlformats.org/drawingml/2006/main"/>
          <a:ln xmlns:a="http://schemas.openxmlformats.org/drawingml/2006/main" w="38100">
            <a:solidFill>
              <a:srgbClr val="A96743"/>
            </a:solidFill>
          </a:ln>
        </p:spPr>
      </p:sp>
      <p:sp>
        <p:nvSpPr>
          <p:cNvPr id="9" name="">
            <a:extLst xmlns:a="http://schemas.openxmlformats.org/drawingml/2006/main">
              <a:ext uri="{FF2B5EF4-FFF2-40B4-BE49-F238E27FC236}">
                <a16:creationId xmlns:a16="http://schemas.microsoft.com/office/drawing/2014/main" id="{73848246-A6DA-40DE-9514-C7B70234A39F}"/>
              </a:ext>
            </a:extLst>
          </p:cNvPr>
          <p:cNvSpPr>
            <a:spLocks xmlns:a="http://schemas.openxmlformats.org/drawingml/2006/main" noGrp="1"/>
          </p:cNvSpPr>
          <p:nvPr/>
        </p:nvSpPr>
        <p:spPr>
          <a:xfrm xmlns:a="http://schemas.openxmlformats.org/drawingml/2006/main">
            <a:off x="1076325" y="2609850"/>
            <a:ext cx="866775" cy="1114425"/>
          </a:xfrm>
          <a:prstGeom xmlns:a="http://schemas.openxmlformats.org/drawingml/2006/main" prst="roundRect">
            <a:avLst>
              <a:gd name="adj" fmla="val 8791"/>
            </a:avLst>
          </a:prstGeom>
          <a:solidFill xmlns:a="http://schemas.openxmlformats.org/drawingml/2006/main">
            <a:srgbClr val="EDF3EB"/>
          </a:solidFill>
          <a:ln xmlns:a="http://schemas.openxmlformats.org/drawingml/2006/main" w="19050">
            <a:solidFill>
              <a:srgbClr val="47705A"/>
            </a:solidFill>
          </a:ln>
        </p:spPr>
      </p:sp>
      <p:sp>
        <p:nvSpPr>
          <p:cNvPr id="10" name="">
            <a:extLst xmlns:a="http://schemas.openxmlformats.org/drawingml/2006/main">
              <a:ext uri="{FF2B5EF4-FFF2-40B4-BE49-F238E27FC236}">
                <a16:creationId xmlns:a16="http://schemas.microsoft.com/office/drawing/2014/main" id="{9A9BB3CD-3F3B-49BE-8B64-CC10041B6FE2}"/>
              </a:ext>
            </a:extLst>
          </p:cNvPr>
          <p:cNvSpPr>
            <a:spLocks xmlns:a="http://schemas.openxmlformats.org/drawingml/2006/main" noGrp="1"/>
          </p:cNvSpPr>
          <p:nvPr/>
        </p:nvSpPr>
        <p:spPr>
          <a:xfrm xmlns:a="http://schemas.openxmlformats.org/drawingml/2006/main">
            <a:off x="942975" y="3562350"/>
            <a:ext cx="2095500" cy="447675"/>
          </a:xfrm>
          <a:custGeom xmlns:a="http://schemas.openxmlformats.org/drawingml/2006/main">
            <a:pathLst>
              <a:path w="2095500" h="447675">
                <a:moveTo>
                  <a:pt x="0" y="0"/>
                </a:moveTo>
                <a:lnTo>
                  <a:pt x="647700" y="152400"/>
                </a:lnTo>
                <a:lnTo>
                  <a:pt x="2095500" y="447675"/>
                </a:lnTo>
              </a:path>
            </a:pathLst>
          </a:custGeom>
          <a:noFill xmlns:a="http://schemas.openxmlformats.org/drawingml/2006/main"/>
          <a:ln xmlns:a="http://schemas.openxmlformats.org/drawingml/2006/main" w="66675">
            <a:solidFill>
              <a:srgbClr val="47705A"/>
            </a:solidFill>
          </a:ln>
        </p:spPr>
      </p:sp>
      <p:sp>
        <p:nvSpPr>
          <p:cNvPr id="11" name="">
            <a:extLst xmlns:a="http://schemas.openxmlformats.org/drawingml/2006/main">
              <a:ext uri="{FF2B5EF4-FFF2-40B4-BE49-F238E27FC236}">
                <a16:creationId xmlns:a16="http://schemas.microsoft.com/office/drawing/2014/main" id="{B2A259C7-91D5-461E-B0C3-55D357B2709C}"/>
              </a:ext>
            </a:extLst>
          </p:cNvPr>
          <p:cNvSpPr>
            <a:spLocks xmlns:a="http://schemas.openxmlformats.org/drawingml/2006/main" noGrp="1"/>
          </p:cNvSpPr>
          <p:nvPr/>
        </p:nvSpPr>
        <p:spPr>
          <a:xfrm xmlns:a="http://schemas.openxmlformats.org/drawingml/2006/main">
            <a:off x="2981325" y="3667125"/>
            <a:ext cx="542925" cy="266700"/>
          </a:xfrm>
          <a:custGeom xmlns:a="http://schemas.openxmlformats.org/drawingml/2006/main">
            <a:pathLst>
              <a:path w="542925" h="266700">
                <a:moveTo>
                  <a:pt x="542925" y="0"/>
                </a:moveTo>
                <a:lnTo>
                  <a:pt x="0" y="0"/>
                </a:lnTo>
                <a:lnTo>
                  <a:pt x="0" y="266700"/>
                </a:lnTo>
              </a:path>
            </a:pathLst>
          </a:custGeom>
          <a:noFill xmlns:a="http://schemas.openxmlformats.org/drawingml/2006/main"/>
          <a:ln xmlns:a="http://schemas.openxmlformats.org/drawingml/2006/main" w="76200">
            <a:solidFill>
              <a:srgbClr val="A96743"/>
            </a:solidFill>
          </a:ln>
        </p:spPr>
      </p:sp>
      <p:sp>
        <p:nvSpPr>
          <p:cNvPr id="12" name="">
            <a:extLst xmlns:a="http://schemas.openxmlformats.org/drawingml/2006/main">
              <a:ext uri="{FF2B5EF4-FFF2-40B4-BE49-F238E27FC236}">
                <a16:creationId xmlns:a16="http://schemas.microsoft.com/office/drawing/2014/main" id="{E02AC4D0-4C2E-4FC7-A932-7781434574AB}"/>
              </a:ext>
            </a:extLst>
          </p:cNvPr>
          <p:cNvSpPr>
            <a:spLocks xmlns:a="http://schemas.openxmlformats.org/drawingml/2006/main" noGrp="1"/>
          </p:cNvSpPr>
          <p:nvPr/>
        </p:nvSpPr>
        <p:spPr>
          <a:xfrm xmlns:a="http://schemas.openxmlformats.org/drawingml/2006/main" flipV="0">
            <a:off x="2114550" y="3219450"/>
            <a:ext cx="953" cy="381000"/>
          </a:xfrm>
          <a:prstGeom xmlns:a="http://schemas.openxmlformats.org/drawingml/2006/main" prst="line">
            <a:avLst/>
          </a:prstGeom>
          <a:noFill xmlns:a="http://schemas.openxmlformats.org/drawingml/2006/main"/>
          <a:ln xmlns:a="http://schemas.openxmlformats.org/drawingml/2006/main" w="28575">
            <a:solidFill>
              <a:srgbClr val="39667D"/>
            </a:solidFill>
          </a:ln>
        </p:spPr>
      </p:sp>
      <p:sp>
        <p:nvSpPr>
          <p:cNvPr id="13" name="">
            <a:extLst xmlns:a="http://schemas.openxmlformats.org/drawingml/2006/main">
              <a:ext uri="{FF2B5EF4-FFF2-40B4-BE49-F238E27FC236}">
                <a16:creationId xmlns:a16="http://schemas.microsoft.com/office/drawing/2014/main" id="{7D1F4FFD-B311-4A32-801A-79E43AF5D88C}"/>
              </a:ext>
            </a:extLst>
          </p:cNvPr>
          <p:cNvSpPr>
            <a:spLocks xmlns:a="http://schemas.openxmlformats.org/drawingml/2006/main" noGrp="1"/>
          </p:cNvSpPr>
          <p:nvPr/>
        </p:nvSpPr>
        <p:spPr>
          <a:xfrm xmlns:a="http://schemas.openxmlformats.org/drawingml/2006/main">
            <a:off x="2047875" y="3495675"/>
            <a:ext cx="133350" cy="114300"/>
          </a:xfrm>
          <a:custGeom xmlns:a="http://schemas.openxmlformats.org/drawingml/2006/main">
            <a:pathLst>
              <a:path w="133350" h="114300">
                <a:moveTo>
                  <a:pt x="0" y="0"/>
                </a:moveTo>
                <a:lnTo>
                  <a:pt x="66675" y="114300"/>
                </a:lnTo>
                <a:lnTo>
                  <a:pt x="133350" y="0"/>
                </a:lnTo>
              </a:path>
            </a:pathLst>
          </a:custGeom>
          <a:noFill xmlns:a="http://schemas.openxmlformats.org/drawingml/2006/main"/>
          <a:ln xmlns:a="http://schemas.openxmlformats.org/drawingml/2006/main" w="28575">
            <a:solidFill>
              <a:srgbClr val="39667D"/>
            </a:solidFill>
          </a:ln>
        </p:spPr>
      </p:sp>
      <p:sp>
        <p:nvSpPr>
          <p:cNvPr id="14" name="">
            <a:extLst xmlns:a="http://schemas.openxmlformats.org/drawingml/2006/main">
              <a:ext uri="{FF2B5EF4-FFF2-40B4-BE49-F238E27FC236}">
                <a16:creationId xmlns:a16="http://schemas.microsoft.com/office/drawing/2014/main" id="{444DA299-1909-403C-AD4A-3BF7A48DF9E1}"/>
              </a:ext>
            </a:extLst>
          </p:cNvPr>
          <p:cNvSpPr>
            <a:spLocks xmlns:a="http://schemas.openxmlformats.org/drawingml/2006/main" noGrp="1"/>
          </p:cNvSpPr>
          <p:nvPr/>
        </p:nvSpPr>
        <p:spPr>
          <a:xfrm xmlns:a="http://schemas.openxmlformats.org/drawingml/2006/main">
            <a:off x="4410075" y="15716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2. Удержание</a:t>
            </a:r>
          </a:p>
        </p:txBody>
      </p:sp>
      <p:sp>
        <p:nvSpPr>
          <p:cNvPr id="15" name="">
            <a:extLst xmlns:a="http://schemas.openxmlformats.org/drawingml/2006/main">
              <a:ext uri="{FF2B5EF4-FFF2-40B4-BE49-F238E27FC236}">
                <a16:creationId xmlns:a16="http://schemas.microsoft.com/office/drawing/2014/main" id="{A29E1B65-DD1B-40DB-A9B1-8CA0821C185E}"/>
              </a:ext>
            </a:extLst>
          </p:cNvPr>
          <p:cNvSpPr>
            <a:spLocks xmlns:a="http://schemas.openxmlformats.org/drawingml/2006/main" noGrp="1"/>
          </p:cNvSpPr>
          <p:nvPr/>
        </p:nvSpPr>
        <p:spPr>
          <a:xfrm xmlns:a="http://schemas.openxmlformats.org/drawingml/2006/main">
            <a:off x="4610100" y="2352675"/>
            <a:ext cx="142875" cy="1771650"/>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BB06F5C-C4E0-45D4-94CD-269FD1A3A3A9}"/>
              </a:ext>
            </a:extLst>
          </p:cNvPr>
          <p:cNvSpPr>
            <a:spLocks xmlns:a="http://schemas.openxmlformats.org/drawingml/2006/main" noGrp="1"/>
          </p:cNvSpPr>
          <p:nvPr/>
        </p:nvSpPr>
        <p:spPr>
          <a:xfrm xmlns:a="http://schemas.openxmlformats.org/drawingml/2006/main">
            <a:off x="7305675" y="2352675"/>
            <a:ext cx="142875" cy="1771650"/>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149496A-36E7-45B6-B060-9524B7E3987E}"/>
              </a:ext>
            </a:extLst>
          </p:cNvPr>
          <p:cNvSpPr>
            <a:spLocks xmlns:a="http://schemas.openxmlformats.org/drawingml/2006/main" noGrp="1"/>
          </p:cNvSpPr>
          <p:nvPr/>
        </p:nvSpPr>
        <p:spPr>
          <a:xfrm xmlns:a="http://schemas.openxmlformats.org/drawingml/2006/main" flipV="0">
            <a:off x="4743450" y="2590800"/>
            <a:ext cx="1085850" cy="953"/>
          </a:xfrm>
          <a:prstGeom xmlns:a="http://schemas.openxmlformats.org/drawingml/2006/main" prst="line">
            <a:avLst/>
          </a:prstGeom>
          <a:noFill xmlns:a="http://schemas.openxmlformats.org/drawingml/2006/main"/>
          <a:ln xmlns:a="http://schemas.openxmlformats.org/drawingml/2006/main" w="76200">
            <a:solidFill>
              <a:srgbClr val="47705A"/>
            </a:solidFill>
          </a:ln>
        </p:spPr>
      </p:sp>
      <p:sp>
        <p:nvSpPr>
          <p:cNvPr id="18" name="">
            <a:extLst xmlns:a="http://schemas.openxmlformats.org/drawingml/2006/main">
              <a:ext uri="{FF2B5EF4-FFF2-40B4-BE49-F238E27FC236}">
                <a16:creationId xmlns:a16="http://schemas.microsoft.com/office/drawing/2014/main" id="{638CDB9C-0EDD-42C3-A4C2-BC3EEEC37192}"/>
              </a:ext>
            </a:extLst>
          </p:cNvPr>
          <p:cNvSpPr>
            <a:spLocks xmlns:a="http://schemas.openxmlformats.org/drawingml/2006/main" noGrp="1"/>
          </p:cNvSpPr>
          <p:nvPr/>
        </p:nvSpPr>
        <p:spPr>
          <a:xfrm xmlns:a="http://schemas.openxmlformats.org/drawingml/2006/main">
            <a:off x="4743450" y="2409825"/>
            <a:ext cx="2562225" cy="542925"/>
          </a:xfrm>
          <a:custGeom xmlns:a="http://schemas.openxmlformats.org/drawingml/2006/main">
            <a:pathLst>
              <a:path w="2562225" h="542925">
                <a:moveTo>
                  <a:pt x="0" y="0"/>
                </a:moveTo>
                <a:lnTo>
                  <a:pt x="42704" y="28414"/>
                </a:lnTo>
                <a:lnTo>
                  <a:pt x="85407" y="56751"/>
                </a:lnTo>
                <a:lnTo>
                  <a:pt x="128111" y="84932"/>
                </a:lnTo>
                <a:lnTo>
                  <a:pt x="170815" y="112880"/>
                </a:lnTo>
                <a:lnTo>
                  <a:pt x="213519" y="140519"/>
                </a:lnTo>
                <a:lnTo>
                  <a:pt x="256222" y="167773"/>
                </a:lnTo>
                <a:lnTo>
                  <a:pt x="298926" y="194567"/>
                </a:lnTo>
                <a:lnTo>
                  <a:pt x="341630" y="220827"/>
                </a:lnTo>
                <a:lnTo>
                  <a:pt x="384334" y="246483"/>
                </a:lnTo>
                <a:lnTo>
                  <a:pt x="427038" y="271463"/>
                </a:lnTo>
                <a:lnTo>
                  <a:pt x="469741" y="295698"/>
                </a:lnTo>
                <a:lnTo>
                  <a:pt x="512445" y="319123"/>
                </a:lnTo>
                <a:lnTo>
                  <a:pt x="555149" y="341674"/>
                </a:lnTo>
                <a:lnTo>
                  <a:pt x="597852" y="363288"/>
                </a:lnTo>
                <a:lnTo>
                  <a:pt x="640556" y="383906"/>
                </a:lnTo>
                <a:lnTo>
                  <a:pt x="683260" y="403472"/>
                </a:lnTo>
                <a:lnTo>
                  <a:pt x="725964" y="421932"/>
                </a:lnTo>
                <a:lnTo>
                  <a:pt x="768668" y="439236"/>
                </a:lnTo>
                <a:lnTo>
                  <a:pt x="811371" y="455335"/>
                </a:lnTo>
                <a:lnTo>
                  <a:pt x="854075" y="470187"/>
                </a:lnTo>
                <a:lnTo>
                  <a:pt x="896779" y="483750"/>
                </a:lnTo>
                <a:lnTo>
                  <a:pt x="939482" y="495987"/>
                </a:lnTo>
                <a:lnTo>
                  <a:pt x="982186" y="506864"/>
                </a:lnTo>
                <a:lnTo>
                  <a:pt x="1024890" y="516352"/>
                </a:lnTo>
                <a:lnTo>
                  <a:pt x="1067594" y="524425"/>
                </a:lnTo>
                <a:lnTo>
                  <a:pt x="1110298" y="531061"/>
                </a:lnTo>
                <a:lnTo>
                  <a:pt x="1153001" y="536241"/>
                </a:lnTo>
                <a:lnTo>
                  <a:pt x="1195705" y="539951"/>
                </a:lnTo>
                <a:lnTo>
                  <a:pt x="1238409" y="542181"/>
                </a:lnTo>
                <a:lnTo>
                  <a:pt x="1281113" y="542925"/>
                </a:lnTo>
                <a:lnTo>
                  <a:pt x="1323816" y="542181"/>
                </a:lnTo>
                <a:lnTo>
                  <a:pt x="1366520" y="539951"/>
                </a:lnTo>
                <a:lnTo>
                  <a:pt x="1409224" y="536241"/>
                </a:lnTo>
                <a:lnTo>
                  <a:pt x="1451928" y="531061"/>
                </a:lnTo>
                <a:lnTo>
                  <a:pt x="1494631" y="524425"/>
                </a:lnTo>
                <a:lnTo>
                  <a:pt x="1537335" y="516352"/>
                </a:lnTo>
                <a:lnTo>
                  <a:pt x="1580039" y="506864"/>
                </a:lnTo>
                <a:lnTo>
                  <a:pt x="1622743" y="495987"/>
                </a:lnTo>
                <a:lnTo>
                  <a:pt x="1665446" y="483750"/>
                </a:lnTo>
                <a:lnTo>
                  <a:pt x="1708150" y="470187"/>
                </a:lnTo>
                <a:lnTo>
                  <a:pt x="1750854" y="455335"/>
                </a:lnTo>
                <a:lnTo>
                  <a:pt x="1793557" y="439236"/>
                </a:lnTo>
                <a:lnTo>
                  <a:pt x="1836261" y="421932"/>
                </a:lnTo>
                <a:lnTo>
                  <a:pt x="1878965" y="403472"/>
                </a:lnTo>
                <a:lnTo>
                  <a:pt x="1921669" y="383906"/>
                </a:lnTo>
                <a:lnTo>
                  <a:pt x="1964373" y="363288"/>
                </a:lnTo>
                <a:lnTo>
                  <a:pt x="2007076" y="341674"/>
                </a:lnTo>
                <a:lnTo>
                  <a:pt x="2049780" y="319123"/>
                </a:lnTo>
                <a:lnTo>
                  <a:pt x="2092484" y="295698"/>
                </a:lnTo>
                <a:lnTo>
                  <a:pt x="2135188" y="271463"/>
                </a:lnTo>
                <a:lnTo>
                  <a:pt x="2177891" y="246483"/>
                </a:lnTo>
                <a:lnTo>
                  <a:pt x="2220595" y="220827"/>
                </a:lnTo>
                <a:lnTo>
                  <a:pt x="2263299" y="194567"/>
                </a:lnTo>
                <a:lnTo>
                  <a:pt x="2306003" y="167773"/>
                </a:lnTo>
                <a:lnTo>
                  <a:pt x="2348706" y="140519"/>
                </a:lnTo>
                <a:lnTo>
                  <a:pt x="2391410" y="112880"/>
                </a:lnTo>
                <a:lnTo>
                  <a:pt x="2434114" y="84932"/>
                </a:lnTo>
                <a:lnTo>
                  <a:pt x="2476817" y="56751"/>
                </a:lnTo>
                <a:lnTo>
                  <a:pt x="2519521" y="28414"/>
                </a:lnTo>
                <a:lnTo>
                  <a:pt x="2562225" y="0"/>
                </a:lnTo>
              </a:path>
            </a:pathLst>
          </a:custGeom>
          <a:noFill xmlns:a="http://schemas.openxmlformats.org/drawingml/2006/main"/>
          <a:ln xmlns:a="http://schemas.openxmlformats.org/drawingml/2006/main" w="57150">
            <a:solidFill>
              <a:srgbClr val="A96743"/>
            </a:solidFill>
          </a:ln>
        </p:spPr>
      </p:sp>
      <p:sp>
        <p:nvSpPr>
          <p:cNvPr id="19" name="">
            <a:extLst xmlns:a="http://schemas.openxmlformats.org/drawingml/2006/main">
              <a:ext uri="{FF2B5EF4-FFF2-40B4-BE49-F238E27FC236}">
                <a16:creationId xmlns:a16="http://schemas.microsoft.com/office/drawing/2014/main" id="{B98B2E32-AC62-443D-B5D6-84C896D28143}"/>
              </a:ext>
            </a:extLst>
          </p:cNvPr>
          <p:cNvSpPr>
            <a:spLocks xmlns:a="http://schemas.openxmlformats.org/drawingml/2006/main" noGrp="1"/>
          </p:cNvSpPr>
          <p:nvPr/>
        </p:nvSpPr>
        <p:spPr>
          <a:xfrm xmlns:a="http://schemas.openxmlformats.org/drawingml/2006/main" flipV="0">
            <a:off x="6143625" y="2952750"/>
            <a:ext cx="953" cy="952500"/>
          </a:xfrm>
          <a:prstGeom xmlns:a="http://schemas.openxmlformats.org/drawingml/2006/main" prst="line">
            <a:avLst/>
          </a:prstGeom>
          <a:noFill xmlns:a="http://schemas.openxmlformats.org/drawingml/2006/main"/>
          <a:ln xmlns:a="http://schemas.openxmlformats.org/drawingml/2006/main" w="38100">
            <a:solidFill>
              <a:srgbClr val="A96743"/>
            </a:solidFill>
          </a:ln>
        </p:spPr>
      </p:sp>
      <p:sp>
        <p:nvSpPr>
          <p:cNvPr id="20" name="">
            <a:extLst xmlns:a="http://schemas.openxmlformats.org/drawingml/2006/main">
              <a:ext uri="{FF2B5EF4-FFF2-40B4-BE49-F238E27FC236}">
                <a16:creationId xmlns:a16="http://schemas.microsoft.com/office/drawing/2014/main" id="{426700EB-ED92-47CF-8A3A-AE22F1E43A22}"/>
              </a:ext>
            </a:extLst>
          </p:cNvPr>
          <p:cNvSpPr>
            <a:spLocks xmlns:a="http://schemas.openxmlformats.org/drawingml/2006/main" noGrp="1"/>
          </p:cNvSpPr>
          <p:nvPr/>
        </p:nvSpPr>
        <p:spPr>
          <a:xfrm xmlns:a="http://schemas.openxmlformats.org/drawingml/2006/main">
            <a:off x="4876800" y="2609850"/>
            <a:ext cx="866775" cy="333375"/>
          </a:xfrm>
          <a:prstGeom xmlns:a="http://schemas.openxmlformats.org/drawingml/2006/main" prst="roundRect">
            <a:avLst>
              <a:gd name="adj" fmla="val 22857"/>
            </a:avLst>
          </a:prstGeom>
          <a:solidFill xmlns:a="http://schemas.openxmlformats.org/drawingml/2006/main">
            <a:srgbClr val="EDF3EB"/>
          </a:solidFill>
          <a:ln xmlns:a="http://schemas.openxmlformats.org/drawingml/2006/main" w="19050">
            <a:solidFill>
              <a:srgbClr val="47705A"/>
            </a:solidFill>
          </a:ln>
        </p:spPr>
      </p:sp>
      <p:sp>
        <p:nvSpPr>
          <p:cNvPr id="21" name="">
            <a:extLst xmlns:a="http://schemas.openxmlformats.org/drawingml/2006/main">
              <a:ext uri="{FF2B5EF4-FFF2-40B4-BE49-F238E27FC236}">
                <a16:creationId xmlns:a16="http://schemas.microsoft.com/office/drawing/2014/main" id="{92EB9A44-5C1C-490F-BDAA-9C981E8F7B3B}"/>
              </a:ext>
            </a:extLst>
          </p:cNvPr>
          <p:cNvSpPr>
            <a:spLocks xmlns:a="http://schemas.openxmlformats.org/drawingml/2006/main" noGrp="1"/>
          </p:cNvSpPr>
          <p:nvPr/>
        </p:nvSpPr>
        <p:spPr>
          <a:xfrm xmlns:a="http://schemas.openxmlformats.org/drawingml/2006/main">
            <a:off x="4743450" y="3562350"/>
            <a:ext cx="2095500" cy="447675"/>
          </a:xfrm>
          <a:custGeom xmlns:a="http://schemas.openxmlformats.org/drawingml/2006/main">
            <a:pathLst>
              <a:path w="2095500" h="447675">
                <a:moveTo>
                  <a:pt x="0" y="0"/>
                </a:moveTo>
                <a:lnTo>
                  <a:pt x="647700" y="152400"/>
                </a:lnTo>
                <a:lnTo>
                  <a:pt x="2095500" y="447675"/>
                </a:lnTo>
              </a:path>
            </a:pathLst>
          </a:custGeom>
          <a:noFill xmlns:a="http://schemas.openxmlformats.org/drawingml/2006/main"/>
          <a:ln xmlns:a="http://schemas.openxmlformats.org/drawingml/2006/main" w="66675">
            <a:solidFill>
              <a:srgbClr val="47705A"/>
            </a:solidFill>
          </a:ln>
        </p:spPr>
      </p:sp>
      <p:sp>
        <p:nvSpPr>
          <p:cNvPr id="22" name="">
            <a:extLst xmlns:a="http://schemas.openxmlformats.org/drawingml/2006/main">
              <a:ext uri="{FF2B5EF4-FFF2-40B4-BE49-F238E27FC236}">
                <a16:creationId xmlns:a16="http://schemas.microsoft.com/office/drawing/2014/main" id="{E61D8054-5473-4189-B6BB-1FEF2E7468A8}"/>
              </a:ext>
            </a:extLst>
          </p:cNvPr>
          <p:cNvSpPr>
            <a:spLocks xmlns:a="http://schemas.openxmlformats.org/drawingml/2006/main" noGrp="1"/>
          </p:cNvSpPr>
          <p:nvPr/>
        </p:nvSpPr>
        <p:spPr>
          <a:xfrm xmlns:a="http://schemas.openxmlformats.org/drawingml/2006/main">
            <a:off x="6781800" y="3667125"/>
            <a:ext cx="542925" cy="266700"/>
          </a:xfrm>
          <a:custGeom xmlns:a="http://schemas.openxmlformats.org/drawingml/2006/main">
            <a:pathLst>
              <a:path w="542925" h="266700">
                <a:moveTo>
                  <a:pt x="542925" y="0"/>
                </a:moveTo>
                <a:lnTo>
                  <a:pt x="0" y="0"/>
                </a:lnTo>
                <a:lnTo>
                  <a:pt x="0" y="266700"/>
                </a:lnTo>
              </a:path>
            </a:pathLst>
          </a:custGeom>
          <a:noFill xmlns:a="http://schemas.openxmlformats.org/drawingml/2006/main"/>
          <a:ln xmlns:a="http://schemas.openxmlformats.org/drawingml/2006/main" w="76200">
            <a:solidFill>
              <a:srgbClr val="A96743"/>
            </a:solidFill>
          </a:ln>
        </p:spPr>
      </p:sp>
      <p:sp>
        <p:nvSpPr>
          <p:cNvPr id="23" name="">
            <a:extLst xmlns:a="http://schemas.openxmlformats.org/drawingml/2006/main">
              <a:ext uri="{FF2B5EF4-FFF2-40B4-BE49-F238E27FC236}">
                <a16:creationId xmlns:a16="http://schemas.microsoft.com/office/drawing/2014/main" id="{4E1A4779-7DEF-4B4E-A494-AB99287A6192}"/>
              </a:ext>
            </a:extLst>
          </p:cNvPr>
          <p:cNvSpPr>
            <a:spLocks xmlns:a="http://schemas.openxmlformats.org/drawingml/2006/main" noGrp="1"/>
          </p:cNvSpPr>
          <p:nvPr/>
        </p:nvSpPr>
        <p:spPr>
          <a:xfrm xmlns:a="http://schemas.openxmlformats.org/drawingml/2006/main">
            <a:off x="8210550" y="15716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3. Освобождение</a:t>
            </a:r>
          </a:p>
        </p:txBody>
      </p:sp>
      <p:sp>
        <p:nvSpPr>
          <p:cNvPr id="24" name="">
            <a:extLst xmlns:a="http://schemas.openxmlformats.org/drawingml/2006/main">
              <a:ext uri="{FF2B5EF4-FFF2-40B4-BE49-F238E27FC236}">
                <a16:creationId xmlns:a16="http://schemas.microsoft.com/office/drawing/2014/main" id="{F36C1D9C-70A3-4B81-A21A-2F36213F142B}"/>
              </a:ext>
            </a:extLst>
          </p:cNvPr>
          <p:cNvSpPr>
            <a:spLocks xmlns:a="http://schemas.openxmlformats.org/drawingml/2006/main" noGrp="1"/>
          </p:cNvSpPr>
          <p:nvPr/>
        </p:nvSpPr>
        <p:spPr>
          <a:xfrm xmlns:a="http://schemas.openxmlformats.org/drawingml/2006/main">
            <a:off x="8410575" y="2352675"/>
            <a:ext cx="142875" cy="1771650"/>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8D1A13A-31D6-46FD-AF25-4AB87BAC6DFD}"/>
              </a:ext>
            </a:extLst>
          </p:cNvPr>
          <p:cNvSpPr>
            <a:spLocks xmlns:a="http://schemas.openxmlformats.org/drawingml/2006/main" noGrp="1"/>
          </p:cNvSpPr>
          <p:nvPr/>
        </p:nvSpPr>
        <p:spPr>
          <a:xfrm xmlns:a="http://schemas.openxmlformats.org/drawingml/2006/main">
            <a:off x="11106150" y="2352675"/>
            <a:ext cx="142875" cy="1771650"/>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C821EA1-BF6A-463C-B2AF-A6E92E1B9824}"/>
              </a:ext>
            </a:extLst>
          </p:cNvPr>
          <p:cNvSpPr>
            <a:spLocks xmlns:a="http://schemas.openxmlformats.org/drawingml/2006/main" noGrp="1"/>
          </p:cNvSpPr>
          <p:nvPr/>
        </p:nvSpPr>
        <p:spPr>
          <a:xfrm xmlns:a="http://schemas.openxmlformats.org/drawingml/2006/main" flipV="0">
            <a:off x="8543925" y="2590800"/>
            <a:ext cx="1085850" cy="953"/>
          </a:xfrm>
          <a:prstGeom xmlns:a="http://schemas.openxmlformats.org/drawingml/2006/main" prst="line">
            <a:avLst/>
          </a:prstGeom>
          <a:noFill xmlns:a="http://schemas.openxmlformats.org/drawingml/2006/main"/>
          <a:ln xmlns:a="http://schemas.openxmlformats.org/drawingml/2006/main" w="76200">
            <a:solidFill>
              <a:srgbClr val="47705A"/>
            </a:solidFill>
          </a:ln>
        </p:spPr>
      </p:sp>
      <p:sp>
        <p:nvSpPr>
          <p:cNvPr id="27" name="">
            <a:extLst xmlns:a="http://schemas.openxmlformats.org/drawingml/2006/main">
              <a:ext uri="{FF2B5EF4-FFF2-40B4-BE49-F238E27FC236}">
                <a16:creationId xmlns:a16="http://schemas.microsoft.com/office/drawing/2014/main" id="{E7D7047B-EC46-4E1B-9CD5-20ADFD5A054F}"/>
              </a:ext>
            </a:extLst>
          </p:cNvPr>
          <p:cNvSpPr>
            <a:spLocks xmlns:a="http://schemas.openxmlformats.org/drawingml/2006/main" noGrp="1"/>
          </p:cNvSpPr>
          <p:nvPr/>
        </p:nvSpPr>
        <p:spPr>
          <a:xfrm xmlns:a="http://schemas.openxmlformats.org/drawingml/2006/main">
            <a:off x="8543925" y="2333625"/>
            <a:ext cx="2562225" cy="76200"/>
          </a:xfrm>
          <a:custGeom xmlns:a="http://schemas.openxmlformats.org/drawingml/2006/main">
            <a:pathLst>
              <a:path w="2562225" h="76200">
                <a:moveTo>
                  <a:pt x="0" y="76200"/>
                </a:moveTo>
                <a:lnTo>
                  <a:pt x="42704" y="72212"/>
                </a:lnTo>
                <a:lnTo>
                  <a:pt x="85408" y="68235"/>
                </a:lnTo>
                <a:lnTo>
                  <a:pt x="128111" y="64280"/>
                </a:lnTo>
                <a:lnTo>
                  <a:pt x="170815" y="60357"/>
                </a:lnTo>
                <a:lnTo>
                  <a:pt x="213519" y="56478"/>
                </a:lnTo>
                <a:lnTo>
                  <a:pt x="256222" y="52653"/>
                </a:lnTo>
                <a:lnTo>
                  <a:pt x="298926" y="48892"/>
                </a:lnTo>
                <a:lnTo>
                  <a:pt x="341630" y="45207"/>
                </a:lnTo>
                <a:lnTo>
                  <a:pt x="384334" y="41606"/>
                </a:lnTo>
                <a:lnTo>
                  <a:pt x="427038" y="38100"/>
                </a:lnTo>
                <a:lnTo>
                  <a:pt x="469741" y="34699"/>
                </a:lnTo>
                <a:lnTo>
                  <a:pt x="512445" y="31411"/>
                </a:lnTo>
                <a:lnTo>
                  <a:pt x="555149" y="28246"/>
                </a:lnTo>
                <a:lnTo>
                  <a:pt x="597852" y="25212"/>
                </a:lnTo>
                <a:lnTo>
                  <a:pt x="640556" y="22318"/>
                </a:lnTo>
                <a:lnTo>
                  <a:pt x="683260" y="19572"/>
                </a:lnTo>
                <a:lnTo>
                  <a:pt x="725964" y="16981"/>
                </a:lnTo>
                <a:lnTo>
                  <a:pt x="768668" y="14553"/>
                </a:lnTo>
                <a:lnTo>
                  <a:pt x="811371" y="12293"/>
                </a:lnTo>
                <a:lnTo>
                  <a:pt x="854075" y="10209"/>
                </a:lnTo>
                <a:lnTo>
                  <a:pt x="896779" y="8305"/>
                </a:lnTo>
                <a:lnTo>
                  <a:pt x="939482" y="6588"/>
                </a:lnTo>
                <a:lnTo>
                  <a:pt x="982186" y="5061"/>
                </a:lnTo>
                <a:lnTo>
                  <a:pt x="1024890" y="3729"/>
                </a:lnTo>
                <a:lnTo>
                  <a:pt x="1067594" y="2596"/>
                </a:lnTo>
                <a:lnTo>
                  <a:pt x="1110298" y="1665"/>
                </a:lnTo>
                <a:lnTo>
                  <a:pt x="1153001" y="938"/>
                </a:lnTo>
                <a:lnTo>
                  <a:pt x="1195705" y="417"/>
                </a:lnTo>
                <a:lnTo>
                  <a:pt x="1238409" y="104"/>
                </a:lnTo>
                <a:lnTo>
                  <a:pt x="1281113" y="0"/>
                </a:lnTo>
                <a:lnTo>
                  <a:pt x="1323816" y="104"/>
                </a:lnTo>
                <a:lnTo>
                  <a:pt x="1366520" y="417"/>
                </a:lnTo>
                <a:lnTo>
                  <a:pt x="1409224" y="938"/>
                </a:lnTo>
                <a:lnTo>
                  <a:pt x="1451928" y="1665"/>
                </a:lnTo>
                <a:lnTo>
                  <a:pt x="1494631" y="2596"/>
                </a:lnTo>
                <a:lnTo>
                  <a:pt x="1537335" y="3729"/>
                </a:lnTo>
                <a:lnTo>
                  <a:pt x="1580039" y="5061"/>
                </a:lnTo>
                <a:lnTo>
                  <a:pt x="1622742" y="6588"/>
                </a:lnTo>
                <a:lnTo>
                  <a:pt x="1665446" y="8305"/>
                </a:lnTo>
                <a:lnTo>
                  <a:pt x="1708150" y="10209"/>
                </a:lnTo>
                <a:lnTo>
                  <a:pt x="1750854" y="12293"/>
                </a:lnTo>
                <a:lnTo>
                  <a:pt x="1793557" y="14553"/>
                </a:lnTo>
                <a:lnTo>
                  <a:pt x="1836261" y="16981"/>
                </a:lnTo>
                <a:lnTo>
                  <a:pt x="1878965" y="19572"/>
                </a:lnTo>
                <a:lnTo>
                  <a:pt x="1921669" y="22318"/>
                </a:lnTo>
                <a:lnTo>
                  <a:pt x="1964373" y="25212"/>
                </a:lnTo>
                <a:lnTo>
                  <a:pt x="2007076" y="28246"/>
                </a:lnTo>
                <a:lnTo>
                  <a:pt x="2049780" y="31411"/>
                </a:lnTo>
                <a:lnTo>
                  <a:pt x="2092484" y="34699"/>
                </a:lnTo>
                <a:lnTo>
                  <a:pt x="2135188" y="38100"/>
                </a:lnTo>
                <a:lnTo>
                  <a:pt x="2177891" y="41606"/>
                </a:lnTo>
                <a:lnTo>
                  <a:pt x="2220595" y="45207"/>
                </a:lnTo>
                <a:lnTo>
                  <a:pt x="2263299" y="48892"/>
                </a:lnTo>
                <a:lnTo>
                  <a:pt x="2306002" y="52653"/>
                </a:lnTo>
                <a:lnTo>
                  <a:pt x="2348706" y="56478"/>
                </a:lnTo>
                <a:lnTo>
                  <a:pt x="2391410" y="60357"/>
                </a:lnTo>
                <a:lnTo>
                  <a:pt x="2434114" y="64280"/>
                </a:lnTo>
                <a:lnTo>
                  <a:pt x="2476817" y="68235"/>
                </a:lnTo>
                <a:lnTo>
                  <a:pt x="2519521" y="72212"/>
                </a:lnTo>
                <a:lnTo>
                  <a:pt x="2562225" y="76200"/>
                </a:lnTo>
              </a:path>
            </a:pathLst>
          </a:custGeom>
          <a:noFill xmlns:a="http://schemas.openxmlformats.org/drawingml/2006/main"/>
          <a:ln xmlns:a="http://schemas.openxmlformats.org/drawingml/2006/main" w="57150">
            <a:solidFill>
              <a:srgbClr val="A96743"/>
            </a:solidFill>
          </a:ln>
        </p:spPr>
      </p:sp>
      <p:sp>
        <p:nvSpPr>
          <p:cNvPr id="28" name="">
            <a:extLst xmlns:a="http://schemas.openxmlformats.org/drawingml/2006/main">
              <a:ext uri="{FF2B5EF4-FFF2-40B4-BE49-F238E27FC236}">
                <a16:creationId xmlns:a16="http://schemas.microsoft.com/office/drawing/2014/main" id="{4CF6FE1D-8A44-451B-8028-FEAC3FAEBFAC}"/>
              </a:ext>
            </a:extLst>
          </p:cNvPr>
          <p:cNvSpPr>
            <a:spLocks xmlns:a="http://schemas.openxmlformats.org/drawingml/2006/main" noGrp="1"/>
          </p:cNvSpPr>
          <p:nvPr/>
        </p:nvSpPr>
        <p:spPr>
          <a:xfrm xmlns:a="http://schemas.openxmlformats.org/drawingml/2006/main" flipV="0">
            <a:off x="9944100" y="2333625"/>
            <a:ext cx="953" cy="1085850"/>
          </a:xfrm>
          <a:prstGeom xmlns:a="http://schemas.openxmlformats.org/drawingml/2006/main" prst="line">
            <a:avLst/>
          </a:prstGeom>
          <a:noFill xmlns:a="http://schemas.openxmlformats.org/drawingml/2006/main"/>
          <a:ln xmlns:a="http://schemas.openxmlformats.org/drawingml/2006/main" w="38100">
            <a:solidFill>
              <a:srgbClr val="A96743"/>
            </a:solidFill>
          </a:ln>
        </p:spPr>
      </p:sp>
      <p:sp>
        <p:nvSpPr>
          <p:cNvPr id="29" name="">
            <a:extLst xmlns:a="http://schemas.openxmlformats.org/drawingml/2006/main">
              <a:ext uri="{FF2B5EF4-FFF2-40B4-BE49-F238E27FC236}">
                <a16:creationId xmlns:a16="http://schemas.microsoft.com/office/drawing/2014/main" id="{9F75E787-2B1F-427B-85A0-9B4E8BF46423}"/>
              </a:ext>
            </a:extLst>
          </p:cNvPr>
          <p:cNvSpPr>
            <a:spLocks xmlns:a="http://schemas.openxmlformats.org/drawingml/2006/main" noGrp="1"/>
          </p:cNvSpPr>
          <p:nvPr/>
        </p:nvSpPr>
        <p:spPr>
          <a:xfrm xmlns:a="http://schemas.openxmlformats.org/drawingml/2006/main">
            <a:off x="8677275" y="2609850"/>
            <a:ext cx="866775" cy="333375"/>
          </a:xfrm>
          <a:prstGeom xmlns:a="http://schemas.openxmlformats.org/drawingml/2006/main" prst="roundRect">
            <a:avLst>
              <a:gd name="adj" fmla="val 22857"/>
            </a:avLst>
          </a:prstGeom>
          <a:solidFill xmlns:a="http://schemas.openxmlformats.org/drawingml/2006/main">
            <a:srgbClr val="EDF3EB"/>
          </a:solidFill>
          <a:ln xmlns:a="http://schemas.openxmlformats.org/drawingml/2006/main" w="19050">
            <a:solidFill>
              <a:srgbClr val="47705A"/>
            </a:solidFill>
          </a:ln>
        </p:spPr>
      </p:sp>
      <p:sp>
        <p:nvSpPr>
          <p:cNvPr id="30" name="">
            <a:extLst xmlns:a="http://schemas.openxmlformats.org/drawingml/2006/main">
              <a:ext uri="{FF2B5EF4-FFF2-40B4-BE49-F238E27FC236}">
                <a16:creationId xmlns:a16="http://schemas.microsoft.com/office/drawing/2014/main" id="{050CAA16-AC35-4579-848F-9702EFE28F20}"/>
              </a:ext>
            </a:extLst>
          </p:cNvPr>
          <p:cNvSpPr>
            <a:spLocks xmlns:a="http://schemas.openxmlformats.org/drawingml/2006/main" noGrp="1"/>
          </p:cNvSpPr>
          <p:nvPr/>
        </p:nvSpPr>
        <p:spPr>
          <a:xfrm xmlns:a="http://schemas.openxmlformats.org/drawingml/2006/main">
            <a:off x="8543925" y="3343275"/>
            <a:ext cx="2095500" cy="219075"/>
          </a:xfrm>
          <a:custGeom xmlns:a="http://schemas.openxmlformats.org/drawingml/2006/main">
            <a:pathLst>
              <a:path w="2095500" h="219075">
                <a:moveTo>
                  <a:pt x="0" y="219075"/>
                </a:moveTo>
                <a:lnTo>
                  <a:pt x="647700" y="152400"/>
                </a:lnTo>
                <a:lnTo>
                  <a:pt x="2095500" y="0"/>
                </a:lnTo>
              </a:path>
            </a:pathLst>
          </a:custGeom>
          <a:noFill xmlns:a="http://schemas.openxmlformats.org/drawingml/2006/main"/>
          <a:ln xmlns:a="http://schemas.openxmlformats.org/drawingml/2006/main" w="66675">
            <a:solidFill>
              <a:srgbClr val="47705A"/>
            </a:solidFill>
          </a:ln>
        </p:spPr>
      </p:sp>
      <p:sp>
        <p:nvSpPr>
          <p:cNvPr id="31" name="">
            <a:extLst xmlns:a="http://schemas.openxmlformats.org/drawingml/2006/main">
              <a:ext uri="{FF2B5EF4-FFF2-40B4-BE49-F238E27FC236}">
                <a16:creationId xmlns:a16="http://schemas.microsoft.com/office/drawing/2014/main" id="{B7C4A014-E251-4433-91A7-7B2AAF19F5C9}"/>
              </a:ext>
            </a:extLst>
          </p:cNvPr>
          <p:cNvSpPr>
            <a:spLocks xmlns:a="http://schemas.openxmlformats.org/drawingml/2006/main" noGrp="1"/>
          </p:cNvSpPr>
          <p:nvPr/>
        </p:nvSpPr>
        <p:spPr>
          <a:xfrm xmlns:a="http://schemas.openxmlformats.org/drawingml/2006/main">
            <a:off x="10925175" y="3657600"/>
            <a:ext cx="209550" cy="228600"/>
          </a:xfrm>
          <a:custGeom xmlns:a="http://schemas.openxmlformats.org/drawingml/2006/main">
            <a:pathLst>
              <a:path w="209550" h="228600">
                <a:moveTo>
                  <a:pt x="209550" y="0"/>
                </a:moveTo>
                <a:lnTo>
                  <a:pt x="0" y="0"/>
                </a:lnTo>
                <a:lnTo>
                  <a:pt x="0" y="228600"/>
                </a:lnTo>
              </a:path>
            </a:pathLst>
          </a:custGeom>
          <a:noFill xmlns:a="http://schemas.openxmlformats.org/drawingml/2006/main"/>
          <a:ln xmlns:a="http://schemas.openxmlformats.org/drawingml/2006/main" w="76200">
            <a:solidFill>
              <a:srgbClr val="A96743"/>
            </a:solidFill>
          </a:ln>
        </p:spPr>
      </p:sp>
      <p:sp>
        <p:nvSpPr>
          <p:cNvPr id="32" name="">
            <a:extLst xmlns:a="http://schemas.openxmlformats.org/drawingml/2006/main">
              <a:ext uri="{FF2B5EF4-FFF2-40B4-BE49-F238E27FC236}">
                <a16:creationId xmlns:a16="http://schemas.microsoft.com/office/drawing/2014/main" id="{F959FA6A-4ABC-43A5-92EA-52ECDF37E1EB}"/>
              </a:ext>
            </a:extLst>
          </p:cNvPr>
          <p:cNvSpPr>
            <a:spLocks xmlns:a="http://schemas.openxmlformats.org/drawingml/2006/main" noGrp="1"/>
          </p:cNvSpPr>
          <p:nvPr/>
        </p:nvSpPr>
        <p:spPr>
          <a:xfrm xmlns:a="http://schemas.openxmlformats.org/drawingml/2006/main">
            <a:off x="9163050" y="2052024"/>
            <a:ext cx="1438275" cy="214075"/>
          </a:xfrm>
          <a:custGeom xmlns:a="http://schemas.openxmlformats.org/drawingml/2006/main">
            <a:pathLst>
              <a:path w="1438275" h="214075">
                <a:moveTo>
                  <a:pt x="0" y="91101"/>
                </a:moveTo>
                <a:lnTo>
                  <a:pt x="11986" y="127167"/>
                </a:lnTo>
                <a:lnTo>
                  <a:pt x="23971" y="159055"/>
                </a:lnTo>
                <a:lnTo>
                  <a:pt x="35957" y="184829"/>
                </a:lnTo>
                <a:lnTo>
                  <a:pt x="47942" y="203060"/>
                </a:lnTo>
                <a:lnTo>
                  <a:pt x="59928" y="212892"/>
                </a:lnTo>
                <a:lnTo>
                  <a:pt x="71914" y="214075"/>
                </a:lnTo>
                <a:lnTo>
                  <a:pt x="83899" y="206952"/>
                </a:lnTo>
                <a:lnTo>
                  <a:pt x="95885" y="192405"/>
                </a:lnTo>
                <a:lnTo>
                  <a:pt x="107871" y="171774"/>
                </a:lnTo>
                <a:lnTo>
                  <a:pt x="119856" y="146737"/>
                </a:lnTo>
                <a:lnTo>
                  <a:pt x="131842" y="119189"/>
                </a:lnTo>
                <a:lnTo>
                  <a:pt x="143828" y="91101"/>
                </a:lnTo>
                <a:lnTo>
                  <a:pt x="155813" y="64383"/>
                </a:lnTo>
                <a:lnTo>
                  <a:pt x="167799" y="40760"/>
                </a:lnTo>
                <a:lnTo>
                  <a:pt x="179784" y="21666"/>
                </a:lnTo>
                <a:lnTo>
                  <a:pt x="191770" y="8160"/>
                </a:lnTo>
                <a:lnTo>
                  <a:pt x="203756" y="877"/>
                </a:lnTo>
                <a:lnTo>
                  <a:pt x="215741" y="0"/>
                </a:lnTo>
                <a:lnTo>
                  <a:pt x="227727" y="5277"/>
                </a:lnTo>
                <a:lnTo>
                  <a:pt x="239712" y="16053"/>
                </a:lnTo>
                <a:lnTo>
                  <a:pt x="251698" y="31338"/>
                </a:lnTo>
                <a:lnTo>
                  <a:pt x="263684" y="49885"/>
                </a:lnTo>
                <a:lnTo>
                  <a:pt x="275669" y="70293"/>
                </a:lnTo>
                <a:lnTo>
                  <a:pt x="287655" y="91101"/>
                </a:lnTo>
                <a:lnTo>
                  <a:pt x="299641" y="110894"/>
                </a:lnTo>
                <a:lnTo>
                  <a:pt x="311626" y="128395"/>
                </a:lnTo>
                <a:lnTo>
                  <a:pt x="323612" y="142540"/>
                </a:lnTo>
                <a:lnTo>
                  <a:pt x="335598" y="152545"/>
                </a:lnTo>
                <a:lnTo>
                  <a:pt x="347583" y="157941"/>
                </a:lnTo>
                <a:lnTo>
                  <a:pt x="359569" y="158590"/>
                </a:lnTo>
                <a:lnTo>
                  <a:pt x="371554" y="154681"/>
                </a:lnTo>
                <a:lnTo>
                  <a:pt x="383540" y="146698"/>
                </a:lnTo>
                <a:lnTo>
                  <a:pt x="395526" y="135375"/>
                </a:lnTo>
                <a:lnTo>
                  <a:pt x="407511" y="121635"/>
                </a:lnTo>
                <a:lnTo>
                  <a:pt x="419497" y="106516"/>
                </a:lnTo>
                <a:lnTo>
                  <a:pt x="431482" y="91101"/>
                </a:lnTo>
                <a:lnTo>
                  <a:pt x="443468" y="76438"/>
                </a:lnTo>
                <a:lnTo>
                  <a:pt x="455454" y="63473"/>
                </a:lnTo>
                <a:lnTo>
                  <a:pt x="467439" y="52994"/>
                </a:lnTo>
                <a:lnTo>
                  <a:pt x="479425" y="45582"/>
                </a:lnTo>
                <a:lnTo>
                  <a:pt x="491411" y="41585"/>
                </a:lnTo>
                <a:lnTo>
                  <a:pt x="503396" y="41104"/>
                </a:lnTo>
                <a:lnTo>
                  <a:pt x="515382" y="44000"/>
                </a:lnTo>
                <a:lnTo>
                  <a:pt x="527368" y="49914"/>
                </a:lnTo>
                <a:lnTo>
                  <a:pt x="539353" y="58302"/>
                </a:lnTo>
                <a:lnTo>
                  <a:pt x="551339" y="68481"/>
                </a:lnTo>
                <a:lnTo>
                  <a:pt x="563324" y="79681"/>
                </a:lnTo>
                <a:lnTo>
                  <a:pt x="575310" y="91101"/>
                </a:lnTo>
                <a:lnTo>
                  <a:pt x="587296" y="101964"/>
                </a:lnTo>
                <a:lnTo>
                  <a:pt x="599281" y="111568"/>
                </a:lnTo>
                <a:lnTo>
                  <a:pt x="611267" y="119331"/>
                </a:lnTo>
                <a:lnTo>
                  <a:pt x="623253" y="124822"/>
                </a:lnTo>
                <a:lnTo>
                  <a:pt x="635238" y="127784"/>
                </a:lnTo>
                <a:lnTo>
                  <a:pt x="647224" y="128140"/>
                </a:lnTo>
                <a:lnTo>
                  <a:pt x="659209" y="125995"/>
                </a:lnTo>
                <a:lnTo>
                  <a:pt x="671195" y="121613"/>
                </a:lnTo>
                <a:lnTo>
                  <a:pt x="683181" y="115399"/>
                </a:lnTo>
                <a:lnTo>
                  <a:pt x="695166" y="107858"/>
                </a:lnTo>
                <a:lnTo>
                  <a:pt x="707152" y="99561"/>
                </a:lnTo>
                <a:lnTo>
                  <a:pt x="719138" y="91101"/>
                </a:lnTo>
                <a:lnTo>
                  <a:pt x="731123" y="83054"/>
                </a:lnTo>
                <a:lnTo>
                  <a:pt x="743109" y="75939"/>
                </a:lnTo>
                <a:lnTo>
                  <a:pt x="755094" y="70188"/>
                </a:lnTo>
                <a:lnTo>
                  <a:pt x="767080" y="66120"/>
                </a:lnTo>
                <a:lnTo>
                  <a:pt x="779066" y="63926"/>
                </a:lnTo>
                <a:lnTo>
                  <a:pt x="791051" y="63662"/>
                </a:lnTo>
                <a:lnTo>
                  <a:pt x="803037" y="65251"/>
                </a:lnTo>
                <a:lnTo>
                  <a:pt x="815022" y="68497"/>
                </a:lnTo>
                <a:lnTo>
                  <a:pt x="827008" y="73101"/>
                </a:lnTo>
                <a:lnTo>
                  <a:pt x="838994" y="78687"/>
                </a:lnTo>
                <a:lnTo>
                  <a:pt x="850979" y="84834"/>
                </a:lnTo>
                <a:lnTo>
                  <a:pt x="862965" y="91101"/>
                </a:lnTo>
                <a:lnTo>
                  <a:pt x="874951" y="97063"/>
                </a:lnTo>
                <a:lnTo>
                  <a:pt x="886936" y="102334"/>
                </a:lnTo>
                <a:lnTo>
                  <a:pt x="898922" y="106594"/>
                </a:lnTo>
                <a:lnTo>
                  <a:pt x="910907" y="109608"/>
                </a:lnTo>
                <a:lnTo>
                  <a:pt x="922893" y="111233"/>
                </a:lnTo>
                <a:lnTo>
                  <a:pt x="934879" y="111429"/>
                </a:lnTo>
                <a:lnTo>
                  <a:pt x="946864" y="110251"/>
                </a:lnTo>
                <a:lnTo>
                  <a:pt x="958850" y="107847"/>
                </a:lnTo>
                <a:lnTo>
                  <a:pt x="970836" y="104436"/>
                </a:lnTo>
                <a:lnTo>
                  <a:pt x="982821" y="100298"/>
                </a:lnTo>
                <a:lnTo>
                  <a:pt x="994807" y="95744"/>
                </a:lnTo>
                <a:lnTo>
                  <a:pt x="1006793" y="91101"/>
                </a:lnTo>
                <a:lnTo>
                  <a:pt x="1018778" y="86685"/>
                </a:lnTo>
                <a:lnTo>
                  <a:pt x="1030764" y="82780"/>
                </a:lnTo>
                <a:lnTo>
                  <a:pt x="1042749" y="79624"/>
                </a:lnTo>
                <a:lnTo>
                  <a:pt x="1054735" y="77391"/>
                </a:lnTo>
                <a:lnTo>
                  <a:pt x="1066721" y="76187"/>
                </a:lnTo>
                <a:lnTo>
                  <a:pt x="1078706" y="76042"/>
                </a:lnTo>
                <a:lnTo>
                  <a:pt x="1090692" y="76914"/>
                </a:lnTo>
                <a:lnTo>
                  <a:pt x="1102677" y="78696"/>
                </a:lnTo>
                <a:lnTo>
                  <a:pt x="1114663" y="81222"/>
                </a:lnTo>
                <a:lnTo>
                  <a:pt x="1126649" y="84288"/>
                </a:lnTo>
                <a:lnTo>
                  <a:pt x="1138634" y="87662"/>
                </a:lnTo>
                <a:lnTo>
                  <a:pt x="1150620" y="91101"/>
                </a:lnTo>
                <a:lnTo>
                  <a:pt x="1162606" y="94373"/>
                </a:lnTo>
                <a:lnTo>
                  <a:pt x="1174591" y="97266"/>
                </a:lnTo>
                <a:lnTo>
                  <a:pt x="1186577" y="99604"/>
                </a:lnTo>
                <a:lnTo>
                  <a:pt x="1198562" y="101258"/>
                </a:lnTo>
                <a:lnTo>
                  <a:pt x="1210548" y="102150"/>
                </a:lnTo>
                <a:lnTo>
                  <a:pt x="1222534" y="102257"/>
                </a:lnTo>
                <a:lnTo>
                  <a:pt x="1234519" y="101611"/>
                </a:lnTo>
                <a:lnTo>
                  <a:pt x="1246505" y="100291"/>
                </a:lnTo>
                <a:lnTo>
                  <a:pt x="1258491" y="98420"/>
                </a:lnTo>
                <a:lnTo>
                  <a:pt x="1270476" y="96148"/>
                </a:lnTo>
                <a:lnTo>
                  <a:pt x="1282462" y="93649"/>
                </a:lnTo>
                <a:lnTo>
                  <a:pt x="1294448" y="91101"/>
                </a:lnTo>
                <a:lnTo>
                  <a:pt x="1306433" y="88677"/>
                </a:lnTo>
                <a:lnTo>
                  <a:pt x="1318419" y="86534"/>
                </a:lnTo>
                <a:lnTo>
                  <a:pt x="1330404" y="84802"/>
                </a:lnTo>
                <a:lnTo>
                  <a:pt x="1342390" y="83577"/>
                </a:lnTo>
                <a:lnTo>
                  <a:pt x="1354376" y="82916"/>
                </a:lnTo>
                <a:lnTo>
                  <a:pt x="1366361" y="82837"/>
                </a:lnTo>
                <a:lnTo>
                  <a:pt x="1378347" y="83315"/>
                </a:lnTo>
                <a:lnTo>
                  <a:pt x="1390333" y="84293"/>
                </a:lnTo>
                <a:lnTo>
                  <a:pt x="1402318" y="85679"/>
                </a:lnTo>
                <a:lnTo>
                  <a:pt x="1414304" y="87362"/>
                </a:lnTo>
                <a:lnTo>
                  <a:pt x="1426289" y="89213"/>
                </a:lnTo>
                <a:lnTo>
                  <a:pt x="1438275" y="91101"/>
                </a:lnTo>
              </a:path>
            </a:pathLst>
          </a:custGeom>
          <a:noFill xmlns:a="http://schemas.openxmlformats.org/drawingml/2006/main"/>
          <a:ln xmlns:a="http://schemas.openxmlformats.org/drawingml/2006/main" w="28575">
            <a:solidFill>
              <a:srgbClr val="39667D"/>
            </a:solidFill>
          </a:ln>
        </p:spPr>
      </p:sp>
      <p:sp>
        <p:nvSpPr>
          <p:cNvPr id="33" name="">
            <a:extLst xmlns:a="http://schemas.openxmlformats.org/drawingml/2006/main">
              <a:ext uri="{FF2B5EF4-FFF2-40B4-BE49-F238E27FC236}">
                <a16:creationId xmlns:a16="http://schemas.microsoft.com/office/drawing/2014/main" id="{1AEC09B2-80C1-4A07-859F-C41FE1B90C57}"/>
              </a:ext>
            </a:extLst>
          </p:cNvPr>
          <p:cNvSpPr>
            <a:spLocks xmlns:a="http://schemas.openxmlformats.org/drawingml/2006/main" noGrp="1"/>
          </p:cNvSpPr>
          <p:nvPr/>
        </p:nvSpPr>
        <p:spPr>
          <a:xfrm xmlns:a="http://schemas.openxmlformats.org/drawingml/2006/main" flipV="0">
            <a:off x="10715625" y="2628900"/>
            <a:ext cx="953" cy="390525"/>
          </a:xfrm>
          <a:prstGeom xmlns:a="http://schemas.openxmlformats.org/drawingml/2006/main" prst="line">
            <a:avLst/>
          </a:prstGeom>
          <a:noFill xmlns:a="http://schemas.openxmlformats.org/drawingml/2006/main"/>
          <a:ln xmlns:a="http://schemas.openxmlformats.org/drawingml/2006/main" w="28575">
            <a:solidFill>
              <a:srgbClr val="39667D"/>
            </a:solidFill>
          </a:ln>
        </p:spPr>
      </p:sp>
      <p:sp>
        <p:nvSpPr>
          <p:cNvPr id="34" name="">
            <a:extLst xmlns:a="http://schemas.openxmlformats.org/drawingml/2006/main">
              <a:ext uri="{FF2B5EF4-FFF2-40B4-BE49-F238E27FC236}">
                <a16:creationId xmlns:a16="http://schemas.microsoft.com/office/drawing/2014/main" id="{9DFC154D-F266-479D-B785-4D095BDA4CE2}"/>
              </a:ext>
            </a:extLst>
          </p:cNvPr>
          <p:cNvSpPr>
            <a:spLocks xmlns:a="http://schemas.openxmlformats.org/drawingml/2006/main" noGrp="1"/>
          </p:cNvSpPr>
          <p:nvPr/>
        </p:nvSpPr>
        <p:spPr>
          <a:xfrm xmlns:a="http://schemas.openxmlformats.org/drawingml/2006/main">
            <a:off x="10648950" y="2619375"/>
            <a:ext cx="133350" cy="123825"/>
          </a:xfrm>
          <a:custGeom xmlns:a="http://schemas.openxmlformats.org/drawingml/2006/main">
            <a:pathLst>
              <a:path w="133350" h="123825">
                <a:moveTo>
                  <a:pt x="0" y="123825"/>
                </a:moveTo>
                <a:lnTo>
                  <a:pt x="66675" y="0"/>
                </a:lnTo>
                <a:lnTo>
                  <a:pt x="133350" y="123825"/>
                </a:lnTo>
              </a:path>
            </a:pathLst>
          </a:custGeom>
          <a:noFill xmlns:a="http://schemas.openxmlformats.org/drawingml/2006/main"/>
          <a:ln xmlns:a="http://schemas.openxmlformats.org/drawingml/2006/main" w="28575">
            <a:solidFill>
              <a:srgbClr val="39667D"/>
            </a:solidFill>
          </a:ln>
        </p:spPr>
      </p:sp>
      <p:sp>
        <p:nvSpPr>
          <p:cNvPr id="35" name="">
            <a:extLst xmlns:a="http://schemas.openxmlformats.org/drawingml/2006/main">
              <a:ext uri="{FF2B5EF4-FFF2-40B4-BE49-F238E27FC236}">
                <a16:creationId xmlns:a16="http://schemas.microsoft.com/office/drawing/2014/main" id="{E989FB64-C378-4E43-94E8-C3D4EAB151DE}"/>
              </a:ext>
            </a:extLst>
          </p:cNvPr>
          <p:cNvSpPr>
            <a:spLocks xmlns:a="http://schemas.openxmlformats.org/drawingml/2006/main" noGrp="1"/>
          </p:cNvSpPr>
          <p:nvPr/>
        </p:nvSpPr>
        <p:spPr>
          <a:xfrm xmlns:a="http://schemas.openxmlformats.org/drawingml/2006/main">
            <a:off x="609600" y="4429125"/>
            <a:ext cx="33813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Подушка опускает рычаг.</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Тяж деформирует</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пластинку.</a:t>
            </a:r>
          </a:p>
        </p:txBody>
      </p:sp>
      <p:sp>
        <p:nvSpPr>
          <p:cNvPr id="36" name="">
            <a:extLst xmlns:a="http://schemas.openxmlformats.org/drawingml/2006/main">
              <a:ext uri="{FF2B5EF4-FFF2-40B4-BE49-F238E27FC236}">
                <a16:creationId xmlns:a16="http://schemas.microsoft.com/office/drawing/2014/main" id="{CC0FC7F7-ED64-4552-A479-8F25A190F57D}"/>
              </a:ext>
            </a:extLst>
          </p:cNvPr>
          <p:cNvSpPr>
            <a:spLocks xmlns:a="http://schemas.openxmlformats.org/drawingml/2006/main" noGrp="1"/>
          </p:cNvSpPr>
          <p:nvPr/>
        </p:nvSpPr>
        <p:spPr>
          <a:xfrm xmlns:a="http://schemas.openxmlformats.org/drawingml/2006/main">
            <a:off x="4410075" y="4429125"/>
            <a:ext cx="33813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Упор фиксирует рычаг.</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Подушка уменьшается</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и освобождает путь.</a:t>
            </a:r>
          </a:p>
        </p:txBody>
      </p:sp>
      <p:sp>
        <p:nvSpPr>
          <p:cNvPr id="37" name="">
            <a:extLst xmlns:a="http://schemas.openxmlformats.org/drawingml/2006/main">
              <a:ext uri="{FF2B5EF4-FFF2-40B4-BE49-F238E27FC236}">
                <a16:creationId xmlns:a16="http://schemas.microsoft.com/office/drawing/2014/main" id="{FF32C00D-A016-4869-9433-C173642B58F5}"/>
              </a:ext>
            </a:extLst>
          </p:cNvPr>
          <p:cNvSpPr>
            <a:spLocks xmlns:a="http://schemas.openxmlformats.org/drawingml/2006/main" noGrp="1"/>
          </p:cNvSpPr>
          <p:nvPr/>
        </p:nvSpPr>
        <p:spPr>
          <a:xfrm xmlns:a="http://schemas.openxmlformats.org/drawingml/2006/main">
            <a:off x="8210550" y="4429125"/>
            <a:ext cx="337185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Упор отводится.</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Пластинка возвращается</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и свободно колеблется.</a:t>
            </a:r>
          </a:p>
        </p:txBody>
      </p:sp>
      <p:sp>
        <p:nvSpPr>
          <p:cNvPr id="38" name="">
            <a:extLst xmlns:a="http://schemas.openxmlformats.org/drawingml/2006/main">
              <a:ext uri="{FF2B5EF4-FFF2-40B4-BE49-F238E27FC236}">
                <a16:creationId xmlns:a16="http://schemas.microsoft.com/office/drawing/2014/main" id="{A36D7B53-71B1-4ADC-8D2A-97C1EFCA33E7}"/>
              </a:ext>
            </a:extLst>
          </p:cNvPr>
          <p:cNvSpPr>
            <a:spLocks xmlns:a="http://schemas.openxmlformats.org/drawingml/2006/main" noGrp="1"/>
          </p:cNvSpPr>
          <p:nvPr/>
        </p:nvSpPr>
        <p:spPr>
          <a:xfrm xmlns:a="http://schemas.openxmlformats.org/drawingml/2006/main">
            <a:off x="609600" y="59531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63B31"/>
                </a:solidFill>
                <a:latin typeface="Arial"/>
                <a:ea typeface="Arial"/>
                <a:cs typeface="Arial"/>
              </a:defRPr>
            </a:pPr>
            <a:r>
              <a:rPr sz="2025" b="1">
                <a:solidFill>
                  <a:srgbClr val="263B31"/>
                </a:solidFill>
                <a:latin typeface="Arial"/>
                <a:ea typeface="Arial"/>
                <a:cs typeface="Arial"/>
              </a:rPr>
              <a:t>Ca²⁺ запускает выход ионов и воды из спусковых клеток. Упор отводится.</a:t>
            </a:r>
          </a:p>
        </p:txBody>
      </p:sp>
      <p:sp>
        <p:nvSpPr>
          <p:cNvPr id="39" name="">
            <a:extLst xmlns:a="http://schemas.openxmlformats.org/drawingml/2006/main">
              <a:ext uri="{FF2B5EF4-FFF2-40B4-BE49-F238E27FC236}">
                <a16:creationId xmlns:a16="http://schemas.microsoft.com/office/drawing/2014/main" id="{BFEE25CD-46DC-4313-905C-FA4EDF72F4BB}"/>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[2], [21]</a:t>
            </a:r>
          </a:p>
        </p:txBody>
      </p:sp>
    </p:spTree>
    <p:extLst>
      <p:ext uri="{BB962C8B-B14F-4D97-AF65-F5344CB8AC3E}">
        <p14:creationId xmlns:p14="http://schemas.microsoft.com/office/powerpoint/2010/main" val="1211210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0B43D03-F3C8-47DE-945D-0F2CAD1689B4}"/>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Система кодировки: число щелчков</a:t>
            </a:r>
          </a:p>
        </p:txBody>
      </p:sp>
      <p:sp>
        <p:nvSpPr>
          <p:cNvPr id="2" name="">
            <a:extLst xmlns:a="http://schemas.openxmlformats.org/drawingml/2006/main">
              <a:ext uri="{FF2B5EF4-FFF2-40B4-BE49-F238E27FC236}">
                <a16:creationId xmlns:a16="http://schemas.microsoft.com/office/drawing/2014/main" id="{DF27B4CB-16A1-49ED-9C6F-C2013EFF9327}"/>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F75D4FCC-C0B2-41E7-960F-E9E96E114B93}"/>
              </a:ext>
            </a:extLst>
          </p:cNvPr>
          <p:cNvSpPr>
            <a:spLocks xmlns:a="http://schemas.openxmlformats.org/drawingml/2006/main" noGrp="1"/>
          </p:cNvSpPr>
          <p:nvPr/>
        </p:nvSpPr>
        <p:spPr>
          <a:xfrm xmlns:a="http://schemas.openxmlformats.org/drawingml/2006/main">
            <a:off x="609600" y="1571625"/>
            <a:ext cx="3848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Нектара немного</a:t>
            </a:r>
          </a:p>
        </p:txBody>
      </p:sp>
      <p:sp>
        <p:nvSpPr>
          <p:cNvPr id="4" name="">
            <a:extLst xmlns:a="http://schemas.openxmlformats.org/drawingml/2006/main">
              <a:ext uri="{FF2B5EF4-FFF2-40B4-BE49-F238E27FC236}">
                <a16:creationId xmlns:a16="http://schemas.microsoft.com/office/drawing/2014/main" id="{3119CD99-E720-4F82-B6D0-17C230D57AE3}"/>
              </a:ext>
            </a:extLst>
          </p:cNvPr>
          <p:cNvSpPr>
            <a:spLocks xmlns:a="http://schemas.openxmlformats.org/drawingml/2006/main" noGrp="1"/>
          </p:cNvSpPr>
          <p:nvPr/>
        </p:nvSpPr>
        <p:spPr>
          <a:xfrm xmlns:a="http://schemas.openxmlformats.org/drawingml/2006/main" flipV="0">
            <a:off x="4657725" y="1933575"/>
            <a:ext cx="6677025" cy="953"/>
          </a:xfrm>
          <a:prstGeom xmlns:a="http://schemas.openxmlformats.org/drawingml/2006/main" prst="line">
            <a:avLst/>
          </a:prstGeom>
          <a:noFill xmlns:a="http://schemas.openxmlformats.org/drawingml/2006/main"/>
          <a:ln xmlns:a="http://schemas.openxmlformats.org/drawingml/2006/main" w="19050">
            <a:solidFill>
              <a:srgbClr val="DCE4DB"/>
            </a:solidFill>
          </a:ln>
        </p:spPr>
      </p:sp>
      <p:sp>
        <p:nvSpPr>
          <p:cNvPr id="5" name="">
            <a:extLst xmlns:a="http://schemas.openxmlformats.org/drawingml/2006/main">
              <a:ext uri="{FF2B5EF4-FFF2-40B4-BE49-F238E27FC236}">
                <a16:creationId xmlns:a16="http://schemas.microsoft.com/office/drawing/2014/main" id="{222AC9D2-4E00-4F39-AD9D-9E9C5352D354}"/>
              </a:ext>
            </a:extLst>
          </p:cNvPr>
          <p:cNvSpPr>
            <a:spLocks xmlns:a="http://schemas.openxmlformats.org/drawingml/2006/main" noGrp="1"/>
          </p:cNvSpPr>
          <p:nvPr/>
        </p:nvSpPr>
        <p:spPr>
          <a:xfrm xmlns:a="http://schemas.openxmlformats.org/drawingml/2006/main">
            <a:off x="4800600" y="1724089"/>
            <a:ext cx="1238250" cy="478471"/>
          </a:xfrm>
          <a:custGeom xmlns:a="http://schemas.openxmlformats.org/drawingml/2006/main">
            <a:pathLst>
              <a:path w="1238250" h="478471">
                <a:moveTo>
                  <a:pt x="0" y="209486"/>
                </a:moveTo>
                <a:lnTo>
                  <a:pt x="10319" y="301349"/>
                </a:lnTo>
                <a:lnTo>
                  <a:pt x="20638"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47705A"/>
            </a:solidFill>
          </a:ln>
        </p:spPr>
      </p:sp>
      <p:sp>
        <p:nvSpPr>
          <p:cNvPr id="6" name="">
            <a:extLst xmlns:a="http://schemas.openxmlformats.org/drawingml/2006/main">
              <a:ext uri="{FF2B5EF4-FFF2-40B4-BE49-F238E27FC236}">
                <a16:creationId xmlns:a16="http://schemas.microsoft.com/office/drawing/2014/main" id="{8EA1211A-589B-4544-A5ED-84D8A95BCAAE}"/>
              </a:ext>
            </a:extLst>
          </p:cNvPr>
          <p:cNvSpPr>
            <a:spLocks xmlns:a="http://schemas.openxmlformats.org/drawingml/2006/main" noGrp="1"/>
          </p:cNvSpPr>
          <p:nvPr/>
        </p:nvSpPr>
        <p:spPr>
          <a:xfrm xmlns:a="http://schemas.openxmlformats.org/drawingml/2006/main">
            <a:off x="609600" y="2619375"/>
            <a:ext cx="3848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Нектара много</a:t>
            </a:r>
          </a:p>
        </p:txBody>
      </p:sp>
      <p:sp>
        <p:nvSpPr>
          <p:cNvPr id="7" name="">
            <a:extLst xmlns:a="http://schemas.openxmlformats.org/drawingml/2006/main">
              <a:ext uri="{FF2B5EF4-FFF2-40B4-BE49-F238E27FC236}">
                <a16:creationId xmlns:a16="http://schemas.microsoft.com/office/drawing/2014/main" id="{2772755B-9E23-43B8-BE13-3FF5DAEFE494}"/>
              </a:ext>
            </a:extLst>
          </p:cNvPr>
          <p:cNvSpPr>
            <a:spLocks xmlns:a="http://schemas.openxmlformats.org/drawingml/2006/main" noGrp="1"/>
          </p:cNvSpPr>
          <p:nvPr/>
        </p:nvSpPr>
        <p:spPr>
          <a:xfrm xmlns:a="http://schemas.openxmlformats.org/drawingml/2006/main" flipV="0">
            <a:off x="4657725" y="2981325"/>
            <a:ext cx="6677025" cy="953"/>
          </a:xfrm>
          <a:prstGeom xmlns:a="http://schemas.openxmlformats.org/drawingml/2006/main" prst="line">
            <a:avLst/>
          </a:prstGeom>
          <a:noFill xmlns:a="http://schemas.openxmlformats.org/drawingml/2006/main"/>
          <a:ln xmlns:a="http://schemas.openxmlformats.org/drawingml/2006/main" w="19050">
            <a:solidFill>
              <a:srgbClr val="DCE4DB"/>
            </a:solidFill>
          </a:ln>
        </p:spPr>
      </p:sp>
      <p:sp>
        <p:nvSpPr>
          <p:cNvPr id="8" name="">
            <a:extLst xmlns:a="http://schemas.openxmlformats.org/drawingml/2006/main">
              <a:ext uri="{FF2B5EF4-FFF2-40B4-BE49-F238E27FC236}">
                <a16:creationId xmlns:a16="http://schemas.microsoft.com/office/drawing/2014/main" id="{6D199ED4-73E5-457A-96C0-CDC232CF4711}"/>
              </a:ext>
            </a:extLst>
          </p:cNvPr>
          <p:cNvSpPr>
            <a:spLocks xmlns:a="http://schemas.openxmlformats.org/drawingml/2006/main" noGrp="1"/>
          </p:cNvSpPr>
          <p:nvPr/>
        </p:nvSpPr>
        <p:spPr>
          <a:xfrm xmlns:a="http://schemas.openxmlformats.org/drawingml/2006/main">
            <a:off x="4800600" y="2771839"/>
            <a:ext cx="1238250" cy="478471"/>
          </a:xfrm>
          <a:custGeom xmlns:a="http://schemas.openxmlformats.org/drawingml/2006/main">
            <a:pathLst>
              <a:path w="1238250" h="478471">
                <a:moveTo>
                  <a:pt x="0" y="209486"/>
                </a:moveTo>
                <a:lnTo>
                  <a:pt x="10319" y="301349"/>
                </a:lnTo>
                <a:lnTo>
                  <a:pt x="20638"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47705A"/>
            </a:solidFill>
          </a:ln>
        </p:spPr>
      </p:sp>
      <p:sp>
        <p:nvSpPr>
          <p:cNvPr id="9" name="">
            <a:extLst xmlns:a="http://schemas.openxmlformats.org/drawingml/2006/main">
              <a:ext uri="{FF2B5EF4-FFF2-40B4-BE49-F238E27FC236}">
                <a16:creationId xmlns:a16="http://schemas.microsoft.com/office/drawing/2014/main" id="{3F72A503-C3C0-43E4-B294-794F7C145ADE}"/>
              </a:ext>
            </a:extLst>
          </p:cNvPr>
          <p:cNvSpPr>
            <a:spLocks xmlns:a="http://schemas.openxmlformats.org/drawingml/2006/main" noGrp="1"/>
          </p:cNvSpPr>
          <p:nvPr/>
        </p:nvSpPr>
        <p:spPr>
          <a:xfrm xmlns:a="http://schemas.openxmlformats.org/drawingml/2006/main">
            <a:off x="6457950" y="2771839"/>
            <a:ext cx="1238250" cy="478471"/>
          </a:xfrm>
          <a:custGeom xmlns:a="http://schemas.openxmlformats.org/drawingml/2006/main">
            <a:pathLst>
              <a:path w="1238250" h="478471">
                <a:moveTo>
                  <a:pt x="0" y="209486"/>
                </a:moveTo>
                <a:lnTo>
                  <a:pt x="10319" y="301349"/>
                </a:lnTo>
                <a:lnTo>
                  <a:pt x="20637"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47705A"/>
            </a:solidFill>
          </a:ln>
        </p:spPr>
      </p:sp>
      <p:sp>
        <p:nvSpPr>
          <p:cNvPr id="10" name="">
            <a:extLst xmlns:a="http://schemas.openxmlformats.org/drawingml/2006/main">
              <a:ext uri="{FF2B5EF4-FFF2-40B4-BE49-F238E27FC236}">
                <a16:creationId xmlns:a16="http://schemas.microsoft.com/office/drawing/2014/main" id="{B98968E2-A7F4-46FB-9DFB-5BC17F375E5B}"/>
              </a:ext>
            </a:extLst>
          </p:cNvPr>
          <p:cNvSpPr>
            <a:spLocks xmlns:a="http://schemas.openxmlformats.org/drawingml/2006/main" noGrp="1"/>
          </p:cNvSpPr>
          <p:nvPr/>
        </p:nvSpPr>
        <p:spPr>
          <a:xfrm xmlns:a="http://schemas.openxmlformats.org/drawingml/2006/main">
            <a:off x="609600" y="3667125"/>
            <a:ext cx="3848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Нектар закончился</a:t>
            </a:r>
          </a:p>
        </p:txBody>
      </p:sp>
      <p:sp>
        <p:nvSpPr>
          <p:cNvPr id="11" name="">
            <a:extLst xmlns:a="http://schemas.openxmlformats.org/drawingml/2006/main">
              <a:ext uri="{FF2B5EF4-FFF2-40B4-BE49-F238E27FC236}">
                <a16:creationId xmlns:a16="http://schemas.microsoft.com/office/drawing/2014/main" id="{7A2AB22E-9072-4F66-94C2-22844148C9B5}"/>
              </a:ext>
            </a:extLst>
          </p:cNvPr>
          <p:cNvSpPr>
            <a:spLocks xmlns:a="http://schemas.openxmlformats.org/drawingml/2006/main" noGrp="1"/>
          </p:cNvSpPr>
          <p:nvPr/>
        </p:nvSpPr>
        <p:spPr>
          <a:xfrm xmlns:a="http://schemas.openxmlformats.org/drawingml/2006/main" flipV="0">
            <a:off x="4657725" y="4029075"/>
            <a:ext cx="6677025" cy="953"/>
          </a:xfrm>
          <a:prstGeom xmlns:a="http://schemas.openxmlformats.org/drawingml/2006/main" prst="line">
            <a:avLst/>
          </a:prstGeom>
          <a:noFill xmlns:a="http://schemas.openxmlformats.org/drawingml/2006/main"/>
          <a:ln xmlns:a="http://schemas.openxmlformats.org/drawingml/2006/main" w="19050">
            <a:solidFill>
              <a:srgbClr val="DCE4DB"/>
            </a:solidFill>
          </a:ln>
        </p:spPr>
      </p:sp>
      <p:sp>
        <p:nvSpPr>
          <p:cNvPr id="12" name="">
            <a:extLst xmlns:a="http://schemas.openxmlformats.org/drawingml/2006/main">
              <a:ext uri="{FF2B5EF4-FFF2-40B4-BE49-F238E27FC236}">
                <a16:creationId xmlns:a16="http://schemas.microsoft.com/office/drawing/2014/main" id="{447EC253-2F39-48C2-A1A7-9E871CDD3808}"/>
              </a:ext>
            </a:extLst>
          </p:cNvPr>
          <p:cNvSpPr>
            <a:spLocks xmlns:a="http://schemas.openxmlformats.org/drawingml/2006/main" noGrp="1"/>
          </p:cNvSpPr>
          <p:nvPr/>
        </p:nvSpPr>
        <p:spPr>
          <a:xfrm xmlns:a="http://schemas.openxmlformats.org/drawingml/2006/main">
            <a:off x="4800600" y="3819589"/>
            <a:ext cx="1238250" cy="478471"/>
          </a:xfrm>
          <a:custGeom xmlns:a="http://schemas.openxmlformats.org/drawingml/2006/main">
            <a:pathLst>
              <a:path w="1238250" h="478471">
                <a:moveTo>
                  <a:pt x="0" y="209486"/>
                </a:moveTo>
                <a:lnTo>
                  <a:pt x="10319" y="301349"/>
                </a:lnTo>
                <a:lnTo>
                  <a:pt x="20638"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47705A"/>
            </a:solidFill>
          </a:ln>
        </p:spPr>
      </p:sp>
      <p:sp>
        <p:nvSpPr>
          <p:cNvPr id="13" name="">
            <a:extLst xmlns:a="http://schemas.openxmlformats.org/drawingml/2006/main">
              <a:ext uri="{FF2B5EF4-FFF2-40B4-BE49-F238E27FC236}">
                <a16:creationId xmlns:a16="http://schemas.microsoft.com/office/drawing/2014/main" id="{697ED25E-DB1B-4996-91B8-91B794890EDB}"/>
              </a:ext>
            </a:extLst>
          </p:cNvPr>
          <p:cNvSpPr>
            <a:spLocks xmlns:a="http://schemas.openxmlformats.org/drawingml/2006/main" noGrp="1"/>
          </p:cNvSpPr>
          <p:nvPr/>
        </p:nvSpPr>
        <p:spPr>
          <a:xfrm xmlns:a="http://schemas.openxmlformats.org/drawingml/2006/main">
            <a:off x="6457950" y="3819589"/>
            <a:ext cx="1238250" cy="478471"/>
          </a:xfrm>
          <a:custGeom xmlns:a="http://schemas.openxmlformats.org/drawingml/2006/main">
            <a:pathLst>
              <a:path w="1238250" h="478471">
                <a:moveTo>
                  <a:pt x="0" y="209486"/>
                </a:moveTo>
                <a:lnTo>
                  <a:pt x="10319" y="301349"/>
                </a:lnTo>
                <a:lnTo>
                  <a:pt x="20637"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47705A"/>
            </a:solidFill>
          </a:ln>
        </p:spPr>
      </p:sp>
      <p:sp>
        <p:nvSpPr>
          <p:cNvPr id="14" name="">
            <a:extLst xmlns:a="http://schemas.openxmlformats.org/drawingml/2006/main">
              <a:ext uri="{FF2B5EF4-FFF2-40B4-BE49-F238E27FC236}">
                <a16:creationId xmlns:a16="http://schemas.microsoft.com/office/drawing/2014/main" id="{ED232C06-24FF-4E01-A962-938B4E50AEFA}"/>
              </a:ext>
            </a:extLst>
          </p:cNvPr>
          <p:cNvSpPr>
            <a:spLocks xmlns:a="http://schemas.openxmlformats.org/drawingml/2006/main" noGrp="1"/>
          </p:cNvSpPr>
          <p:nvPr/>
        </p:nvSpPr>
        <p:spPr>
          <a:xfrm xmlns:a="http://schemas.openxmlformats.org/drawingml/2006/main">
            <a:off x="8115300" y="3819589"/>
            <a:ext cx="1238250" cy="478471"/>
          </a:xfrm>
          <a:custGeom xmlns:a="http://schemas.openxmlformats.org/drawingml/2006/main">
            <a:pathLst>
              <a:path w="1238250" h="478471">
                <a:moveTo>
                  <a:pt x="0" y="209486"/>
                </a:moveTo>
                <a:lnTo>
                  <a:pt x="10319" y="301349"/>
                </a:lnTo>
                <a:lnTo>
                  <a:pt x="20637"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47705A"/>
            </a:solidFill>
          </a:ln>
        </p:spPr>
      </p:sp>
      <p:sp>
        <p:nvSpPr>
          <p:cNvPr id="15" name="">
            <a:extLst xmlns:a="http://schemas.openxmlformats.org/drawingml/2006/main">
              <a:ext uri="{FF2B5EF4-FFF2-40B4-BE49-F238E27FC236}">
                <a16:creationId xmlns:a16="http://schemas.microsoft.com/office/drawing/2014/main" id="{8BFBCF2F-9C79-4F83-A9C5-27C81589E7B7}"/>
              </a:ext>
            </a:extLst>
          </p:cNvPr>
          <p:cNvSpPr>
            <a:spLocks xmlns:a="http://schemas.openxmlformats.org/drawingml/2006/main" noGrp="1"/>
          </p:cNvSpPr>
          <p:nvPr/>
        </p:nvSpPr>
        <p:spPr>
          <a:xfrm xmlns:a="http://schemas.openxmlformats.org/drawingml/2006/main">
            <a:off x="609600" y="4714875"/>
            <a:ext cx="3848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A96743"/>
                </a:solidFill>
                <a:latin typeface="Arial"/>
                <a:ea typeface="Arial"/>
                <a:cs typeface="Arial"/>
              </a:defRPr>
            </a:pPr>
            <a:r>
              <a:rPr sz="2250" b="1">
                <a:solidFill>
                  <a:srgbClr val="A96743"/>
                </a:solidFill>
                <a:latin typeface="Arial"/>
                <a:ea typeface="Arial"/>
                <a:cs typeface="Arial"/>
              </a:rPr>
              <a:t>Нападение насекомых</a:t>
            </a:r>
          </a:p>
        </p:txBody>
      </p:sp>
      <p:sp>
        <p:nvSpPr>
          <p:cNvPr id="16" name="">
            <a:extLst xmlns:a="http://schemas.openxmlformats.org/drawingml/2006/main">
              <a:ext uri="{FF2B5EF4-FFF2-40B4-BE49-F238E27FC236}">
                <a16:creationId xmlns:a16="http://schemas.microsoft.com/office/drawing/2014/main" id="{2E9C53EC-DF43-4EE3-9B8B-51B671B80FE0}"/>
              </a:ext>
            </a:extLst>
          </p:cNvPr>
          <p:cNvSpPr>
            <a:spLocks xmlns:a="http://schemas.openxmlformats.org/drawingml/2006/main" noGrp="1"/>
          </p:cNvSpPr>
          <p:nvPr/>
        </p:nvSpPr>
        <p:spPr>
          <a:xfrm xmlns:a="http://schemas.openxmlformats.org/drawingml/2006/main" flipV="0">
            <a:off x="4657725" y="5076825"/>
            <a:ext cx="6677025" cy="953"/>
          </a:xfrm>
          <a:prstGeom xmlns:a="http://schemas.openxmlformats.org/drawingml/2006/main" prst="line">
            <a:avLst/>
          </a:prstGeom>
          <a:noFill xmlns:a="http://schemas.openxmlformats.org/drawingml/2006/main"/>
          <a:ln xmlns:a="http://schemas.openxmlformats.org/drawingml/2006/main" w="19050">
            <a:solidFill>
              <a:srgbClr val="DCE4DB"/>
            </a:solidFill>
          </a:ln>
        </p:spPr>
      </p:sp>
      <p:sp>
        <p:nvSpPr>
          <p:cNvPr id="17" name="">
            <a:extLst xmlns:a="http://schemas.openxmlformats.org/drawingml/2006/main">
              <a:ext uri="{FF2B5EF4-FFF2-40B4-BE49-F238E27FC236}">
                <a16:creationId xmlns:a16="http://schemas.microsoft.com/office/drawing/2014/main" id="{1C9D7904-C8A6-4B78-99E1-F777419A8298}"/>
              </a:ext>
            </a:extLst>
          </p:cNvPr>
          <p:cNvSpPr>
            <a:spLocks xmlns:a="http://schemas.openxmlformats.org/drawingml/2006/main" noGrp="1"/>
          </p:cNvSpPr>
          <p:nvPr/>
        </p:nvSpPr>
        <p:spPr>
          <a:xfrm xmlns:a="http://schemas.openxmlformats.org/drawingml/2006/main">
            <a:off x="4800600" y="4867339"/>
            <a:ext cx="1238250" cy="478471"/>
          </a:xfrm>
          <a:custGeom xmlns:a="http://schemas.openxmlformats.org/drawingml/2006/main">
            <a:pathLst>
              <a:path w="1238250" h="478471">
                <a:moveTo>
                  <a:pt x="0" y="209486"/>
                </a:moveTo>
                <a:lnTo>
                  <a:pt x="10319" y="301349"/>
                </a:lnTo>
                <a:lnTo>
                  <a:pt x="20638"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A96743"/>
            </a:solidFill>
          </a:ln>
        </p:spPr>
      </p:sp>
      <p:sp>
        <p:nvSpPr>
          <p:cNvPr id="18" name="">
            <a:extLst xmlns:a="http://schemas.openxmlformats.org/drawingml/2006/main">
              <a:ext uri="{FF2B5EF4-FFF2-40B4-BE49-F238E27FC236}">
                <a16:creationId xmlns:a16="http://schemas.microsoft.com/office/drawing/2014/main" id="{A389EDAC-262C-4054-9EF5-D52F4315546B}"/>
              </a:ext>
            </a:extLst>
          </p:cNvPr>
          <p:cNvSpPr>
            <a:spLocks xmlns:a="http://schemas.openxmlformats.org/drawingml/2006/main" noGrp="1"/>
          </p:cNvSpPr>
          <p:nvPr/>
        </p:nvSpPr>
        <p:spPr>
          <a:xfrm xmlns:a="http://schemas.openxmlformats.org/drawingml/2006/main">
            <a:off x="6457950" y="4867339"/>
            <a:ext cx="1238250" cy="478471"/>
          </a:xfrm>
          <a:custGeom xmlns:a="http://schemas.openxmlformats.org/drawingml/2006/main">
            <a:pathLst>
              <a:path w="1238250" h="478471">
                <a:moveTo>
                  <a:pt x="0" y="209486"/>
                </a:moveTo>
                <a:lnTo>
                  <a:pt x="10319" y="301349"/>
                </a:lnTo>
                <a:lnTo>
                  <a:pt x="20637"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A96743"/>
            </a:solidFill>
          </a:ln>
        </p:spPr>
      </p:sp>
      <p:sp>
        <p:nvSpPr>
          <p:cNvPr id="19" name="">
            <a:extLst xmlns:a="http://schemas.openxmlformats.org/drawingml/2006/main">
              <a:ext uri="{FF2B5EF4-FFF2-40B4-BE49-F238E27FC236}">
                <a16:creationId xmlns:a16="http://schemas.microsoft.com/office/drawing/2014/main" id="{A2D02AF5-4307-4930-99EB-2B5C3C231388}"/>
              </a:ext>
            </a:extLst>
          </p:cNvPr>
          <p:cNvSpPr>
            <a:spLocks xmlns:a="http://schemas.openxmlformats.org/drawingml/2006/main" noGrp="1"/>
          </p:cNvSpPr>
          <p:nvPr/>
        </p:nvSpPr>
        <p:spPr>
          <a:xfrm xmlns:a="http://schemas.openxmlformats.org/drawingml/2006/main">
            <a:off x="8115300" y="4867339"/>
            <a:ext cx="1238250" cy="478471"/>
          </a:xfrm>
          <a:custGeom xmlns:a="http://schemas.openxmlformats.org/drawingml/2006/main">
            <a:pathLst>
              <a:path w="1238250" h="478471">
                <a:moveTo>
                  <a:pt x="0" y="209486"/>
                </a:moveTo>
                <a:lnTo>
                  <a:pt x="10319" y="301349"/>
                </a:lnTo>
                <a:lnTo>
                  <a:pt x="20637" y="379905"/>
                </a:lnTo>
                <a:lnTo>
                  <a:pt x="30956" y="438257"/>
                </a:lnTo>
                <a:lnTo>
                  <a:pt x="41275" y="471782"/>
                </a:lnTo>
                <a:lnTo>
                  <a:pt x="51594" y="478471"/>
                </a:lnTo>
                <a:lnTo>
                  <a:pt x="61913" y="458990"/>
                </a:lnTo>
                <a:lnTo>
                  <a:pt x="72231" y="416486"/>
                </a:lnTo>
                <a:lnTo>
                  <a:pt x="82550" y="356167"/>
                </a:lnTo>
                <a:lnTo>
                  <a:pt x="92869" y="284697"/>
                </a:lnTo>
                <a:lnTo>
                  <a:pt x="103188" y="209486"/>
                </a:lnTo>
                <a:lnTo>
                  <a:pt x="113506" y="137943"/>
                </a:lnTo>
                <a:lnTo>
                  <a:pt x="123825" y="76763"/>
                </a:lnTo>
                <a:lnTo>
                  <a:pt x="134144" y="31319"/>
                </a:lnTo>
                <a:lnTo>
                  <a:pt x="144462" y="5209"/>
                </a:lnTo>
                <a:lnTo>
                  <a:pt x="154781" y="0"/>
                </a:lnTo>
                <a:lnTo>
                  <a:pt x="165100" y="15172"/>
                </a:lnTo>
                <a:lnTo>
                  <a:pt x="175419" y="48274"/>
                </a:lnTo>
                <a:lnTo>
                  <a:pt x="185738" y="95250"/>
                </a:lnTo>
                <a:lnTo>
                  <a:pt x="196056" y="150911"/>
                </a:lnTo>
                <a:lnTo>
                  <a:pt x="206375" y="209486"/>
                </a:lnTo>
                <a:lnTo>
                  <a:pt x="216694" y="265203"/>
                </a:lnTo>
                <a:lnTo>
                  <a:pt x="227013" y="312850"/>
                </a:lnTo>
                <a:lnTo>
                  <a:pt x="237331" y="348242"/>
                </a:lnTo>
                <a:lnTo>
                  <a:pt x="247650" y="368576"/>
                </a:lnTo>
                <a:lnTo>
                  <a:pt x="257969" y="372633"/>
                </a:lnTo>
                <a:lnTo>
                  <a:pt x="268287" y="360817"/>
                </a:lnTo>
                <a:lnTo>
                  <a:pt x="278606" y="335038"/>
                </a:lnTo>
                <a:lnTo>
                  <a:pt x="288925" y="298452"/>
                </a:lnTo>
                <a:lnTo>
                  <a:pt x="299244" y="255104"/>
                </a:lnTo>
                <a:lnTo>
                  <a:pt x="309563" y="209486"/>
                </a:lnTo>
                <a:lnTo>
                  <a:pt x="319881" y="166093"/>
                </a:lnTo>
                <a:lnTo>
                  <a:pt x="330200" y="128985"/>
                </a:lnTo>
                <a:lnTo>
                  <a:pt x="340519" y="101422"/>
                </a:lnTo>
                <a:lnTo>
                  <a:pt x="350838" y="85586"/>
                </a:lnTo>
                <a:lnTo>
                  <a:pt x="361156" y="82426"/>
                </a:lnTo>
                <a:lnTo>
                  <a:pt x="371475" y="91629"/>
                </a:lnTo>
                <a:lnTo>
                  <a:pt x="381794" y="111706"/>
                </a:lnTo>
                <a:lnTo>
                  <a:pt x="392112" y="140198"/>
                </a:lnTo>
                <a:lnTo>
                  <a:pt x="402431" y="173959"/>
                </a:lnTo>
                <a:lnTo>
                  <a:pt x="412750" y="209486"/>
                </a:lnTo>
                <a:lnTo>
                  <a:pt x="423069" y="243280"/>
                </a:lnTo>
                <a:lnTo>
                  <a:pt x="433388" y="272180"/>
                </a:lnTo>
                <a:lnTo>
                  <a:pt x="443706" y="293646"/>
                </a:lnTo>
                <a:lnTo>
                  <a:pt x="454025" y="305979"/>
                </a:lnTo>
                <a:lnTo>
                  <a:pt x="464344" y="308440"/>
                </a:lnTo>
                <a:lnTo>
                  <a:pt x="474663" y="301273"/>
                </a:lnTo>
                <a:lnTo>
                  <a:pt x="484981" y="285637"/>
                </a:lnTo>
                <a:lnTo>
                  <a:pt x="495300" y="263447"/>
                </a:lnTo>
                <a:lnTo>
                  <a:pt x="505619" y="237154"/>
                </a:lnTo>
                <a:lnTo>
                  <a:pt x="515937" y="209486"/>
                </a:lnTo>
                <a:lnTo>
                  <a:pt x="526256" y="183167"/>
                </a:lnTo>
                <a:lnTo>
                  <a:pt x="536575" y="160660"/>
                </a:lnTo>
                <a:lnTo>
                  <a:pt x="546894" y="143942"/>
                </a:lnTo>
                <a:lnTo>
                  <a:pt x="557213" y="134337"/>
                </a:lnTo>
                <a:lnTo>
                  <a:pt x="567531" y="132420"/>
                </a:lnTo>
                <a:lnTo>
                  <a:pt x="577850" y="138002"/>
                </a:lnTo>
                <a:lnTo>
                  <a:pt x="588169" y="150179"/>
                </a:lnTo>
                <a:lnTo>
                  <a:pt x="598488" y="167461"/>
                </a:lnTo>
                <a:lnTo>
                  <a:pt x="608806" y="187937"/>
                </a:lnTo>
                <a:lnTo>
                  <a:pt x="619125" y="209486"/>
                </a:lnTo>
                <a:lnTo>
                  <a:pt x="629444" y="229983"/>
                </a:lnTo>
                <a:lnTo>
                  <a:pt x="639762" y="247511"/>
                </a:lnTo>
                <a:lnTo>
                  <a:pt x="650081" y="260531"/>
                </a:lnTo>
                <a:lnTo>
                  <a:pt x="660400" y="268012"/>
                </a:lnTo>
                <a:lnTo>
                  <a:pt x="670719" y="269504"/>
                </a:lnTo>
                <a:lnTo>
                  <a:pt x="681038" y="265158"/>
                </a:lnTo>
                <a:lnTo>
                  <a:pt x="691356" y="255674"/>
                </a:lnTo>
                <a:lnTo>
                  <a:pt x="701675" y="242215"/>
                </a:lnTo>
                <a:lnTo>
                  <a:pt x="711994" y="226268"/>
                </a:lnTo>
                <a:lnTo>
                  <a:pt x="722313" y="209486"/>
                </a:lnTo>
                <a:lnTo>
                  <a:pt x="732631" y="193522"/>
                </a:lnTo>
                <a:lnTo>
                  <a:pt x="742950" y="179871"/>
                </a:lnTo>
                <a:lnTo>
                  <a:pt x="753269" y="169731"/>
                </a:lnTo>
                <a:lnTo>
                  <a:pt x="763587" y="163906"/>
                </a:lnTo>
                <a:lnTo>
                  <a:pt x="773906" y="162743"/>
                </a:lnTo>
                <a:lnTo>
                  <a:pt x="784225" y="166129"/>
                </a:lnTo>
                <a:lnTo>
                  <a:pt x="794544" y="173515"/>
                </a:lnTo>
                <a:lnTo>
                  <a:pt x="804863" y="183996"/>
                </a:lnTo>
                <a:lnTo>
                  <a:pt x="815181" y="196416"/>
                </a:lnTo>
                <a:lnTo>
                  <a:pt x="825500" y="209486"/>
                </a:lnTo>
                <a:lnTo>
                  <a:pt x="835819" y="221918"/>
                </a:lnTo>
                <a:lnTo>
                  <a:pt x="846138" y="232550"/>
                </a:lnTo>
                <a:lnTo>
                  <a:pt x="856456" y="240447"/>
                </a:lnTo>
                <a:lnTo>
                  <a:pt x="866775" y="244984"/>
                </a:lnTo>
                <a:lnTo>
                  <a:pt x="877094" y="245889"/>
                </a:lnTo>
                <a:lnTo>
                  <a:pt x="887412" y="243252"/>
                </a:lnTo>
                <a:lnTo>
                  <a:pt x="897731" y="237500"/>
                </a:lnTo>
                <a:lnTo>
                  <a:pt x="908050" y="229337"/>
                </a:lnTo>
                <a:lnTo>
                  <a:pt x="918369" y="219664"/>
                </a:lnTo>
                <a:lnTo>
                  <a:pt x="928688" y="209486"/>
                </a:lnTo>
                <a:lnTo>
                  <a:pt x="939006" y="199803"/>
                </a:lnTo>
                <a:lnTo>
                  <a:pt x="949325" y="191524"/>
                </a:lnTo>
                <a:lnTo>
                  <a:pt x="959644" y="185374"/>
                </a:lnTo>
                <a:lnTo>
                  <a:pt x="969963" y="181840"/>
                </a:lnTo>
                <a:lnTo>
                  <a:pt x="980281" y="181135"/>
                </a:lnTo>
                <a:lnTo>
                  <a:pt x="990600" y="183188"/>
                </a:lnTo>
                <a:lnTo>
                  <a:pt x="1000919" y="187668"/>
                </a:lnTo>
                <a:lnTo>
                  <a:pt x="1011237" y="194026"/>
                </a:lnTo>
                <a:lnTo>
                  <a:pt x="1021556" y="201559"/>
                </a:lnTo>
                <a:lnTo>
                  <a:pt x="1031875" y="209486"/>
                </a:lnTo>
                <a:lnTo>
                  <a:pt x="1042194" y="217026"/>
                </a:lnTo>
                <a:lnTo>
                  <a:pt x="1052513" y="223475"/>
                </a:lnTo>
                <a:lnTo>
                  <a:pt x="1062831" y="228264"/>
                </a:lnTo>
                <a:lnTo>
                  <a:pt x="1073150" y="231016"/>
                </a:lnTo>
                <a:lnTo>
                  <a:pt x="1083469" y="231565"/>
                </a:lnTo>
                <a:lnTo>
                  <a:pt x="1093788" y="229966"/>
                </a:lnTo>
                <a:lnTo>
                  <a:pt x="1104106" y="226477"/>
                </a:lnTo>
                <a:lnTo>
                  <a:pt x="1114425" y="221526"/>
                </a:lnTo>
                <a:lnTo>
                  <a:pt x="1124744" y="215659"/>
                </a:lnTo>
                <a:lnTo>
                  <a:pt x="1135062" y="209486"/>
                </a:lnTo>
                <a:lnTo>
                  <a:pt x="1145381" y="203613"/>
                </a:lnTo>
                <a:lnTo>
                  <a:pt x="1155700" y="198591"/>
                </a:lnTo>
                <a:lnTo>
                  <a:pt x="1166019" y="194861"/>
                </a:lnTo>
                <a:lnTo>
                  <a:pt x="1176338" y="192718"/>
                </a:lnTo>
                <a:lnTo>
                  <a:pt x="1186656" y="192290"/>
                </a:lnTo>
                <a:lnTo>
                  <a:pt x="1196975" y="193536"/>
                </a:lnTo>
                <a:lnTo>
                  <a:pt x="1207294" y="196253"/>
                </a:lnTo>
                <a:lnTo>
                  <a:pt x="1217613" y="200109"/>
                </a:lnTo>
                <a:lnTo>
                  <a:pt x="1227931" y="204678"/>
                </a:lnTo>
                <a:lnTo>
                  <a:pt x="1238250" y="209486"/>
                </a:lnTo>
              </a:path>
            </a:pathLst>
          </a:custGeom>
          <a:noFill xmlns:a="http://schemas.openxmlformats.org/drawingml/2006/main"/>
          <a:ln xmlns:a="http://schemas.openxmlformats.org/drawingml/2006/main" w="28575">
            <a:solidFill>
              <a:srgbClr val="A96743"/>
            </a:solidFill>
          </a:ln>
        </p:spPr>
      </p:sp>
      <p:sp>
        <p:nvSpPr>
          <p:cNvPr id="20" name="">
            <a:extLst xmlns:a="http://schemas.openxmlformats.org/drawingml/2006/main">
              <a:ext uri="{FF2B5EF4-FFF2-40B4-BE49-F238E27FC236}">
                <a16:creationId xmlns:a16="http://schemas.microsoft.com/office/drawing/2014/main" id="{725D6F9C-1BA7-4BEC-BF8D-59D0F5A863DF}"/>
              </a:ext>
            </a:extLst>
          </p:cNvPr>
          <p:cNvSpPr>
            <a:spLocks xmlns:a="http://schemas.openxmlformats.org/drawingml/2006/main" noGrp="1"/>
          </p:cNvSpPr>
          <p:nvPr/>
        </p:nvSpPr>
        <p:spPr>
          <a:xfrm xmlns:a="http://schemas.openxmlformats.org/drawingml/2006/main">
            <a:off x="9772650" y="4867339"/>
            <a:ext cx="1238250" cy="478471"/>
          </a:xfrm>
          <a:custGeom xmlns:a="http://schemas.openxmlformats.org/drawingml/2006/main">
            <a:pathLst>
              <a:path w="1238250" h="478471">
                <a:moveTo>
                  <a:pt x="0" y="209486"/>
                </a:moveTo>
                <a:lnTo>
                  <a:pt x="10319" y="301349"/>
                </a:lnTo>
                <a:lnTo>
                  <a:pt x="20638" y="379905"/>
                </a:lnTo>
                <a:lnTo>
                  <a:pt x="30956" y="438257"/>
                </a:lnTo>
                <a:lnTo>
                  <a:pt x="41275" y="471782"/>
                </a:lnTo>
                <a:lnTo>
                  <a:pt x="51594" y="478471"/>
                </a:lnTo>
                <a:lnTo>
                  <a:pt x="61913" y="458990"/>
                </a:lnTo>
                <a:lnTo>
                  <a:pt x="72231" y="416486"/>
                </a:lnTo>
                <a:lnTo>
                  <a:pt x="82550" y="356167"/>
                </a:lnTo>
                <a:lnTo>
                  <a:pt x="92869" y="284697"/>
                </a:lnTo>
                <a:lnTo>
                  <a:pt x="103187" y="209486"/>
                </a:lnTo>
                <a:lnTo>
                  <a:pt x="113506" y="137943"/>
                </a:lnTo>
                <a:lnTo>
                  <a:pt x="123825" y="76763"/>
                </a:lnTo>
                <a:lnTo>
                  <a:pt x="134144" y="31319"/>
                </a:lnTo>
                <a:lnTo>
                  <a:pt x="144463" y="5209"/>
                </a:lnTo>
                <a:lnTo>
                  <a:pt x="154781" y="0"/>
                </a:lnTo>
                <a:lnTo>
                  <a:pt x="165100" y="15172"/>
                </a:lnTo>
                <a:lnTo>
                  <a:pt x="175419" y="48274"/>
                </a:lnTo>
                <a:lnTo>
                  <a:pt x="185738" y="95250"/>
                </a:lnTo>
                <a:lnTo>
                  <a:pt x="196056" y="150911"/>
                </a:lnTo>
                <a:lnTo>
                  <a:pt x="206375" y="209486"/>
                </a:lnTo>
                <a:lnTo>
                  <a:pt x="216694" y="265203"/>
                </a:lnTo>
                <a:lnTo>
                  <a:pt x="227012" y="312850"/>
                </a:lnTo>
                <a:lnTo>
                  <a:pt x="237331" y="348242"/>
                </a:lnTo>
                <a:lnTo>
                  <a:pt x="247650" y="368576"/>
                </a:lnTo>
                <a:lnTo>
                  <a:pt x="257969" y="372633"/>
                </a:lnTo>
                <a:lnTo>
                  <a:pt x="268288" y="360817"/>
                </a:lnTo>
                <a:lnTo>
                  <a:pt x="278606" y="335038"/>
                </a:lnTo>
                <a:lnTo>
                  <a:pt x="288925" y="298452"/>
                </a:lnTo>
                <a:lnTo>
                  <a:pt x="299244" y="255104"/>
                </a:lnTo>
                <a:lnTo>
                  <a:pt x="309563" y="209486"/>
                </a:lnTo>
                <a:lnTo>
                  <a:pt x="319881" y="166093"/>
                </a:lnTo>
                <a:lnTo>
                  <a:pt x="330200" y="128985"/>
                </a:lnTo>
                <a:lnTo>
                  <a:pt x="340519" y="101422"/>
                </a:lnTo>
                <a:lnTo>
                  <a:pt x="350837" y="85586"/>
                </a:lnTo>
                <a:lnTo>
                  <a:pt x="361156" y="82426"/>
                </a:lnTo>
                <a:lnTo>
                  <a:pt x="371475" y="91629"/>
                </a:lnTo>
                <a:lnTo>
                  <a:pt x="381794" y="111706"/>
                </a:lnTo>
                <a:lnTo>
                  <a:pt x="392113" y="140198"/>
                </a:lnTo>
                <a:lnTo>
                  <a:pt x="402431" y="173959"/>
                </a:lnTo>
                <a:lnTo>
                  <a:pt x="412750" y="209486"/>
                </a:lnTo>
                <a:lnTo>
                  <a:pt x="423069" y="243280"/>
                </a:lnTo>
                <a:lnTo>
                  <a:pt x="433388" y="272180"/>
                </a:lnTo>
                <a:lnTo>
                  <a:pt x="443706" y="293646"/>
                </a:lnTo>
                <a:lnTo>
                  <a:pt x="454025" y="305979"/>
                </a:lnTo>
                <a:lnTo>
                  <a:pt x="464344" y="308440"/>
                </a:lnTo>
                <a:lnTo>
                  <a:pt x="474662" y="301273"/>
                </a:lnTo>
                <a:lnTo>
                  <a:pt x="484981" y="285637"/>
                </a:lnTo>
                <a:lnTo>
                  <a:pt x="495300" y="263447"/>
                </a:lnTo>
                <a:lnTo>
                  <a:pt x="505619" y="237154"/>
                </a:lnTo>
                <a:lnTo>
                  <a:pt x="515938" y="209486"/>
                </a:lnTo>
                <a:lnTo>
                  <a:pt x="526256" y="183167"/>
                </a:lnTo>
                <a:lnTo>
                  <a:pt x="536575" y="160660"/>
                </a:lnTo>
                <a:lnTo>
                  <a:pt x="546894" y="143942"/>
                </a:lnTo>
                <a:lnTo>
                  <a:pt x="557213" y="134337"/>
                </a:lnTo>
                <a:lnTo>
                  <a:pt x="567531" y="132420"/>
                </a:lnTo>
                <a:lnTo>
                  <a:pt x="577850" y="138002"/>
                </a:lnTo>
                <a:lnTo>
                  <a:pt x="588169" y="150179"/>
                </a:lnTo>
                <a:lnTo>
                  <a:pt x="598487" y="167461"/>
                </a:lnTo>
                <a:lnTo>
                  <a:pt x="608806" y="187937"/>
                </a:lnTo>
                <a:lnTo>
                  <a:pt x="619125" y="209486"/>
                </a:lnTo>
                <a:lnTo>
                  <a:pt x="629444" y="229983"/>
                </a:lnTo>
                <a:lnTo>
                  <a:pt x="639763" y="247511"/>
                </a:lnTo>
                <a:lnTo>
                  <a:pt x="650081" y="260531"/>
                </a:lnTo>
                <a:lnTo>
                  <a:pt x="660400" y="268012"/>
                </a:lnTo>
                <a:lnTo>
                  <a:pt x="670719" y="269504"/>
                </a:lnTo>
                <a:lnTo>
                  <a:pt x="681038" y="265158"/>
                </a:lnTo>
                <a:lnTo>
                  <a:pt x="691356" y="255674"/>
                </a:lnTo>
                <a:lnTo>
                  <a:pt x="701675" y="242215"/>
                </a:lnTo>
                <a:lnTo>
                  <a:pt x="711994" y="226268"/>
                </a:lnTo>
                <a:lnTo>
                  <a:pt x="722312" y="209486"/>
                </a:lnTo>
                <a:lnTo>
                  <a:pt x="732631" y="193522"/>
                </a:lnTo>
                <a:lnTo>
                  <a:pt x="742950" y="179871"/>
                </a:lnTo>
                <a:lnTo>
                  <a:pt x="753269" y="169731"/>
                </a:lnTo>
                <a:lnTo>
                  <a:pt x="763588" y="163906"/>
                </a:lnTo>
                <a:lnTo>
                  <a:pt x="773906" y="162743"/>
                </a:lnTo>
                <a:lnTo>
                  <a:pt x="784225" y="166129"/>
                </a:lnTo>
                <a:lnTo>
                  <a:pt x="794544" y="173515"/>
                </a:lnTo>
                <a:lnTo>
                  <a:pt x="804863" y="183996"/>
                </a:lnTo>
                <a:lnTo>
                  <a:pt x="815181" y="196416"/>
                </a:lnTo>
                <a:lnTo>
                  <a:pt x="825500" y="209486"/>
                </a:lnTo>
                <a:lnTo>
                  <a:pt x="835819" y="221918"/>
                </a:lnTo>
                <a:lnTo>
                  <a:pt x="846137" y="232550"/>
                </a:lnTo>
                <a:lnTo>
                  <a:pt x="856456" y="240447"/>
                </a:lnTo>
                <a:lnTo>
                  <a:pt x="866775" y="244984"/>
                </a:lnTo>
                <a:lnTo>
                  <a:pt x="877094" y="245889"/>
                </a:lnTo>
                <a:lnTo>
                  <a:pt x="887413" y="243252"/>
                </a:lnTo>
                <a:lnTo>
                  <a:pt x="897731" y="237500"/>
                </a:lnTo>
                <a:lnTo>
                  <a:pt x="908050" y="229337"/>
                </a:lnTo>
                <a:lnTo>
                  <a:pt x="918369" y="219664"/>
                </a:lnTo>
                <a:lnTo>
                  <a:pt x="928688" y="209486"/>
                </a:lnTo>
                <a:lnTo>
                  <a:pt x="939006" y="199803"/>
                </a:lnTo>
                <a:lnTo>
                  <a:pt x="949325" y="191524"/>
                </a:lnTo>
                <a:lnTo>
                  <a:pt x="959644" y="185374"/>
                </a:lnTo>
                <a:lnTo>
                  <a:pt x="969962" y="181840"/>
                </a:lnTo>
                <a:lnTo>
                  <a:pt x="980281" y="181135"/>
                </a:lnTo>
                <a:lnTo>
                  <a:pt x="990600" y="183188"/>
                </a:lnTo>
                <a:lnTo>
                  <a:pt x="1000919" y="187668"/>
                </a:lnTo>
                <a:lnTo>
                  <a:pt x="1011238" y="194026"/>
                </a:lnTo>
                <a:lnTo>
                  <a:pt x="1021556" y="201559"/>
                </a:lnTo>
                <a:lnTo>
                  <a:pt x="1031875" y="209486"/>
                </a:lnTo>
                <a:lnTo>
                  <a:pt x="1042194" y="217026"/>
                </a:lnTo>
                <a:lnTo>
                  <a:pt x="1052513" y="223475"/>
                </a:lnTo>
                <a:lnTo>
                  <a:pt x="1062831" y="228264"/>
                </a:lnTo>
                <a:lnTo>
                  <a:pt x="1073150" y="231016"/>
                </a:lnTo>
                <a:lnTo>
                  <a:pt x="1083469" y="231565"/>
                </a:lnTo>
                <a:lnTo>
                  <a:pt x="1093787" y="229966"/>
                </a:lnTo>
                <a:lnTo>
                  <a:pt x="1104106" y="226477"/>
                </a:lnTo>
                <a:lnTo>
                  <a:pt x="1114425" y="221526"/>
                </a:lnTo>
                <a:lnTo>
                  <a:pt x="1124744" y="215659"/>
                </a:lnTo>
                <a:lnTo>
                  <a:pt x="1135063" y="209486"/>
                </a:lnTo>
                <a:lnTo>
                  <a:pt x="1145381" y="203613"/>
                </a:lnTo>
                <a:lnTo>
                  <a:pt x="1155700" y="198591"/>
                </a:lnTo>
                <a:lnTo>
                  <a:pt x="1166019" y="194861"/>
                </a:lnTo>
                <a:lnTo>
                  <a:pt x="1176338" y="192718"/>
                </a:lnTo>
                <a:lnTo>
                  <a:pt x="1186656" y="192290"/>
                </a:lnTo>
                <a:lnTo>
                  <a:pt x="1196975" y="193536"/>
                </a:lnTo>
                <a:lnTo>
                  <a:pt x="1207294" y="196253"/>
                </a:lnTo>
                <a:lnTo>
                  <a:pt x="1217612" y="200109"/>
                </a:lnTo>
                <a:lnTo>
                  <a:pt x="1227931" y="204678"/>
                </a:lnTo>
                <a:lnTo>
                  <a:pt x="1238250" y="209486"/>
                </a:lnTo>
              </a:path>
            </a:pathLst>
          </a:custGeom>
          <a:noFill xmlns:a="http://schemas.openxmlformats.org/drawingml/2006/main"/>
          <a:ln xmlns:a="http://schemas.openxmlformats.org/drawingml/2006/main" w="28575">
            <a:solidFill>
              <a:srgbClr val="A96743"/>
            </a:solidFill>
          </a:ln>
        </p:spPr>
      </p:sp>
      <p:sp>
        <p:nvSpPr>
          <p:cNvPr id="21" name="">
            <a:extLst xmlns:a="http://schemas.openxmlformats.org/drawingml/2006/main">
              <a:ext uri="{FF2B5EF4-FFF2-40B4-BE49-F238E27FC236}">
                <a16:creationId xmlns:a16="http://schemas.microsoft.com/office/drawing/2014/main" id="{6B386597-98B1-434C-BEAA-A45AB3E3B799}"/>
              </a:ext>
            </a:extLst>
          </p:cNvPr>
          <p:cNvSpPr>
            <a:spLocks xmlns:a="http://schemas.openxmlformats.org/drawingml/2006/main" noGrp="1"/>
          </p:cNvSpPr>
          <p:nvPr/>
        </p:nvSpPr>
        <p:spPr>
          <a:xfrm xmlns:a="http://schemas.openxmlformats.org/drawingml/2006/main">
            <a:off x="609600" y="59150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Между щелчками — 0,5 с. Между сериями — не меньше 3 с.</a:t>
            </a:r>
          </a:p>
        </p:txBody>
      </p:sp>
      <p:sp>
        <p:nvSpPr>
          <p:cNvPr id="22" name="">
            <a:extLst xmlns:a="http://schemas.openxmlformats.org/drawingml/2006/main">
              <a:ext uri="{FF2B5EF4-FFF2-40B4-BE49-F238E27FC236}">
                <a16:creationId xmlns:a16="http://schemas.microsoft.com/office/drawing/2014/main" id="{21EA748D-6FA9-4C27-9954-420069E11FC8}"/>
              </a:ext>
            </a:extLst>
          </p:cNvPr>
          <p:cNvSpPr>
            <a:spLocks xmlns:a="http://schemas.openxmlformats.org/drawingml/2006/main" noGrp="1"/>
          </p:cNvSpPr>
          <p:nvPr/>
        </p:nvSpPr>
        <p:spPr>
          <a:xfrm xmlns:a="http://schemas.openxmlformats.org/drawingml/2006/main">
            <a:off x="609600" y="6286500"/>
            <a:ext cx="1004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263B31"/>
                </a:solidFill>
                <a:latin typeface="Arial"/>
                <a:ea typeface="Arial"/>
                <a:cs typeface="Arial"/>
              </a:defRPr>
            </a:pPr>
            <a:r>
              <a:rPr sz="1800" b="0">
                <a:solidFill>
                  <a:srgbClr val="263B31"/>
                </a:solidFill>
                <a:latin typeface="Arial"/>
                <a:ea typeface="Arial"/>
                <a:cs typeface="Arial"/>
              </a:rPr>
              <a:t>Повтор — после восстановления нужных прицветников.</a:t>
            </a:r>
          </a:p>
        </p:txBody>
      </p:sp>
    </p:spTree>
    <p:extLst>
      <p:ext uri="{BB962C8B-B14F-4D97-AF65-F5344CB8AC3E}">
        <p14:creationId xmlns:p14="http://schemas.microsoft.com/office/powerpoint/2010/main" val="17104862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85FF74-1B7F-436D-90EE-F822C00C6218}"/>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Что нужно для связи на 20 метров</a:t>
            </a:r>
          </a:p>
        </p:txBody>
      </p:sp>
      <p:sp>
        <p:nvSpPr>
          <p:cNvPr id="2" name="">
            <a:extLst xmlns:a="http://schemas.openxmlformats.org/drawingml/2006/main">
              <a:ext uri="{FF2B5EF4-FFF2-40B4-BE49-F238E27FC236}">
                <a16:creationId xmlns:a16="http://schemas.microsoft.com/office/drawing/2014/main" id="{EA79B69A-5576-45FD-BB61-20FBE604D87C}"/>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3333C9C7-9AE7-4E12-910F-E9341A42AD94}"/>
              </a:ext>
            </a:extLst>
          </p:cNvPr>
          <p:cNvSpPr>
            <a:spLocks xmlns:a="http://schemas.openxmlformats.org/drawingml/2006/main" noGrp="1"/>
          </p:cNvSpPr>
          <p:nvPr/>
        </p:nvSpPr>
        <p:spPr>
          <a:xfrm xmlns:a="http://schemas.openxmlformats.org/drawingml/2006/main">
            <a:off x="609600" y="14382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63B31"/>
                </a:solidFill>
                <a:latin typeface="Arial"/>
                <a:ea typeface="Arial"/>
                <a:cs typeface="Arial"/>
              </a:defRPr>
            </a:pPr>
            <a:r>
              <a:rPr sz="2625" b="1">
                <a:solidFill>
                  <a:srgbClr val="263B31"/>
                </a:solidFill>
                <a:latin typeface="Arial"/>
                <a:ea typeface="Arial"/>
                <a:cs typeface="Arial"/>
              </a:rPr>
              <a:t>Цель: ≈33 дБ у адресата на 20 м; частота ≈20 кГц</a:t>
            </a:r>
          </a:p>
        </p:txBody>
      </p:sp>
      <p:sp>
        <p:nvSpPr>
          <p:cNvPr id="4" name="">
            <a:extLst xmlns:a="http://schemas.openxmlformats.org/drawingml/2006/main">
              <a:ext uri="{FF2B5EF4-FFF2-40B4-BE49-F238E27FC236}">
                <a16:creationId xmlns:a16="http://schemas.microsoft.com/office/drawing/2014/main" id="{EAA8767A-905C-4616-A559-939C1453529F}"/>
              </a:ext>
            </a:extLst>
          </p:cNvPr>
          <p:cNvSpPr>
            <a:spLocks xmlns:a="http://schemas.openxmlformats.org/drawingml/2006/main" noGrp="1"/>
          </p:cNvSpPr>
          <p:nvPr/>
        </p:nvSpPr>
        <p:spPr>
          <a:xfrm xmlns:a="http://schemas.openxmlformats.org/drawingml/2006/main">
            <a:off x="609600" y="21050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Уровень усредняем за 0,01 с. Потери в воздухе: 0,5 дБ/м.</a:t>
            </a:r>
          </a:p>
        </p:txBody>
      </p:sp>
      <p:sp>
        <p:nvSpPr>
          <p:cNvPr id="5" name="">
            <a:extLst xmlns:a="http://schemas.openxmlformats.org/drawingml/2006/main">
              <a:ext uri="{FF2B5EF4-FFF2-40B4-BE49-F238E27FC236}">
                <a16:creationId xmlns:a16="http://schemas.microsoft.com/office/drawing/2014/main" id="{C816F7D6-FF91-4A45-8D12-168C89F50887}"/>
              </a:ext>
            </a:extLst>
          </p:cNvPr>
          <p:cNvSpPr>
            <a:spLocks xmlns:a="http://schemas.openxmlformats.org/drawingml/2006/main" noGrp="1"/>
          </p:cNvSpPr>
          <p:nvPr/>
        </p:nvSpPr>
        <p:spPr>
          <a:xfrm xmlns:a="http://schemas.openxmlformats.org/drawingml/2006/main">
            <a:off x="609600" y="2933700"/>
            <a:ext cx="3343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Энергия цикла</a:t>
            </a:r>
          </a:p>
        </p:txBody>
      </p:sp>
      <p:sp>
        <p:nvSpPr>
          <p:cNvPr id="6" name="">
            <a:extLst xmlns:a="http://schemas.openxmlformats.org/drawingml/2006/main">
              <a:ext uri="{FF2B5EF4-FFF2-40B4-BE49-F238E27FC236}">
                <a16:creationId xmlns:a16="http://schemas.microsoft.com/office/drawing/2014/main" id="{9390915D-1171-4F9A-8A44-E08F34843F21}"/>
              </a:ext>
            </a:extLst>
          </p:cNvPr>
          <p:cNvSpPr>
            <a:spLocks xmlns:a="http://schemas.openxmlformats.org/drawingml/2006/main" noGrp="1"/>
          </p:cNvSpPr>
          <p:nvPr/>
        </p:nvSpPr>
        <p:spPr>
          <a:xfrm xmlns:a="http://schemas.openxmlformats.org/drawingml/2006/main">
            <a:off x="4419600" y="2933700"/>
            <a:ext cx="3343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Пик скорости</a:t>
            </a:r>
          </a:p>
        </p:txBody>
      </p:sp>
      <p:sp>
        <p:nvSpPr>
          <p:cNvPr id="7" name="">
            <a:extLst xmlns:a="http://schemas.openxmlformats.org/drawingml/2006/main">
              <a:ext uri="{FF2B5EF4-FFF2-40B4-BE49-F238E27FC236}">
                <a16:creationId xmlns:a16="http://schemas.microsoft.com/office/drawing/2014/main" id="{59CF6E47-7ED0-4EEF-9408-49BCBFED9353}"/>
              </a:ext>
            </a:extLst>
          </p:cNvPr>
          <p:cNvSpPr>
            <a:spLocks xmlns:a="http://schemas.openxmlformats.org/drawingml/2006/main" noGrp="1"/>
          </p:cNvSpPr>
          <p:nvPr/>
        </p:nvSpPr>
        <p:spPr>
          <a:xfrm xmlns:a="http://schemas.openxmlformats.org/drawingml/2006/main">
            <a:off x="8229600" y="2933700"/>
            <a:ext cx="33432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Пик натяжения</a:t>
            </a:r>
          </a:p>
        </p:txBody>
      </p:sp>
      <p:sp>
        <p:nvSpPr>
          <p:cNvPr id="8" name="">
            <a:extLst xmlns:a="http://schemas.openxmlformats.org/drawingml/2006/main">
              <a:ext uri="{FF2B5EF4-FFF2-40B4-BE49-F238E27FC236}">
                <a16:creationId xmlns:a16="http://schemas.microsoft.com/office/drawing/2014/main" id="{98F714F0-D5F6-4E05-94DA-471B5B0EAE8A}"/>
              </a:ext>
            </a:extLst>
          </p:cNvPr>
          <p:cNvSpPr>
            <a:spLocks xmlns:a="http://schemas.openxmlformats.org/drawingml/2006/main" noGrp="1"/>
          </p:cNvSpPr>
          <p:nvPr/>
        </p:nvSpPr>
        <p:spPr>
          <a:xfrm xmlns:a="http://schemas.openxmlformats.org/drawingml/2006/main">
            <a:off x="609600" y="3800475"/>
            <a:ext cx="335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47705A"/>
                </a:solidFill>
                <a:latin typeface="Arial"/>
                <a:ea typeface="Arial"/>
                <a:cs typeface="Arial"/>
              </a:defRPr>
            </a:pPr>
            <a:r>
              <a:rPr sz="3525" b="1">
                <a:solidFill>
                  <a:srgbClr val="47705A"/>
                </a:solidFill>
                <a:latin typeface="Arial"/>
                <a:ea typeface="Arial"/>
                <a:cs typeface="Arial"/>
              </a:rPr>
              <a:t>≈0,1 мДж</a:t>
            </a:r>
          </a:p>
        </p:txBody>
      </p:sp>
      <p:sp>
        <p:nvSpPr>
          <p:cNvPr id="9" name="">
            <a:extLst xmlns:a="http://schemas.openxmlformats.org/drawingml/2006/main">
              <a:ext uri="{FF2B5EF4-FFF2-40B4-BE49-F238E27FC236}">
                <a16:creationId xmlns:a16="http://schemas.microsoft.com/office/drawing/2014/main" id="{65C249EB-A2C9-433D-AE97-4FE451BC0D52}"/>
              </a:ext>
            </a:extLst>
          </p:cNvPr>
          <p:cNvSpPr>
            <a:spLocks xmlns:a="http://schemas.openxmlformats.org/drawingml/2006/main" noGrp="1"/>
          </p:cNvSpPr>
          <p:nvPr/>
        </p:nvSpPr>
        <p:spPr>
          <a:xfrm xmlns:a="http://schemas.openxmlformats.org/drawingml/2006/main">
            <a:off x="4419600" y="3800475"/>
            <a:ext cx="335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39667D"/>
                </a:solidFill>
                <a:latin typeface="Arial"/>
                <a:ea typeface="Arial"/>
                <a:cs typeface="Arial"/>
              </a:defRPr>
            </a:pPr>
            <a:r>
              <a:rPr sz="3525" b="1">
                <a:solidFill>
                  <a:srgbClr val="39667D"/>
                </a:solidFill>
                <a:latin typeface="Arial"/>
                <a:ea typeface="Arial"/>
                <a:cs typeface="Arial"/>
              </a:rPr>
              <a:t>≈4 м/с</a:t>
            </a:r>
          </a:p>
        </p:txBody>
      </p:sp>
      <p:sp>
        <p:nvSpPr>
          <p:cNvPr id="10" name="">
            <a:extLst xmlns:a="http://schemas.openxmlformats.org/drawingml/2006/main">
              <a:ext uri="{FF2B5EF4-FFF2-40B4-BE49-F238E27FC236}">
                <a16:creationId xmlns:a16="http://schemas.microsoft.com/office/drawing/2014/main" id="{3CB7472C-F29E-4E18-B2CD-B6FFA32C6C5B}"/>
              </a:ext>
            </a:extLst>
          </p:cNvPr>
          <p:cNvSpPr>
            <a:spLocks xmlns:a="http://schemas.openxmlformats.org/drawingml/2006/main" noGrp="1"/>
          </p:cNvSpPr>
          <p:nvPr/>
        </p:nvSpPr>
        <p:spPr>
          <a:xfrm xmlns:a="http://schemas.openxmlformats.org/drawingml/2006/main">
            <a:off x="8229600" y="3800475"/>
            <a:ext cx="335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A96743"/>
                </a:solidFill>
                <a:latin typeface="Arial"/>
                <a:ea typeface="Arial"/>
                <a:cs typeface="Arial"/>
              </a:defRPr>
            </a:pPr>
            <a:r>
              <a:rPr sz="3525" b="1">
                <a:solidFill>
                  <a:srgbClr val="A96743"/>
                </a:solidFill>
                <a:latin typeface="Arial"/>
                <a:ea typeface="Arial"/>
                <a:cs typeface="Arial"/>
              </a:rPr>
              <a:t>≈1,7 Н</a:t>
            </a:r>
          </a:p>
        </p:txBody>
      </p:sp>
      <p:sp>
        <p:nvSpPr>
          <p:cNvPr id="11" name="">
            <a:extLst xmlns:a="http://schemas.openxmlformats.org/drawingml/2006/main">
              <a:ext uri="{FF2B5EF4-FFF2-40B4-BE49-F238E27FC236}">
                <a16:creationId xmlns:a16="http://schemas.microsoft.com/office/drawing/2014/main" id="{D54F8476-840F-445B-805D-DE831F04BFA8}"/>
              </a:ext>
            </a:extLst>
          </p:cNvPr>
          <p:cNvSpPr>
            <a:spLocks xmlns:a="http://schemas.openxmlformats.org/drawingml/2006/main" noGrp="1"/>
          </p:cNvSpPr>
          <p:nvPr/>
        </p:nvSpPr>
        <p:spPr>
          <a:xfrm xmlns:a="http://schemas.openxmlformats.org/drawingml/2006/main">
            <a:off x="609600" y="4667250"/>
            <a:ext cx="335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1 мкДж звука</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при акустическом КПД 1%.</a:t>
            </a:r>
          </a:p>
        </p:txBody>
      </p:sp>
      <p:sp>
        <p:nvSpPr>
          <p:cNvPr id="12" name="">
            <a:extLst xmlns:a="http://schemas.openxmlformats.org/drawingml/2006/main">
              <a:ext uri="{FF2B5EF4-FFF2-40B4-BE49-F238E27FC236}">
                <a16:creationId xmlns:a16="http://schemas.microsoft.com/office/drawing/2014/main" id="{79A87D2C-CF43-4F57-8B11-10EE72691A5F}"/>
              </a:ext>
            </a:extLst>
          </p:cNvPr>
          <p:cNvSpPr>
            <a:spLocks xmlns:a="http://schemas.openxmlformats.org/drawingml/2006/main" noGrp="1"/>
          </p:cNvSpPr>
          <p:nvPr/>
        </p:nvSpPr>
        <p:spPr>
          <a:xfrm xmlns:a="http://schemas.openxmlformats.org/drawingml/2006/main">
            <a:off x="4419600" y="4667250"/>
            <a:ext cx="335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Нужно для звука.</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По энергии: до 15 м/с.</a:t>
            </a:r>
          </a:p>
        </p:txBody>
      </p:sp>
      <p:sp>
        <p:nvSpPr>
          <p:cNvPr id="13" name="">
            <a:extLst xmlns:a="http://schemas.openxmlformats.org/drawingml/2006/main">
              <a:ext uri="{FF2B5EF4-FFF2-40B4-BE49-F238E27FC236}">
                <a16:creationId xmlns:a16="http://schemas.microsoft.com/office/drawing/2014/main" id="{611CC1E6-46AC-4CAD-951E-80137407359D}"/>
              </a:ext>
            </a:extLst>
          </p:cNvPr>
          <p:cNvSpPr>
            <a:spLocks xmlns:a="http://schemas.openxmlformats.org/drawingml/2006/main" noGrp="1"/>
          </p:cNvSpPr>
          <p:nvPr/>
        </p:nvSpPr>
        <p:spPr>
          <a:xfrm xmlns:a="http://schemas.openxmlformats.org/drawingml/2006/main">
            <a:off x="8229600" y="4667250"/>
            <a:ext cx="335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Натяжение до спуска.</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Ход центра ≈0,12 мм.</a:t>
            </a:r>
          </a:p>
        </p:txBody>
      </p:sp>
      <p:sp>
        <p:nvSpPr>
          <p:cNvPr id="14" name="">
            <a:extLst xmlns:a="http://schemas.openxmlformats.org/drawingml/2006/main">
              <a:ext uri="{FF2B5EF4-FFF2-40B4-BE49-F238E27FC236}">
                <a16:creationId xmlns:a16="http://schemas.microsoft.com/office/drawing/2014/main" id="{1DD4E895-BF4A-4E25-BB94-B69E2EDA132D}"/>
              </a:ext>
            </a:extLst>
          </p:cNvPr>
          <p:cNvSpPr>
            <a:spLocks xmlns:a="http://schemas.openxmlformats.org/drawingml/2006/main" noGrp="1"/>
          </p:cNvSpPr>
          <p:nvPr/>
        </p:nvSpPr>
        <p:spPr>
          <a:xfrm xmlns:a="http://schemas.openxmlformats.org/drawingml/2006/main">
            <a:off x="609600" y="59055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63B31"/>
                </a:solidFill>
                <a:latin typeface="Arial"/>
                <a:ea typeface="Arial"/>
                <a:cs typeface="Arial"/>
              </a:defRPr>
            </a:pPr>
            <a:r>
              <a:rPr sz="2100" b="1">
                <a:solidFill>
                  <a:srgbClr val="263B31"/>
                </a:solidFill>
                <a:latin typeface="Arial"/>
                <a:ea typeface="Arial"/>
                <a:cs typeface="Arial"/>
              </a:rPr>
              <a:t>Это условные требования: форма колебаний, потери и КПД заданы.</a:t>
            </a:r>
          </a:p>
        </p:txBody>
      </p:sp>
      <p:sp>
        <p:nvSpPr>
          <p:cNvPr id="15" name="">
            <a:extLst xmlns:a="http://schemas.openxmlformats.org/drawingml/2006/main">
              <a:ext uri="{FF2B5EF4-FFF2-40B4-BE49-F238E27FC236}">
                <a16:creationId xmlns:a16="http://schemas.microsoft.com/office/drawing/2014/main" id="{7B25519D-A60E-4750-8ED6-7C224823E3ED}"/>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[5], [11], [14], [16], [17]</a:t>
            </a:r>
          </a:p>
        </p:txBody>
      </p:sp>
    </p:spTree>
    <p:extLst>
      <p:ext uri="{BB962C8B-B14F-4D97-AF65-F5344CB8AC3E}">
        <p14:creationId xmlns:p14="http://schemas.microsoft.com/office/powerpoint/2010/main" val="16356845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270627-32A2-4892-AF8F-8439A82378C3}"/>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От натяжения к времени перезарядки</a:t>
            </a:r>
          </a:p>
        </p:txBody>
      </p:sp>
      <p:sp>
        <p:nvSpPr>
          <p:cNvPr id="2" name="">
            <a:extLst xmlns:a="http://schemas.openxmlformats.org/drawingml/2006/main">
              <a:ext uri="{FF2B5EF4-FFF2-40B4-BE49-F238E27FC236}">
                <a16:creationId xmlns:a16="http://schemas.microsoft.com/office/drawing/2014/main" id="{AB8751EA-1B6B-41D1-9C6A-FEBC31CCB434}"/>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2D6EC93A-93F9-4827-A7CD-EC9B227400E0}"/>
              </a:ext>
            </a:extLst>
          </p:cNvPr>
          <p:cNvSpPr>
            <a:spLocks xmlns:a="http://schemas.openxmlformats.org/drawingml/2006/main" noGrp="1"/>
          </p:cNvSpPr>
          <p:nvPr/>
        </p:nvSpPr>
        <p:spPr>
          <a:xfrm xmlns:a="http://schemas.openxmlformats.org/drawingml/2006/main">
            <a:off x="609600" y="14573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1. Натяжение 1,7 Н и работа 0,1 мДж задают ход пластинки:</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6d32d4870374eb4"/>
          <a:stretch xmlns:a="http://schemas.openxmlformats.org/drawingml/2006/main"/>
        </p:blipFill>
        <p:spPr>
          <a:xfrm xmlns:a="http://schemas.openxmlformats.org/drawingml/2006/main">
            <a:off x="610191" y="2047875"/>
            <a:ext cx="2767243" cy="742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F50168-9234-4310-9C16-50419B44D47A}"/>
              </a:ext>
            </a:extLst>
          </p:cNvPr>
          <p:cNvSpPr>
            <a:spLocks xmlns:a="http://schemas.openxmlformats.org/drawingml/2006/main" noGrp="1"/>
          </p:cNvSpPr>
          <p:nvPr/>
        </p:nvSpPr>
        <p:spPr>
          <a:xfrm xmlns:a="http://schemas.openxmlformats.org/drawingml/2006/main">
            <a:off x="609600" y="30575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2. Рычаг уменьшает ход подушки до 0,06 мм.</a:t>
            </a:r>
          </a:p>
        </p:txBody>
      </p:sp>
      <p:sp>
        <p:nvSpPr>
          <p:cNvPr id="6" name="">
            <a:extLst xmlns:a="http://schemas.openxmlformats.org/drawingml/2006/main">
              <a:ext uri="{FF2B5EF4-FFF2-40B4-BE49-F238E27FC236}">
                <a16:creationId xmlns:a16="http://schemas.microsoft.com/office/drawing/2014/main" id="{DA6788A4-3833-4BA2-B568-0127DE1F9988}"/>
              </a:ext>
            </a:extLst>
          </p:cNvPr>
          <p:cNvSpPr>
            <a:spLocks xmlns:a="http://schemas.openxmlformats.org/drawingml/2006/main" noGrp="1"/>
          </p:cNvSpPr>
          <p:nvPr/>
        </p:nvSpPr>
        <p:spPr>
          <a:xfrm xmlns:a="http://schemas.openxmlformats.org/drawingml/2006/main">
            <a:off x="609600" y="3552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При её высоте 0,6 мм нужен приток воды на 10% объёма.</a:t>
            </a:r>
          </a:p>
        </p:txBody>
      </p:sp>
      <p:sp>
        <p:nvSpPr>
          <p:cNvPr id="7" name="">
            <a:extLst xmlns:a="http://schemas.openxmlformats.org/drawingml/2006/main">
              <a:ext uri="{FF2B5EF4-FFF2-40B4-BE49-F238E27FC236}">
                <a16:creationId xmlns:a16="http://schemas.microsoft.com/office/drawing/2014/main" id="{33C639DF-50F6-43E6-95DD-39E6D6F938CF}"/>
              </a:ext>
            </a:extLst>
          </p:cNvPr>
          <p:cNvSpPr>
            <a:spLocks xmlns:a="http://schemas.openxmlformats.org/drawingml/2006/main" noGrp="1"/>
          </p:cNvSpPr>
          <p:nvPr/>
        </p:nvSpPr>
        <p:spPr>
          <a:xfrm xmlns:a="http://schemas.openxmlformats.org/drawingml/2006/main">
            <a:off x="609600" y="42862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3. Для клеток радиусом r = 10 мкм и притока j ≈3,6 нм/с:</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b3a6c67c138447f"/>
          <a:stretch xmlns:a="http://schemas.openxmlformats.org/drawingml/2006/main"/>
        </p:blipFill>
        <p:spPr>
          <a:xfrm xmlns:a="http://schemas.openxmlformats.org/drawingml/2006/main">
            <a:off x="611111" y="4819650"/>
            <a:ext cx="2201052" cy="6953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E8B9FF9-B6AA-4D9D-8DE7-84EC0A80DBC1}"/>
              </a:ext>
            </a:extLst>
          </p:cNvPr>
          <p:cNvSpPr>
            <a:spLocks xmlns:a="http://schemas.openxmlformats.org/drawingml/2006/main" noGrp="1"/>
          </p:cNvSpPr>
          <p:nvPr/>
        </p:nvSpPr>
        <p:spPr>
          <a:xfrm xmlns:a="http://schemas.openxmlformats.org/drawingml/2006/main">
            <a:off x="609600" y="56578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6743"/>
                </a:solidFill>
                <a:latin typeface="Arial"/>
                <a:ea typeface="Arial"/>
                <a:cs typeface="Arial"/>
              </a:defRPr>
            </a:pPr>
            <a:r>
              <a:rPr sz="2175" b="1">
                <a:solidFill>
                  <a:srgbClr val="A96743"/>
                </a:solidFill>
                <a:latin typeface="Arial"/>
                <a:ea typeface="Arial"/>
                <a:cs typeface="Arial"/>
              </a:rPr>
              <a:t>Оценка: ≈90 с на зарядку при паузе 0,5 с между щелчками.</a:t>
            </a:r>
          </a:p>
          <a:p xmlns:a="http://schemas.openxmlformats.org/drawingml/2006/main">
            <a:pPr algn="l">
              <a:defRPr sz="2175" b="1">
                <a:solidFill>
                  <a:srgbClr val="A96743"/>
                </a:solidFill>
                <a:latin typeface="Arial"/>
                <a:ea typeface="Arial"/>
                <a:cs typeface="Arial"/>
              </a:defRPr>
            </a:pPr>
            <a:r>
              <a:rPr sz="2175" b="1">
                <a:solidFill>
                  <a:srgbClr val="A96743"/>
                </a:solidFill>
                <a:latin typeface="Arial"/>
                <a:ea typeface="Arial"/>
                <a:cs typeface="Arial"/>
              </a:rPr>
              <a:t>Для серии нужны четыре заранее натянутых прицветника.</a:t>
            </a:r>
          </a:p>
        </p:txBody>
      </p:sp>
      <p:sp>
        <p:nvSpPr>
          <p:cNvPr id="10" name="">
            <a:extLst xmlns:a="http://schemas.openxmlformats.org/drawingml/2006/main">
              <a:ext uri="{FF2B5EF4-FFF2-40B4-BE49-F238E27FC236}">
                <a16:creationId xmlns:a16="http://schemas.microsoft.com/office/drawing/2014/main" id="{7D2B8FDC-A891-4E6A-ADA0-ED91DE34ED7C}"/>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[18], [19], [22]</a:t>
            </a:r>
          </a:p>
        </p:txBody>
      </p:sp>
    </p:spTree>
    <p:extLst>
      <p:ext uri="{BB962C8B-B14F-4D97-AF65-F5344CB8AC3E}">
        <p14:creationId xmlns:p14="http://schemas.microsoft.com/office/powerpoint/2010/main" val="15269815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9" name=""/>
          <p:cNvCxnSpPr>
            <a:stCxn xmlns:a="http://schemas.openxmlformats.org/drawingml/2006/main" id="20" idx="0"/>
            <a:endCxn xmlns:a="http://schemas.openxmlformats.org/drawingml/2006/main" id="19" idx="2"/>
          </p:cNvCxnSpPr>
          <p:nvPr/>
        </p:nvCxnSpPr>
        <p:spPr>
          <a:xfrm xmlns:a="http://schemas.openxmlformats.org/drawingml/2006/main" flipV="1">
            <a:off x="9763125" y="3171825"/>
            <a:ext cx="0" cy="45720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30" name=""/>
          <p:cNvCxnSpPr>
            <a:stCxn xmlns:a="http://schemas.openxmlformats.org/drawingml/2006/main" id="15" idx="0"/>
            <a:endCxn xmlns:a="http://schemas.openxmlformats.org/drawingml/2006/main" id="14" idx="2"/>
          </p:cNvCxnSpPr>
          <p:nvPr/>
        </p:nvCxnSpPr>
        <p:spPr>
          <a:xfrm xmlns:a="http://schemas.openxmlformats.org/drawingml/2006/main" flipV="1">
            <a:off x="7239000" y="3171825"/>
            <a:ext cx="0" cy="45720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31" name=""/>
          <p:cNvCxnSpPr>
            <a:stCxn xmlns:a="http://schemas.openxmlformats.org/drawingml/2006/main" id="10" idx="0"/>
            <a:endCxn xmlns:a="http://schemas.openxmlformats.org/drawingml/2006/main" id="9" idx="2"/>
          </p:cNvCxnSpPr>
          <p:nvPr/>
        </p:nvCxnSpPr>
        <p:spPr>
          <a:xfrm xmlns:a="http://schemas.openxmlformats.org/drawingml/2006/main" flipV="1">
            <a:off x="4714875" y="3171825"/>
            <a:ext cx="0" cy="45720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32" name=""/>
          <p:cNvCxnSpPr>
            <a:stCxn xmlns:a="http://schemas.openxmlformats.org/drawingml/2006/main" id="5" idx="0"/>
            <a:endCxn xmlns:a="http://schemas.openxmlformats.org/drawingml/2006/main" id="4" idx="2"/>
          </p:cNvCxnSpPr>
          <p:nvPr/>
        </p:nvCxnSpPr>
        <p:spPr>
          <a:xfrm xmlns:a="http://schemas.openxmlformats.org/drawingml/2006/main" flipV="1">
            <a:off x="2190750" y="3171825"/>
            <a:ext cx="0" cy="45720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33" name="">
            <a:extLst xmlns:a="http://schemas.openxmlformats.org/drawingml/2006/main">
              <a:ext uri="{FF2B5EF4-FFF2-40B4-BE49-F238E27FC236}">
                <a16:creationId xmlns:a16="http://schemas.microsoft.com/office/drawing/2014/main" id="{BA6B9B6E-6D4E-44EB-92EF-DCCAB2DA3222}"/>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Четыре прицветника — один звуковой узел</a:t>
            </a:r>
          </a:p>
        </p:txBody>
      </p:sp>
      <p:sp>
        <p:nvSpPr>
          <p:cNvPr id="2" name="">
            <a:extLst xmlns:a="http://schemas.openxmlformats.org/drawingml/2006/main">
              <a:ext uri="{FF2B5EF4-FFF2-40B4-BE49-F238E27FC236}">
                <a16:creationId xmlns:a16="http://schemas.microsoft.com/office/drawing/2014/main" id="{4507C19C-0B55-4E49-A50E-3EF6D1029053}"/>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348EF519-3695-4BB2-9BA0-A463BD503890}"/>
              </a:ext>
            </a:extLst>
          </p:cNvPr>
          <p:cNvSpPr>
            <a:spLocks xmlns:a="http://schemas.openxmlformats.org/drawingml/2006/main" noGrp="1"/>
          </p:cNvSpPr>
          <p:nvPr/>
        </p:nvSpPr>
        <p:spPr>
          <a:xfrm xmlns:a="http://schemas.openxmlformats.org/drawingml/2006/main">
            <a:off x="609600" y="14478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263B31"/>
                </a:solidFill>
                <a:latin typeface="Arial"/>
                <a:ea typeface="Arial"/>
                <a:cs typeface="Arial"/>
              </a:defRPr>
            </a:pPr>
            <a:r>
              <a:rPr sz="2400" b="0">
                <a:solidFill>
                  <a:srgbClr val="263B31"/>
                </a:solidFill>
                <a:latin typeface="Arial"/>
                <a:ea typeface="Arial"/>
                <a:cs typeface="Arial"/>
              </a:rPr>
              <a:t>Все пластинки заранее натянуты. Один пуск запускает серию.</a:t>
            </a:r>
          </a:p>
        </p:txBody>
      </p:sp>
      <p:sp>
        <p:nvSpPr>
          <p:cNvPr id="4" name="">
            <a:extLst xmlns:a="http://schemas.openxmlformats.org/drawingml/2006/main">
              <a:ext uri="{FF2B5EF4-FFF2-40B4-BE49-F238E27FC236}">
                <a16:creationId xmlns:a16="http://schemas.microsoft.com/office/drawing/2014/main" id="{4F5802DD-FF31-4980-9C52-5753633BABE6}"/>
              </a:ext>
            </a:extLst>
          </p:cNvPr>
          <p:cNvSpPr>
            <a:spLocks xmlns:a="http://schemas.openxmlformats.org/drawingml/2006/main" noGrp="1"/>
          </p:cNvSpPr>
          <p:nvPr/>
        </p:nvSpPr>
        <p:spPr>
          <a:xfrm xmlns:a="http://schemas.openxmlformats.org/drawingml/2006/main">
            <a:off x="1019175" y="2390775"/>
            <a:ext cx="2343150" cy="781050"/>
          </a:xfrm>
          <a:prstGeom xmlns:a="http://schemas.openxmlformats.org/drawingml/2006/main" prst="roundRect">
            <a:avLst>
              <a:gd name="adj" fmla="val 19512"/>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025" b="1">
                <a:solidFill>
                  <a:srgbClr val="263B31"/>
                </a:solidFill>
                <a:latin typeface="Arial"/>
                <a:ea typeface="Arial"/>
                <a:cs typeface="Arial"/>
              </a:defRPr>
            </a:pPr>
            <a:r>
              <a:rPr sz="2025" b="1">
                <a:solidFill>
                  <a:srgbClr val="263B31"/>
                </a:solidFill>
                <a:latin typeface="Arial"/>
                <a:ea typeface="Arial"/>
                <a:cs typeface="Arial"/>
              </a:rPr>
              <a:t>Прицветник</a:t>
            </a:r>
          </a:p>
          <a:p xmlns:a="http://schemas.openxmlformats.org/drawingml/2006/main">
            <a:pPr algn="ctr">
              <a:defRPr sz="2025" b="1">
                <a:solidFill>
                  <a:srgbClr val="263B31"/>
                </a:solidFill>
                <a:latin typeface="Arial"/>
                <a:ea typeface="Arial"/>
                <a:cs typeface="Arial"/>
              </a:defRPr>
            </a:pPr>
            <a:r>
              <a:rPr sz="2025" b="1">
                <a:solidFill>
                  <a:srgbClr val="263B31"/>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DC4A614D-391B-42B7-9BCF-37C7204E3CE1}"/>
              </a:ext>
            </a:extLst>
          </p:cNvPr>
          <p:cNvSpPr>
            <a:spLocks xmlns:a="http://schemas.openxmlformats.org/drawingml/2006/main" noGrp="1"/>
          </p:cNvSpPr>
          <p:nvPr/>
        </p:nvSpPr>
        <p:spPr>
          <a:xfrm xmlns:a="http://schemas.openxmlformats.org/drawingml/2006/main">
            <a:off x="1428750" y="3629025"/>
            <a:ext cx="1524000" cy="609600"/>
          </a:xfrm>
          <a:prstGeom xmlns:a="http://schemas.openxmlformats.org/drawingml/2006/main" prst="roundRect">
            <a:avLst>
              <a:gd name="adj" fmla="val 25000"/>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1950" b="1">
                <a:solidFill>
                  <a:srgbClr val="263B31"/>
                </a:solidFill>
                <a:latin typeface="Arial"/>
                <a:ea typeface="Arial"/>
                <a:cs typeface="Arial"/>
              </a:defRPr>
            </a:pPr>
            <a:r>
              <a:rPr sz="1950" b="1">
                <a:solidFill>
                  <a:srgbClr val="263B31"/>
                </a:solidFill>
                <a:latin typeface="Arial"/>
                <a:ea typeface="Arial"/>
                <a:cs typeface="Arial"/>
              </a:rPr>
              <a:t>Спуск 1</a:t>
            </a:r>
          </a:p>
        </p:txBody>
      </p:sp>
      <p:sp>
        <p:nvSpPr>
          <p:cNvPr id="7" name="">
            <a:extLst xmlns:a="http://schemas.openxmlformats.org/drawingml/2006/main">
              <a:ext uri="{FF2B5EF4-FFF2-40B4-BE49-F238E27FC236}">
                <a16:creationId xmlns:a16="http://schemas.microsoft.com/office/drawing/2014/main" id="{21BCD458-1E70-4C58-8DD6-C281551D42B3}"/>
              </a:ext>
            </a:extLst>
          </p:cNvPr>
          <p:cNvSpPr>
            <a:spLocks xmlns:a="http://schemas.openxmlformats.org/drawingml/2006/main" noGrp="1"/>
          </p:cNvSpPr>
          <p:nvPr/>
        </p:nvSpPr>
        <p:spPr>
          <a:xfrm xmlns:a="http://schemas.openxmlformats.org/drawingml/2006/main" flipV="0">
            <a:off x="2190750" y="4238625"/>
            <a:ext cx="953" cy="438150"/>
          </a:xfrm>
          <a:prstGeom xmlns:a="http://schemas.openxmlformats.org/drawingml/2006/main" prst="line">
            <a:avLst/>
          </a:prstGeom>
          <a:noFill xmlns:a="http://schemas.openxmlformats.org/drawingml/2006/main"/>
          <a:ln xmlns:a="http://schemas.openxmlformats.org/drawingml/2006/main" w="28575">
            <a:solidFill>
              <a:srgbClr val="39667D"/>
            </a:solidFill>
          </a:ln>
        </p:spPr>
      </p:sp>
      <p:sp>
        <p:nvSpPr>
          <p:cNvPr id="8" name="">
            <a:extLst xmlns:a="http://schemas.openxmlformats.org/drawingml/2006/main">
              <a:ext uri="{FF2B5EF4-FFF2-40B4-BE49-F238E27FC236}">
                <a16:creationId xmlns:a16="http://schemas.microsoft.com/office/drawing/2014/main" id="{95F6DC93-ECF2-4538-975D-9FA98078ADAF}"/>
              </a:ext>
            </a:extLst>
          </p:cNvPr>
          <p:cNvSpPr>
            <a:spLocks xmlns:a="http://schemas.openxmlformats.org/drawingml/2006/main" noGrp="1"/>
          </p:cNvSpPr>
          <p:nvPr/>
        </p:nvSpPr>
        <p:spPr>
          <a:xfrm xmlns:a="http://schemas.openxmlformats.org/drawingml/2006/main">
            <a:off x="2143125" y="4629150"/>
            <a:ext cx="95250" cy="95250"/>
          </a:xfrm>
          <a:prstGeom xmlns:a="http://schemas.openxmlformats.org/drawingml/2006/main" prst="ellipse">
            <a:avLst/>
          </a:prstGeom>
          <a:solidFill xmlns:a="http://schemas.openxmlformats.org/drawingml/2006/main">
            <a:srgbClr val="39667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006B85-3B5E-40E1-B0E0-D3832C690578}"/>
              </a:ext>
            </a:extLst>
          </p:cNvPr>
          <p:cNvSpPr>
            <a:spLocks xmlns:a="http://schemas.openxmlformats.org/drawingml/2006/main" noGrp="1"/>
          </p:cNvSpPr>
          <p:nvPr/>
        </p:nvSpPr>
        <p:spPr>
          <a:xfrm xmlns:a="http://schemas.openxmlformats.org/drawingml/2006/main">
            <a:off x="3543300" y="2390775"/>
            <a:ext cx="2343150" cy="781050"/>
          </a:xfrm>
          <a:prstGeom xmlns:a="http://schemas.openxmlformats.org/drawingml/2006/main" prst="roundRect">
            <a:avLst>
              <a:gd name="adj" fmla="val 19512"/>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025" b="1">
                <a:solidFill>
                  <a:srgbClr val="263B31"/>
                </a:solidFill>
                <a:latin typeface="Arial"/>
                <a:ea typeface="Arial"/>
                <a:cs typeface="Arial"/>
              </a:defRPr>
            </a:pPr>
            <a:r>
              <a:rPr sz="2025" b="1">
                <a:solidFill>
                  <a:srgbClr val="263B31"/>
                </a:solidFill>
                <a:latin typeface="Arial"/>
                <a:ea typeface="Arial"/>
                <a:cs typeface="Arial"/>
              </a:rPr>
              <a:t>Прицветник</a:t>
            </a:r>
          </a:p>
          <a:p xmlns:a="http://schemas.openxmlformats.org/drawingml/2006/main">
            <a:pPr algn="ctr">
              <a:defRPr sz="2025" b="1">
                <a:solidFill>
                  <a:srgbClr val="263B31"/>
                </a:solidFill>
                <a:latin typeface="Arial"/>
                <a:ea typeface="Arial"/>
                <a:cs typeface="Arial"/>
              </a:defRPr>
            </a:pPr>
            <a:r>
              <a:rPr sz="2025" b="1">
                <a:solidFill>
                  <a:srgbClr val="263B31"/>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BA6B8AF7-223D-4202-8FC5-8C47280539E7}"/>
              </a:ext>
            </a:extLst>
          </p:cNvPr>
          <p:cNvSpPr>
            <a:spLocks xmlns:a="http://schemas.openxmlformats.org/drawingml/2006/main" noGrp="1"/>
          </p:cNvSpPr>
          <p:nvPr/>
        </p:nvSpPr>
        <p:spPr>
          <a:xfrm xmlns:a="http://schemas.openxmlformats.org/drawingml/2006/main">
            <a:off x="3952875" y="3629025"/>
            <a:ext cx="1524000" cy="609600"/>
          </a:xfrm>
          <a:prstGeom xmlns:a="http://schemas.openxmlformats.org/drawingml/2006/main" prst="roundRect">
            <a:avLst>
              <a:gd name="adj" fmla="val 25000"/>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1950" b="1">
                <a:solidFill>
                  <a:srgbClr val="263B31"/>
                </a:solidFill>
                <a:latin typeface="Arial"/>
                <a:ea typeface="Arial"/>
                <a:cs typeface="Arial"/>
              </a:defRPr>
            </a:pPr>
            <a:r>
              <a:rPr sz="1950" b="1">
                <a:solidFill>
                  <a:srgbClr val="263B31"/>
                </a:solidFill>
                <a:latin typeface="Arial"/>
                <a:ea typeface="Arial"/>
                <a:cs typeface="Arial"/>
              </a:rPr>
              <a:t>Спуск 2</a:t>
            </a:r>
          </a:p>
        </p:txBody>
      </p:sp>
      <p:sp>
        <p:nvSpPr>
          <p:cNvPr id="12" name="">
            <a:extLst xmlns:a="http://schemas.openxmlformats.org/drawingml/2006/main">
              <a:ext uri="{FF2B5EF4-FFF2-40B4-BE49-F238E27FC236}">
                <a16:creationId xmlns:a16="http://schemas.microsoft.com/office/drawing/2014/main" id="{F9C8D207-6BDC-4646-9697-F805D42C9C25}"/>
              </a:ext>
            </a:extLst>
          </p:cNvPr>
          <p:cNvSpPr>
            <a:spLocks xmlns:a="http://schemas.openxmlformats.org/drawingml/2006/main" noGrp="1"/>
          </p:cNvSpPr>
          <p:nvPr/>
        </p:nvSpPr>
        <p:spPr>
          <a:xfrm xmlns:a="http://schemas.openxmlformats.org/drawingml/2006/main" flipV="0">
            <a:off x="4714875" y="4238625"/>
            <a:ext cx="953" cy="438150"/>
          </a:xfrm>
          <a:prstGeom xmlns:a="http://schemas.openxmlformats.org/drawingml/2006/main" prst="line">
            <a:avLst/>
          </a:prstGeom>
          <a:noFill xmlns:a="http://schemas.openxmlformats.org/drawingml/2006/main"/>
          <a:ln xmlns:a="http://schemas.openxmlformats.org/drawingml/2006/main" w="28575">
            <a:solidFill>
              <a:srgbClr val="39667D"/>
            </a:solidFill>
          </a:ln>
        </p:spPr>
      </p:sp>
      <p:sp>
        <p:nvSpPr>
          <p:cNvPr id="13" name="">
            <a:extLst xmlns:a="http://schemas.openxmlformats.org/drawingml/2006/main">
              <a:ext uri="{FF2B5EF4-FFF2-40B4-BE49-F238E27FC236}">
                <a16:creationId xmlns:a16="http://schemas.microsoft.com/office/drawing/2014/main" id="{D0BE9AFD-BC7F-4548-B2B7-EB4C5081610B}"/>
              </a:ext>
            </a:extLst>
          </p:cNvPr>
          <p:cNvSpPr>
            <a:spLocks xmlns:a="http://schemas.openxmlformats.org/drawingml/2006/main" noGrp="1"/>
          </p:cNvSpPr>
          <p:nvPr/>
        </p:nvSpPr>
        <p:spPr>
          <a:xfrm xmlns:a="http://schemas.openxmlformats.org/drawingml/2006/main">
            <a:off x="4667250" y="4629150"/>
            <a:ext cx="95250" cy="95250"/>
          </a:xfrm>
          <a:prstGeom xmlns:a="http://schemas.openxmlformats.org/drawingml/2006/main" prst="ellipse">
            <a:avLst/>
          </a:prstGeom>
          <a:solidFill xmlns:a="http://schemas.openxmlformats.org/drawingml/2006/main">
            <a:srgbClr val="39667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5DE71F8-0A34-4E0D-BA84-254F225310CC}"/>
              </a:ext>
            </a:extLst>
          </p:cNvPr>
          <p:cNvSpPr>
            <a:spLocks xmlns:a="http://schemas.openxmlformats.org/drawingml/2006/main" noGrp="1"/>
          </p:cNvSpPr>
          <p:nvPr/>
        </p:nvSpPr>
        <p:spPr>
          <a:xfrm xmlns:a="http://schemas.openxmlformats.org/drawingml/2006/main">
            <a:off x="6067425" y="2390775"/>
            <a:ext cx="2343150" cy="781050"/>
          </a:xfrm>
          <a:prstGeom xmlns:a="http://schemas.openxmlformats.org/drawingml/2006/main" prst="roundRect">
            <a:avLst>
              <a:gd name="adj" fmla="val 19512"/>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025" b="1">
                <a:solidFill>
                  <a:srgbClr val="263B31"/>
                </a:solidFill>
                <a:latin typeface="Arial"/>
                <a:ea typeface="Arial"/>
                <a:cs typeface="Arial"/>
              </a:defRPr>
            </a:pPr>
            <a:r>
              <a:rPr sz="2025" b="1">
                <a:solidFill>
                  <a:srgbClr val="263B31"/>
                </a:solidFill>
                <a:latin typeface="Arial"/>
                <a:ea typeface="Arial"/>
                <a:cs typeface="Arial"/>
              </a:rPr>
              <a:t>Прицветник</a:t>
            </a:r>
          </a:p>
          <a:p xmlns:a="http://schemas.openxmlformats.org/drawingml/2006/main">
            <a:pPr algn="ctr">
              <a:defRPr sz="2025" b="1">
                <a:solidFill>
                  <a:srgbClr val="263B31"/>
                </a:solidFill>
                <a:latin typeface="Arial"/>
                <a:ea typeface="Arial"/>
                <a:cs typeface="Arial"/>
              </a:defRPr>
            </a:pPr>
            <a:r>
              <a:rPr sz="2025" b="1">
                <a:solidFill>
                  <a:srgbClr val="263B31"/>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D5E9A343-8E43-42A9-A050-45274B464D45}"/>
              </a:ext>
            </a:extLst>
          </p:cNvPr>
          <p:cNvSpPr>
            <a:spLocks xmlns:a="http://schemas.openxmlformats.org/drawingml/2006/main" noGrp="1"/>
          </p:cNvSpPr>
          <p:nvPr/>
        </p:nvSpPr>
        <p:spPr>
          <a:xfrm xmlns:a="http://schemas.openxmlformats.org/drawingml/2006/main">
            <a:off x="6477000" y="3629025"/>
            <a:ext cx="1524000" cy="609600"/>
          </a:xfrm>
          <a:prstGeom xmlns:a="http://schemas.openxmlformats.org/drawingml/2006/main" prst="roundRect">
            <a:avLst>
              <a:gd name="adj" fmla="val 25000"/>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1950" b="1">
                <a:solidFill>
                  <a:srgbClr val="263B31"/>
                </a:solidFill>
                <a:latin typeface="Arial"/>
                <a:ea typeface="Arial"/>
                <a:cs typeface="Arial"/>
              </a:defRPr>
            </a:pPr>
            <a:r>
              <a:rPr sz="1950" b="1">
                <a:solidFill>
                  <a:srgbClr val="263B31"/>
                </a:solidFill>
                <a:latin typeface="Arial"/>
                <a:ea typeface="Arial"/>
                <a:cs typeface="Arial"/>
              </a:rPr>
              <a:t>Спуск 3</a:t>
            </a:r>
          </a:p>
        </p:txBody>
      </p:sp>
      <p:sp>
        <p:nvSpPr>
          <p:cNvPr id="17" name="">
            <a:extLst xmlns:a="http://schemas.openxmlformats.org/drawingml/2006/main">
              <a:ext uri="{FF2B5EF4-FFF2-40B4-BE49-F238E27FC236}">
                <a16:creationId xmlns:a16="http://schemas.microsoft.com/office/drawing/2014/main" id="{0BF7F49D-2749-46CE-B5BF-2EF022219C6A}"/>
              </a:ext>
            </a:extLst>
          </p:cNvPr>
          <p:cNvSpPr>
            <a:spLocks xmlns:a="http://schemas.openxmlformats.org/drawingml/2006/main" noGrp="1"/>
          </p:cNvSpPr>
          <p:nvPr/>
        </p:nvSpPr>
        <p:spPr>
          <a:xfrm xmlns:a="http://schemas.openxmlformats.org/drawingml/2006/main" flipV="0">
            <a:off x="7239000" y="4238625"/>
            <a:ext cx="953" cy="438150"/>
          </a:xfrm>
          <a:prstGeom xmlns:a="http://schemas.openxmlformats.org/drawingml/2006/main" prst="line">
            <a:avLst/>
          </a:prstGeom>
          <a:noFill xmlns:a="http://schemas.openxmlformats.org/drawingml/2006/main"/>
          <a:ln xmlns:a="http://schemas.openxmlformats.org/drawingml/2006/main" w="28575">
            <a:solidFill>
              <a:srgbClr val="39667D"/>
            </a:solidFill>
          </a:ln>
        </p:spPr>
      </p:sp>
      <p:sp>
        <p:nvSpPr>
          <p:cNvPr id="18" name="">
            <a:extLst xmlns:a="http://schemas.openxmlformats.org/drawingml/2006/main">
              <a:ext uri="{FF2B5EF4-FFF2-40B4-BE49-F238E27FC236}">
                <a16:creationId xmlns:a16="http://schemas.microsoft.com/office/drawing/2014/main" id="{80DA0A51-C50A-454C-A847-2EBF5941E4C2}"/>
              </a:ext>
            </a:extLst>
          </p:cNvPr>
          <p:cNvSpPr>
            <a:spLocks xmlns:a="http://schemas.openxmlformats.org/drawingml/2006/main" noGrp="1"/>
          </p:cNvSpPr>
          <p:nvPr/>
        </p:nvSpPr>
        <p:spPr>
          <a:xfrm xmlns:a="http://schemas.openxmlformats.org/drawingml/2006/main">
            <a:off x="7191375" y="4629150"/>
            <a:ext cx="95250" cy="95250"/>
          </a:xfrm>
          <a:prstGeom xmlns:a="http://schemas.openxmlformats.org/drawingml/2006/main" prst="ellipse">
            <a:avLst/>
          </a:prstGeom>
          <a:solidFill xmlns:a="http://schemas.openxmlformats.org/drawingml/2006/main">
            <a:srgbClr val="39667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0061289-1574-423B-94FB-C896B2A1BEE2}"/>
              </a:ext>
            </a:extLst>
          </p:cNvPr>
          <p:cNvSpPr>
            <a:spLocks xmlns:a="http://schemas.openxmlformats.org/drawingml/2006/main" noGrp="1"/>
          </p:cNvSpPr>
          <p:nvPr/>
        </p:nvSpPr>
        <p:spPr>
          <a:xfrm xmlns:a="http://schemas.openxmlformats.org/drawingml/2006/main">
            <a:off x="8591550" y="2390775"/>
            <a:ext cx="2343150" cy="781050"/>
          </a:xfrm>
          <a:prstGeom xmlns:a="http://schemas.openxmlformats.org/drawingml/2006/main" prst="roundRect">
            <a:avLst>
              <a:gd name="adj" fmla="val 19512"/>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025" b="1">
                <a:solidFill>
                  <a:srgbClr val="263B31"/>
                </a:solidFill>
                <a:latin typeface="Arial"/>
                <a:ea typeface="Arial"/>
                <a:cs typeface="Arial"/>
              </a:defRPr>
            </a:pPr>
            <a:r>
              <a:rPr sz="2025" b="1">
                <a:solidFill>
                  <a:srgbClr val="263B31"/>
                </a:solidFill>
                <a:latin typeface="Arial"/>
                <a:ea typeface="Arial"/>
                <a:cs typeface="Arial"/>
              </a:rPr>
              <a:t>Прицветник</a:t>
            </a:r>
          </a:p>
          <a:p xmlns:a="http://schemas.openxmlformats.org/drawingml/2006/main">
            <a:pPr algn="ctr">
              <a:defRPr sz="2025" b="1">
                <a:solidFill>
                  <a:srgbClr val="263B31"/>
                </a:solidFill>
                <a:latin typeface="Arial"/>
                <a:ea typeface="Arial"/>
                <a:cs typeface="Arial"/>
              </a:defRPr>
            </a:pPr>
            <a:r>
              <a:rPr sz="2025" b="1">
                <a:solidFill>
                  <a:srgbClr val="263B31"/>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986F9184-B395-4B24-A040-D1643322E813}"/>
              </a:ext>
            </a:extLst>
          </p:cNvPr>
          <p:cNvSpPr>
            <a:spLocks xmlns:a="http://schemas.openxmlformats.org/drawingml/2006/main" noGrp="1"/>
          </p:cNvSpPr>
          <p:nvPr/>
        </p:nvSpPr>
        <p:spPr>
          <a:xfrm xmlns:a="http://schemas.openxmlformats.org/drawingml/2006/main">
            <a:off x="9001125" y="3629025"/>
            <a:ext cx="1524000" cy="609600"/>
          </a:xfrm>
          <a:prstGeom xmlns:a="http://schemas.openxmlformats.org/drawingml/2006/main" prst="roundRect">
            <a:avLst>
              <a:gd name="adj" fmla="val 25000"/>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1950" b="1">
                <a:solidFill>
                  <a:srgbClr val="263B31"/>
                </a:solidFill>
                <a:latin typeface="Arial"/>
                <a:ea typeface="Arial"/>
                <a:cs typeface="Arial"/>
              </a:defRPr>
            </a:pPr>
            <a:r>
              <a:rPr sz="1950" b="1">
                <a:solidFill>
                  <a:srgbClr val="263B31"/>
                </a:solidFill>
                <a:latin typeface="Arial"/>
                <a:ea typeface="Arial"/>
                <a:cs typeface="Arial"/>
              </a:rPr>
              <a:t>Спуск 4</a:t>
            </a:r>
          </a:p>
        </p:txBody>
      </p:sp>
      <p:sp>
        <p:nvSpPr>
          <p:cNvPr id="22" name="">
            <a:extLst xmlns:a="http://schemas.openxmlformats.org/drawingml/2006/main">
              <a:ext uri="{FF2B5EF4-FFF2-40B4-BE49-F238E27FC236}">
                <a16:creationId xmlns:a16="http://schemas.microsoft.com/office/drawing/2014/main" id="{C11F8586-DD46-4B08-BCF6-857B228EB3D8}"/>
              </a:ext>
            </a:extLst>
          </p:cNvPr>
          <p:cNvSpPr>
            <a:spLocks xmlns:a="http://schemas.openxmlformats.org/drawingml/2006/main" noGrp="1"/>
          </p:cNvSpPr>
          <p:nvPr/>
        </p:nvSpPr>
        <p:spPr>
          <a:xfrm xmlns:a="http://schemas.openxmlformats.org/drawingml/2006/main" flipV="0">
            <a:off x="9763125" y="4238625"/>
            <a:ext cx="953" cy="438150"/>
          </a:xfrm>
          <a:prstGeom xmlns:a="http://schemas.openxmlformats.org/drawingml/2006/main" prst="line">
            <a:avLst/>
          </a:prstGeom>
          <a:noFill xmlns:a="http://schemas.openxmlformats.org/drawingml/2006/main"/>
          <a:ln xmlns:a="http://schemas.openxmlformats.org/drawingml/2006/main" w="28575">
            <a:solidFill>
              <a:srgbClr val="39667D"/>
            </a:solidFill>
          </a:ln>
        </p:spPr>
      </p:sp>
      <p:sp>
        <p:nvSpPr>
          <p:cNvPr id="23" name="">
            <a:extLst xmlns:a="http://schemas.openxmlformats.org/drawingml/2006/main">
              <a:ext uri="{FF2B5EF4-FFF2-40B4-BE49-F238E27FC236}">
                <a16:creationId xmlns:a16="http://schemas.microsoft.com/office/drawing/2014/main" id="{750FF752-D9CA-402E-B2AF-D865E3F4069D}"/>
              </a:ext>
            </a:extLst>
          </p:cNvPr>
          <p:cNvSpPr>
            <a:spLocks xmlns:a="http://schemas.openxmlformats.org/drawingml/2006/main" noGrp="1"/>
          </p:cNvSpPr>
          <p:nvPr/>
        </p:nvSpPr>
        <p:spPr>
          <a:xfrm xmlns:a="http://schemas.openxmlformats.org/drawingml/2006/main">
            <a:off x="9715500" y="4629150"/>
            <a:ext cx="95250" cy="95250"/>
          </a:xfrm>
          <a:prstGeom xmlns:a="http://schemas.openxmlformats.org/drawingml/2006/main" prst="ellipse">
            <a:avLst/>
          </a:prstGeom>
          <a:solidFill xmlns:a="http://schemas.openxmlformats.org/drawingml/2006/main">
            <a:srgbClr val="39667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2489A87-3435-4269-A7D7-E1E4341AB77C}"/>
              </a:ext>
            </a:extLst>
          </p:cNvPr>
          <p:cNvSpPr>
            <a:spLocks xmlns:a="http://schemas.openxmlformats.org/drawingml/2006/main" noGrp="1"/>
          </p:cNvSpPr>
          <p:nvPr/>
        </p:nvSpPr>
        <p:spPr>
          <a:xfrm xmlns:a="http://schemas.openxmlformats.org/drawingml/2006/main" flipV="0">
            <a:off x="704850" y="4676775"/>
            <a:ext cx="10439400" cy="953"/>
          </a:xfrm>
          <a:prstGeom xmlns:a="http://schemas.openxmlformats.org/drawingml/2006/main" prst="line">
            <a:avLst/>
          </a:prstGeom>
          <a:noFill xmlns:a="http://schemas.openxmlformats.org/drawingml/2006/main"/>
          <a:ln xmlns:a="http://schemas.openxmlformats.org/drawingml/2006/main" w="47625">
            <a:solidFill>
              <a:srgbClr val="39667D"/>
            </a:solidFill>
          </a:ln>
        </p:spPr>
      </p:sp>
      <p:sp>
        <p:nvSpPr>
          <p:cNvPr id="25" name="">
            <a:extLst xmlns:a="http://schemas.openxmlformats.org/drawingml/2006/main">
              <a:ext uri="{FF2B5EF4-FFF2-40B4-BE49-F238E27FC236}">
                <a16:creationId xmlns:a16="http://schemas.microsoft.com/office/drawing/2014/main" id="{A8E7059E-9D10-48A0-BA18-E222FCB691F9}"/>
              </a:ext>
            </a:extLst>
          </p:cNvPr>
          <p:cNvSpPr>
            <a:spLocks xmlns:a="http://schemas.openxmlformats.org/drawingml/2006/main" noGrp="1"/>
          </p:cNvSpPr>
          <p:nvPr/>
        </p:nvSpPr>
        <p:spPr>
          <a:xfrm xmlns:a="http://schemas.openxmlformats.org/drawingml/2006/main">
            <a:off x="10982325" y="4591050"/>
            <a:ext cx="171450" cy="171450"/>
          </a:xfrm>
          <a:custGeom xmlns:a="http://schemas.openxmlformats.org/drawingml/2006/main">
            <a:pathLst>
              <a:path w="171450" h="171450">
                <a:moveTo>
                  <a:pt x="0" y="0"/>
                </a:moveTo>
                <a:lnTo>
                  <a:pt x="171450" y="85725"/>
                </a:lnTo>
                <a:lnTo>
                  <a:pt x="0" y="171450"/>
                </a:lnTo>
              </a:path>
            </a:pathLst>
          </a:custGeom>
          <a:noFill xmlns:a="http://schemas.openxmlformats.org/drawingml/2006/main"/>
          <a:ln xmlns:a="http://schemas.openxmlformats.org/drawingml/2006/main" w="38100">
            <a:solidFill>
              <a:srgbClr val="39667D"/>
            </a:solidFill>
          </a:ln>
        </p:spPr>
      </p:sp>
      <p:sp>
        <p:nvSpPr>
          <p:cNvPr id="26" name="">
            <a:extLst xmlns:a="http://schemas.openxmlformats.org/drawingml/2006/main">
              <a:ext uri="{FF2B5EF4-FFF2-40B4-BE49-F238E27FC236}">
                <a16:creationId xmlns:a16="http://schemas.microsoft.com/office/drawing/2014/main" id="{24505B01-B0D0-420B-9D88-83C805220E5F}"/>
              </a:ext>
            </a:extLst>
          </p:cNvPr>
          <p:cNvSpPr>
            <a:spLocks xmlns:a="http://schemas.openxmlformats.org/drawingml/2006/main" noGrp="1"/>
          </p:cNvSpPr>
          <p:nvPr/>
        </p:nvSpPr>
        <p:spPr>
          <a:xfrm xmlns:a="http://schemas.openxmlformats.org/drawingml/2006/main">
            <a:off x="609600" y="50482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9667D"/>
                </a:solidFill>
                <a:latin typeface="Arial"/>
                <a:ea typeface="Arial"/>
                <a:cs typeface="Arial"/>
              </a:defRPr>
            </a:pPr>
            <a:r>
              <a:rPr sz="2400" b="1">
                <a:solidFill>
                  <a:srgbClr val="39667D"/>
                </a:solidFill>
                <a:latin typeface="Arial"/>
                <a:ea typeface="Arial"/>
                <a:cs typeface="Arial"/>
              </a:rPr>
              <a:t>Волна в общей полоске возбудимых клеток</a:t>
            </a:r>
          </a:p>
        </p:txBody>
      </p:sp>
      <p:sp>
        <p:nvSpPr>
          <p:cNvPr id="27" name="">
            <a:extLst xmlns:a="http://schemas.openxmlformats.org/drawingml/2006/main">
              <a:ext uri="{FF2B5EF4-FFF2-40B4-BE49-F238E27FC236}">
                <a16:creationId xmlns:a16="http://schemas.microsoft.com/office/drawing/2014/main" id="{AC3E98B8-326F-45FE-89DA-AE6D857E9E64}"/>
              </a:ext>
            </a:extLst>
          </p:cNvPr>
          <p:cNvSpPr>
            <a:spLocks xmlns:a="http://schemas.openxmlformats.org/drawingml/2006/main" noGrp="1"/>
          </p:cNvSpPr>
          <p:nvPr/>
        </p:nvSpPr>
        <p:spPr>
          <a:xfrm xmlns:a="http://schemas.openxmlformats.org/drawingml/2006/main">
            <a:off x="609600" y="56864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Спуск: Ca²⁺, выход ионов и воды,</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падение тургора. Упор освобождает пластинку.</a:t>
            </a:r>
          </a:p>
        </p:txBody>
      </p:sp>
      <p:sp>
        <p:nvSpPr>
          <p:cNvPr id="28" name="">
            <a:extLst xmlns:a="http://schemas.openxmlformats.org/drawingml/2006/main">
              <a:ext uri="{FF2B5EF4-FFF2-40B4-BE49-F238E27FC236}">
                <a16:creationId xmlns:a16="http://schemas.microsoft.com/office/drawing/2014/main" id="{134A4426-2052-4626-8D0F-F0C208D7DDD8}"/>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[23]</a:t>
            </a:r>
          </a:p>
        </p:txBody>
      </p:sp>
    </p:spTree>
    <p:extLst>
      <p:ext uri="{BB962C8B-B14F-4D97-AF65-F5344CB8AC3E}">
        <p14:creationId xmlns:p14="http://schemas.microsoft.com/office/powerpoint/2010/main" val="11715051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p:cNvCxnSpPr>
            <a:stCxn xmlns:a="http://schemas.openxmlformats.org/drawingml/2006/main" id="3" idx="3"/>
            <a:endCxn xmlns:a="http://schemas.openxmlformats.org/drawingml/2006/main" id="4" idx="1"/>
          </p:cNvCxnSpPr>
          <p:nvPr/>
        </p:nvCxnSpPr>
        <p:spPr>
          <a:xfrm xmlns:a="http://schemas.openxmlformats.org/drawingml/2006/main">
            <a:off x="5200650" y="1909763"/>
            <a:ext cx="1276350"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9" name="">
            <a:extLst xmlns:a="http://schemas.openxmlformats.org/drawingml/2006/main">
              <a:ext uri="{FF2B5EF4-FFF2-40B4-BE49-F238E27FC236}">
                <a16:creationId xmlns:a16="http://schemas.microsoft.com/office/drawing/2014/main" id="{1599FE03-E964-4E36-82F0-680CCC2B500F}"/>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Регуляция числа щелчков</a:t>
            </a:r>
          </a:p>
        </p:txBody>
      </p:sp>
      <p:sp>
        <p:nvSpPr>
          <p:cNvPr id="2" name="">
            <a:extLst xmlns:a="http://schemas.openxmlformats.org/drawingml/2006/main">
              <a:ext uri="{FF2B5EF4-FFF2-40B4-BE49-F238E27FC236}">
                <a16:creationId xmlns:a16="http://schemas.microsoft.com/office/drawing/2014/main" id="{EEA2F081-C4C0-468A-8B97-8EF11C855627}"/>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7B4BBD08-8D6C-4D53-AEF0-1AFFE80153A2}"/>
              </a:ext>
            </a:extLst>
          </p:cNvPr>
          <p:cNvSpPr>
            <a:spLocks xmlns:a="http://schemas.openxmlformats.org/drawingml/2006/main" noGrp="1"/>
          </p:cNvSpPr>
          <p:nvPr/>
        </p:nvSpPr>
        <p:spPr>
          <a:xfrm xmlns:a="http://schemas.openxmlformats.org/drawingml/2006/main">
            <a:off x="609600" y="1476375"/>
            <a:ext cx="4591050" cy="866775"/>
          </a:xfrm>
          <a:prstGeom xmlns:a="http://schemas.openxmlformats.org/drawingml/2006/main" prst="roundRect">
            <a:avLst>
              <a:gd name="adj" fmla="val 17582"/>
            </a:avLst>
          </a:prstGeom>
          <a:solidFill xmlns:a="http://schemas.openxmlformats.org/drawingml/2006/main">
            <a:srgbClr val="F6E7D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Нектар или повреждение</a:t>
            </a:r>
          </a:p>
        </p:txBody>
      </p:sp>
      <p:sp>
        <p:nvSpPr>
          <p:cNvPr id="4" name="">
            <a:extLst xmlns:a="http://schemas.openxmlformats.org/drawingml/2006/main">
              <a:ext uri="{FF2B5EF4-FFF2-40B4-BE49-F238E27FC236}">
                <a16:creationId xmlns:a16="http://schemas.microsoft.com/office/drawing/2014/main" id="{A4E2E337-4600-4AF8-A74E-D682CFBC3041}"/>
              </a:ext>
            </a:extLst>
          </p:cNvPr>
          <p:cNvSpPr>
            <a:spLocks xmlns:a="http://schemas.openxmlformats.org/drawingml/2006/main" noGrp="1"/>
          </p:cNvSpPr>
          <p:nvPr/>
        </p:nvSpPr>
        <p:spPr>
          <a:xfrm xmlns:a="http://schemas.openxmlformats.org/drawingml/2006/main">
            <a:off x="6477000" y="1476375"/>
            <a:ext cx="5105400" cy="866775"/>
          </a:xfrm>
          <a:prstGeom xmlns:a="http://schemas.openxmlformats.org/drawingml/2006/main" prst="roundRect">
            <a:avLst>
              <a:gd name="adj" fmla="val 17582"/>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400" b="1">
                <a:solidFill>
                  <a:srgbClr val="263B31"/>
                </a:solidFill>
                <a:latin typeface="Arial"/>
                <a:ea typeface="Arial"/>
                <a:cs typeface="Arial"/>
              </a:defRPr>
            </a:pPr>
            <a:r>
              <a:rPr sz="2400" b="1">
                <a:solidFill>
                  <a:srgbClr val="263B31"/>
                </a:solidFill>
                <a:latin typeface="Arial"/>
                <a:ea typeface="Arial"/>
                <a:cs typeface="Arial"/>
              </a:rPr>
              <a:t>Концентрация АБК</a:t>
            </a:r>
          </a:p>
        </p:txBody>
      </p:sp>
      <p:graphicFrame>
        <p:nvGraphicFramePr>
          <p:cNvPr id="13" name=""/>
          <p:cNvGraphicFramePr/>
          <p:nvPr/>
        </p:nvGraphicFramePr>
        <p:xfrm>
          <a:off xmlns:a="http://schemas.openxmlformats.org/drawingml/2006/main" x="609600" y="2714625"/>
          <a:ext xmlns:a="http://schemas.openxmlformats.org/drawingml/2006/main" cx="10972800" cy="3095625"/>
        </p:xfrm>
        <a:graphic xmlns:a="http://schemas.openxmlformats.org/drawingml/2006/main">
          <a:graphicData uri="http://schemas.openxmlformats.org/drawingml/2006/table">
            <a:tbl>
              <a:tblPr/>
              <a:tblGrid>
                <a:gridCol w="2305050"/>
                <a:gridCol w="1438275"/>
                <a:gridCol w="1438275"/>
                <a:gridCol w="1438275"/>
                <a:gridCol w="1438275"/>
                <a:gridCol w="2914650"/>
              </a:tblGrid>
              <a:tr h="619125">
                <a:tc>
                  <a:txBody>
                    <a:bodyPr lIns="142875" tIns="76200" rIns="114300" bIns="76200">
                      <a:noAutofit/>
                    </a:bodyPr>
                    <a:lstStyle/>
                    <a:p>
                      <a:r>
                        <a:rPr sz="2100" b="1">
                          <a:solidFill>
                            <a:srgbClr val="FFFFFF"/>
                          </a:solidFill>
                          <a:latin typeface="Arial"/>
                          <a:ea typeface="Arial"/>
                          <a:cs typeface="Arial"/>
                        </a:rPr>
                        <a:t>Уровень АБК</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Спуск 1</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Спуск 2</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Спуск 3</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Спуск 4</a:t>
                      </a:r>
                    </a:p>
                  </a:txBody>
                  <a:tcPr marL="91440" marR="91440" marT="45720" marB="45720" anchor="ctr">
                    <a:solidFill>
                      <a:srgbClr val="263B31"/>
                    </a:solidFill>
                  </a:tcPr>
                </a:tc>
                <a:tc>
                  <a:txBody>
                    <a:bodyPr lIns="142875" tIns="76200" rIns="114300" bIns="76200">
                      <a:noAutofit/>
                    </a:bodyPr>
                    <a:lstStyle/>
                    <a:p>
                      <a:r>
                        <a:rPr sz="2100" b="1">
                          <a:solidFill>
                            <a:srgbClr val="FFFFFF"/>
                          </a:solidFill>
                          <a:latin typeface="Arial"/>
                          <a:ea typeface="Arial"/>
                          <a:cs typeface="Arial"/>
                        </a:rPr>
                        <a:t>Серия</a:t>
                      </a:r>
                    </a:p>
                  </a:txBody>
                  <a:tcPr marL="91440" marR="91440" marT="45720" marB="45720" anchor="ctr">
                    <a:solidFill>
                      <a:srgbClr val="263B31"/>
                    </a:solidFill>
                  </a:tcPr>
                </a:tc>
              </a:tr>
              <a:tr h="619125">
                <a:tc>
                  <a:txBody>
                    <a:bodyPr lIns="142875" tIns="76200" rIns="114300" bIns="76200">
                      <a:noAutofit/>
                    </a:bodyPr>
                    <a:lstStyle/>
                    <a:p>
                      <a:r>
                        <a:rPr sz="2100" b="1">
                          <a:solidFill>
                            <a:srgbClr val="263B31"/>
                          </a:solidFill>
                          <a:latin typeface="Arial"/>
                          <a:ea typeface="Arial"/>
                          <a:cs typeface="Arial"/>
                        </a:rPr>
                        <a:t>Низкий</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1 щелчок</a:t>
                      </a:r>
                    </a:p>
                  </a:txBody>
                  <a:tcPr marL="91440" marR="91440" marT="45720" marB="45720" anchor="ctr">
                    <a:solidFill>
                      <a:srgbClr val="FFFFFF"/>
                    </a:solidFill>
                  </a:tcPr>
                </a:tc>
              </a:tr>
              <a:tr h="619125">
                <a:tc>
                  <a:txBody>
                    <a:bodyPr lIns="142875" tIns="76200" rIns="114300" bIns="76200">
                      <a:noAutofit/>
                    </a:bodyPr>
                    <a:lstStyle/>
                    <a:p>
                      <a:r>
                        <a:rPr sz="2100" b="1">
                          <a:solidFill>
                            <a:srgbClr val="263B31"/>
                          </a:solidFill>
                          <a:latin typeface="Arial"/>
                          <a:ea typeface="Arial"/>
                          <a:cs typeface="Arial"/>
                        </a:rPr>
                        <a:t>Средний</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2 щелчка</a:t>
                      </a:r>
                    </a:p>
                  </a:txBody>
                  <a:tcPr marL="91440" marR="91440" marT="45720" marB="45720" anchor="ctr">
                    <a:solidFill>
                      <a:srgbClr val="FFFFFF"/>
                    </a:solidFill>
                  </a:tcPr>
                </a:tc>
              </a:tr>
              <a:tr h="619125">
                <a:tc>
                  <a:txBody>
                    <a:bodyPr lIns="142875" tIns="76200" rIns="114300" bIns="76200">
                      <a:noAutofit/>
                    </a:bodyPr>
                    <a:lstStyle/>
                    <a:p>
                      <a:r>
                        <a:rPr sz="2100" b="1">
                          <a:solidFill>
                            <a:srgbClr val="263B31"/>
                          </a:solidFill>
                          <a:latin typeface="Arial"/>
                          <a:ea typeface="Arial"/>
                          <a:cs typeface="Arial"/>
                        </a:rPr>
                        <a:t>Повышенный</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3 щелчка</a:t>
                      </a:r>
                    </a:p>
                  </a:txBody>
                  <a:tcPr marL="91440" marR="91440" marT="45720" marB="45720" anchor="ctr">
                    <a:solidFill>
                      <a:srgbClr val="FFFFFF"/>
                    </a:solidFill>
                  </a:tcPr>
                </a:tc>
              </a:tr>
              <a:tr h="619125">
                <a:tc>
                  <a:txBody>
                    <a:bodyPr lIns="142875" tIns="76200" rIns="114300" bIns="76200">
                      <a:noAutofit/>
                    </a:bodyPr>
                    <a:lstStyle/>
                    <a:p>
                      <a:r>
                        <a:rPr sz="2100" b="1">
                          <a:solidFill>
                            <a:srgbClr val="263B31"/>
                          </a:solidFill>
                          <a:latin typeface="Arial"/>
                          <a:ea typeface="Arial"/>
                          <a:cs typeface="Arial"/>
                        </a:rPr>
                        <a:t>Высокий</a:t>
                      </a:r>
                    </a:p>
                  </a:txBody>
                  <a:tcPr marL="91440" marR="91440" marT="45720" marB="45720" anchor="ctr">
                    <a:solidFill>
                      <a:srgbClr val="EDF3EB"/>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a:t>
                      </a:r>
                    </a:p>
                  </a:txBody>
                  <a:tcPr marL="91440" marR="91440" marT="45720" marB="45720" anchor="ctr">
                    <a:solidFill>
                      <a:srgbClr val="FFFFFF"/>
                    </a:solidFill>
                  </a:tcPr>
                </a:tc>
                <a:tc>
                  <a:txBody>
                    <a:bodyPr lIns="142875" tIns="76200" rIns="114300" bIns="76200">
                      <a:noAutofit/>
                    </a:bodyPr>
                    <a:lstStyle/>
                    <a:p>
                      <a:r>
                        <a:rPr sz="2100" b="0">
                          <a:solidFill>
                            <a:srgbClr val="263B31"/>
                          </a:solidFill>
                          <a:latin typeface="Arial"/>
                          <a:ea typeface="Arial"/>
                          <a:cs typeface="Arial"/>
                        </a:rPr>
                        <a:t>4 щелчка</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446CF9B-2F2A-402E-AC5F-5E9BA35D2D20}"/>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[24], [25], [26]</a:t>
            </a:r>
          </a:p>
        </p:txBody>
      </p:sp>
    </p:spTree>
    <p:extLst>
      <p:ext uri="{BB962C8B-B14F-4D97-AF65-F5344CB8AC3E}">
        <p14:creationId xmlns:p14="http://schemas.microsoft.com/office/powerpoint/2010/main" val="202103009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02CA9A8-C1D8-47CA-AD53-978FF7EF3A2F}"/>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Энергетическая цена за сезон</a:t>
            </a:r>
          </a:p>
        </p:txBody>
      </p:sp>
      <p:sp>
        <p:nvSpPr>
          <p:cNvPr id="2" name="">
            <a:extLst xmlns:a="http://schemas.openxmlformats.org/drawingml/2006/main">
              <a:ext uri="{FF2B5EF4-FFF2-40B4-BE49-F238E27FC236}">
                <a16:creationId xmlns:a16="http://schemas.microsoft.com/office/drawing/2014/main" id="{7284E760-0555-41D2-9D8A-07859634E3BA}"/>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EBA7A05A-E238-4680-A43D-B129C1E76BDB}"/>
              </a:ext>
            </a:extLst>
          </p:cNvPr>
          <p:cNvSpPr>
            <a:spLocks xmlns:a="http://schemas.openxmlformats.org/drawingml/2006/main" noGrp="1"/>
          </p:cNvSpPr>
          <p:nvPr/>
        </p:nvSpPr>
        <p:spPr>
          <a:xfrm xmlns:a="http://schemas.openxmlformats.org/drawingml/2006/main">
            <a:off x="609600" y="1438275"/>
            <a:ext cx="50196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47705A"/>
                </a:solidFill>
                <a:latin typeface="Arial"/>
                <a:ea typeface="Arial"/>
                <a:cs typeface="Arial"/>
              </a:defRPr>
            </a:pPr>
            <a:r>
              <a:rPr sz="5850" b="1">
                <a:solidFill>
                  <a:srgbClr val="47705A"/>
                </a:solidFill>
                <a:latin typeface="Arial"/>
                <a:ea typeface="Arial"/>
                <a:cs typeface="Arial"/>
              </a:rPr>
              <a:t>≈130 кДж</a:t>
            </a:r>
          </a:p>
        </p:txBody>
      </p:sp>
      <p:sp>
        <p:nvSpPr>
          <p:cNvPr id="4" name="">
            <a:extLst xmlns:a="http://schemas.openxmlformats.org/drawingml/2006/main">
              <a:ext uri="{FF2B5EF4-FFF2-40B4-BE49-F238E27FC236}">
                <a16:creationId xmlns:a16="http://schemas.microsoft.com/office/drawing/2014/main" id="{1CC87BA3-2E4A-4AEE-A3FD-CC0D60EF6328}"/>
              </a:ext>
            </a:extLst>
          </p:cNvPr>
          <p:cNvSpPr>
            <a:spLocks xmlns:a="http://schemas.openxmlformats.org/drawingml/2006/main" noGrp="1"/>
          </p:cNvSpPr>
          <p:nvPr/>
        </p:nvSpPr>
        <p:spPr>
          <a:xfrm xmlns:a="http://schemas.openxmlformats.org/drawingml/2006/main">
            <a:off x="6324600" y="1552575"/>
            <a:ext cx="5257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263B31"/>
                </a:solidFill>
                <a:latin typeface="Arial"/>
                <a:ea typeface="Arial"/>
                <a:cs typeface="Arial"/>
              </a:defRPr>
            </a:pPr>
            <a:r>
              <a:rPr sz="2400" b="0">
                <a:solidFill>
                  <a:srgbClr val="263B31"/>
                </a:solidFill>
                <a:latin typeface="Arial"/>
                <a:ea typeface="Arial"/>
                <a:cs typeface="Arial"/>
              </a:rPr>
              <a:t>на все звуковые органы</a:t>
            </a:r>
          </a:p>
          <a:p xmlns:a="http://schemas.openxmlformats.org/drawingml/2006/main">
            <a:pPr algn="l">
              <a:defRPr sz="2400" b="0">
                <a:solidFill>
                  <a:srgbClr val="263B31"/>
                </a:solidFill>
                <a:latin typeface="Arial"/>
                <a:ea typeface="Arial"/>
                <a:cs typeface="Arial"/>
              </a:defRPr>
            </a:pPr>
            <a:r>
              <a:rPr sz="2400" b="0">
                <a:solidFill>
                  <a:srgbClr val="263B31"/>
                </a:solidFill>
                <a:latin typeface="Arial"/>
                <a:ea typeface="Arial"/>
                <a:cs typeface="Arial"/>
              </a:rPr>
              <a:t>одного дерева</a:t>
            </a:r>
          </a:p>
        </p:txBody>
      </p:sp>
      <p:graphicFrame>
        <p:nvGraphicFramePr>
          <p:cNvPr id="20" name="Chart"/>
          <p:cNvGraphicFramePr/>
          <p:nvPr/>
        </p:nvGraphicFramePr>
        <p:xfrm>
          <a:off xmlns:a="http://schemas.openxmlformats.org/drawingml/2006/main" x="609600" y="2743200"/>
          <a:ext xmlns:a="http://schemas.openxmlformats.org/drawingml/2006/main" cx="10972800" cy="1104900"/>
        </p:xfrm>
        <a:graphic xmlns:a="http://schemas.openxmlformats.org/drawingml/2006/main">
          <a:graphicData uri="http://schemas.openxmlformats.org/drawingml/2006/chart">
            <c:chart xmlns:r="http://schemas.openxmlformats.org/officeDocument/2006/relationships" xmlns:c="http://schemas.openxmlformats.org/drawingml/2006/chart" r:id="Rb515267d03324da9"/>
          </a:graphicData>
        </a:graphic>
      </p:graphicFrame>
      <p:sp>
        <p:nvSpPr>
          <p:cNvPr id="6" name="">
            <a:extLst xmlns:a="http://schemas.openxmlformats.org/drawingml/2006/main">
              <a:ext uri="{FF2B5EF4-FFF2-40B4-BE49-F238E27FC236}">
                <a16:creationId xmlns:a16="http://schemas.microsoft.com/office/drawing/2014/main" id="{3681270D-ABA9-4555-B2F6-8F351EB0E301}"/>
              </a:ext>
            </a:extLst>
          </p:cNvPr>
          <p:cNvSpPr>
            <a:spLocks xmlns:a="http://schemas.openxmlformats.org/drawingml/2006/main" noGrp="1"/>
          </p:cNvSpPr>
          <p:nvPr/>
        </p:nvSpPr>
        <p:spPr>
          <a:xfrm xmlns:a="http://schemas.openxmlformats.org/drawingml/2006/main">
            <a:off x="609600" y="4210050"/>
            <a:ext cx="200025" cy="200025"/>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72D01E-8E9E-4E1D-BA0E-495E6C86323C}"/>
              </a:ext>
            </a:extLst>
          </p:cNvPr>
          <p:cNvSpPr>
            <a:spLocks xmlns:a="http://schemas.openxmlformats.org/drawingml/2006/main" noGrp="1"/>
          </p:cNvSpPr>
          <p:nvPr/>
        </p:nvSpPr>
        <p:spPr>
          <a:xfrm xmlns:a="http://schemas.openxmlformats.org/drawingml/2006/main">
            <a:off x="990600" y="411480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Создание: 117 кДж</a:t>
            </a:r>
          </a:p>
        </p:txBody>
      </p:sp>
      <p:sp>
        <p:nvSpPr>
          <p:cNvPr id="8" name="">
            <a:extLst xmlns:a="http://schemas.openxmlformats.org/drawingml/2006/main">
              <a:ext uri="{FF2B5EF4-FFF2-40B4-BE49-F238E27FC236}">
                <a16:creationId xmlns:a16="http://schemas.microsoft.com/office/drawing/2014/main" id="{89F03319-77F4-4262-B8D1-3B37368590DA}"/>
              </a:ext>
            </a:extLst>
          </p:cNvPr>
          <p:cNvSpPr>
            <a:spLocks xmlns:a="http://schemas.openxmlformats.org/drawingml/2006/main" noGrp="1"/>
          </p:cNvSpPr>
          <p:nvPr/>
        </p:nvSpPr>
        <p:spPr>
          <a:xfrm xmlns:a="http://schemas.openxmlformats.org/drawingml/2006/main">
            <a:off x="609600" y="4724400"/>
            <a:ext cx="200025" cy="200025"/>
          </a:xfrm>
          <a:prstGeom xmlns:a="http://schemas.openxmlformats.org/drawingml/2006/main" prst="rect">
            <a:avLst/>
          </a:prstGeom>
          <a:solidFill xmlns:a="http://schemas.openxmlformats.org/drawingml/2006/main">
            <a:srgbClr val="39667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777D5D0-19BA-465F-A8B6-AF8DD5373B59}"/>
              </a:ext>
            </a:extLst>
          </p:cNvPr>
          <p:cNvSpPr>
            <a:spLocks xmlns:a="http://schemas.openxmlformats.org/drawingml/2006/main" noGrp="1"/>
          </p:cNvSpPr>
          <p:nvPr/>
        </p:nvSpPr>
        <p:spPr>
          <a:xfrm xmlns:a="http://schemas.openxmlformats.org/drawingml/2006/main">
            <a:off x="990600" y="462915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Обслуживание: ≈8 кДж</a:t>
            </a:r>
          </a:p>
        </p:txBody>
      </p:sp>
      <p:sp>
        <p:nvSpPr>
          <p:cNvPr id="10" name="">
            <a:extLst xmlns:a="http://schemas.openxmlformats.org/drawingml/2006/main">
              <a:ext uri="{FF2B5EF4-FFF2-40B4-BE49-F238E27FC236}">
                <a16:creationId xmlns:a16="http://schemas.microsoft.com/office/drawing/2014/main" id="{CA38EB20-CE8A-43FA-8C78-CF1BB25207B6}"/>
              </a:ext>
            </a:extLst>
          </p:cNvPr>
          <p:cNvSpPr>
            <a:spLocks xmlns:a="http://schemas.openxmlformats.org/drawingml/2006/main" noGrp="1"/>
          </p:cNvSpPr>
          <p:nvPr/>
        </p:nvSpPr>
        <p:spPr>
          <a:xfrm xmlns:a="http://schemas.openxmlformats.org/drawingml/2006/main">
            <a:off x="609600" y="5238750"/>
            <a:ext cx="200025" cy="200025"/>
          </a:xfrm>
          <a:prstGeom xmlns:a="http://schemas.openxmlformats.org/drawingml/2006/main" prst="rect">
            <a:avLst/>
          </a:prstGeom>
          <a:solidFill xmlns:a="http://schemas.openxmlformats.org/drawingml/2006/main">
            <a:srgbClr val="A9674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29790A-2070-43FB-8BA8-B42DEF86035C}"/>
              </a:ext>
            </a:extLst>
          </p:cNvPr>
          <p:cNvSpPr>
            <a:spLocks xmlns:a="http://schemas.openxmlformats.org/drawingml/2006/main" noGrp="1"/>
          </p:cNvSpPr>
          <p:nvPr/>
        </p:nvSpPr>
        <p:spPr>
          <a:xfrm xmlns:a="http://schemas.openxmlformats.org/drawingml/2006/main">
            <a:off x="990600" y="514350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Работа: 1 кДж</a:t>
            </a:r>
          </a:p>
        </p:txBody>
      </p:sp>
      <p:sp>
        <p:nvSpPr>
          <p:cNvPr id="12" name="">
            <a:extLst xmlns:a="http://schemas.openxmlformats.org/drawingml/2006/main">
              <a:ext uri="{FF2B5EF4-FFF2-40B4-BE49-F238E27FC236}">
                <a16:creationId xmlns:a16="http://schemas.microsoft.com/office/drawing/2014/main" id="{8808858F-E39D-413A-B4E0-F1F6EC2B4057}"/>
              </a:ext>
            </a:extLst>
          </p:cNvPr>
          <p:cNvSpPr>
            <a:spLocks xmlns:a="http://schemas.openxmlformats.org/drawingml/2006/main" noGrp="1"/>
          </p:cNvSpPr>
          <p:nvPr/>
        </p:nvSpPr>
        <p:spPr>
          <a:xfrm xmlns:a="http://schemas.openxmlformats.org/drawingml/2006/main">
            <a:off x="6324600" y="4219575"/>
            <a:ext cx="5257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47705A"/>
                </a:solidFill>
                <a:latin typeface="Arial"/>
                <a:ea typeface="Arial"/>
                <a:cs typeface="Arial"/>
              </a:defRPr>
            </a:pPr>
            <a:r>
              <a:rPr sz="2550" b="1">
                <a:solidFill>
                  <a:srgbClr val="47705A"/>
                </a:solidFill>
                <a:latin typeface="Arial"/>
                <a:ea typeface="Arial"/>
                <a:cs typeface="Arial"/>
              </a:rPr>
              <a:t>≈93% — создание тканей</a:t>
            </a:r>
          </a:p>
        </p:txBody>
      </p:sp>
      <p:sp>
        <p:nvSpPr>
          <p:cNvPr id="13" name="">
            <a:extLst xmlns:a="http://schemas.openxmlformats.org/drawingml/2006/main">
              <a:ext uri="{FF2B5EF4-FFF2-40B4-BE49-F238E27FC236}">
                <a16:creationId xmlns:a16="http://schemas.microsoft.com/office/drawing/2014/main" id="{63CD583B-830B-46ED-861F-4FE910514262}"/>
              </a:ext>
            </a:extLst>
          </p:cNvPr>
          <p:cNvSpPr>
            <a:spLocks xmlns:a="http://schemas.openxmlformats.org/drawingml/2006/main" noGrp="1"/>
          </p:cNvSpPr>
          <p:nvPr/>
        </p:nvSpPr>
        <p:spPr>
          <a:xfrm xmlns:a="http://schemas.openxmlformats.org/drawingml/2006/main">
            <a:off x="6324600" y="4876800"/>
            <a:ext cx="5257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10 узлов по 4 прицветника;</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100 дней; 100 000 щелчков.</a:t>
            </a:r>
          </a:p>
        </p:txBody>
      </p:sp>
      <p:sp>
        <p:nvSpPr>
          <p:cNvPr id="14" name="">
            <a:extLst xmlns:a="http://schemas.openxmlformats.org/drawingml/2006/main">
              <a:ext uri="{FF2B5EF4-FFF2-40B4-BE49-F238E27FC236}">
                <a16:creationId xmlns:a16="http://schemas.microsoft.com/office/drawing/2014/main" id="{111A5BBC-3FC3-43FB-9A6A-0C54F1AA377D}"/>
              </a:ext>
            </a:extLst>
          </p:cNvPr>
          <p:cNvSpPr>
            <a:spLocks xmlns:a="http://schemas.openxmlformats.org/drawingml/2006/main" noGrp="1"/>
          </p:cNvSpPr>
          <p:nvPr/>
        </p:nvSpPr>
        <p:spPr>
          <a:xfrm xmlns:a="http://schemas.openxmlformats.org/drawingml/2006/main">
            <a:off x="609600" y="5981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Приблизительная оценка: масса органов и режим работы заданы.</a:t>
            </a:r>
          </a:p>
        </p:txBody>
      </p:sp>
      <p:sp>
        <p:nvSpPr>
          <p:cNvPr id="15" name="">
            <a:extLst xmlns:a="http://schemas.openxmlformats.org/drawingml/2006/main">
              <a:ext uri="{FF2B5EF4-FFF2-40B4-BE49-F238E27FC236}">
                <a16:creationId xmlns:a16="http://schemas.microsoft.com/office/drawing/2014/main" id="{5E2E0236-E5A7-4811-A1AF-C479480B6E0A}"/>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[9], [10], [12]</a:t>
            </a:r>
          </a:p>
        </p:txBody>
      </p:sp>
    </p:spTree>
    <p:extLst>
      <p:ext uri="{BB962C8B-B14F-4D97-AF65-F5344CB8AC3E}">
        <p14:creationId xmlns:p14="http://schemas.microsoft.com/office/powerpoint/2010/main" val="27868860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BE8BC6-3332-48AD-A836-A3329EF8B2A1}"/>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Что получает растение</a:t>
            </a:r>
          </a:p>
        </p:txBody>
      </p:sp>
      <p:sp>
        <p:nvSpPr>
          <p:cNvPr id="2" name="">
            <a:extLst xmlns:a="http://schemas.openxmlformats.org/drawingml/2006/main">
              <a:ext uri="{FF2B5EF4-FFF2-40B4-BE49-F238E27FC236}">
                <a16:creationId xmlns:a16="http://schemas.microsoft.com/office/drawing/2014/main" id="{FDD7C95D-29D5-43F7-8B78-48556B25349A}"/>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212554e23ff4404"/>
          <a:stretch xmlns:a="http://schemas.openxmlformats.org/drawingml/2006/main"/>
        </p:blipFill>
        <p:spPr>
          <a:xfrm xmlns:a="http://schemas.openxmlformats.org/drawingml/2006/main">
            <a:off x="450056" y="1762125"/>
            <a:ext cx="6472238" cy="4314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9C72E67-91A0-48E9-ABD9-10CB8DC251BB}"/>
              </a:ext>
            </a:extLst>
          </p:cNvPr>
          <p:cNvSpPr>
            <a:spLocks xmlns:a="http://schemas.openxmlformats.org/drawingml/2006/main" noGrp="1"/>
          </p:cNvSpPr>
          <p:nvPr/>
        </p:nvSpPr>
        <p:spPr>
          <a:xfrm xmlns:a="http://schemas.openxmlformats.org/drawingml/2006/main">
            <a:off x="7210425" y="1590675"/>
            <a:ext cx="4371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Опыление</a:t>
            </a:r>
          </a:p>
        </p:txBody>
      </p:sp>
      <p:sp>
        <p:nvSpPr>
          <p:cNvPr id="5" name="">
            <a:extLst xmlns:a="http://schemas.openxmlformats.org/drawingml/2006/main">
              <a:ext uri="{FF2B5EF4-FFF2-40B4-BE49-F238E27FC236}">
                <a16:creationId xmlns:a16="http://schemas.microsoft.com/office/drawing/2014/main" id="{D3933B67-030F-434A-93F4-21E0B6360E79}"/>
              </a:ext>
            </a:extLst>
          </p:cNvPr>
          <p:cNvSpPr>
            <a:spLocks xmlns:a="http://schemas.openxmlformats.org/drawingml/2006/main" noGrp="1"/>
          </p:cNvSpPr>
          <p:nvPr/>
        </p:nvSpPr>
        <p:spPr>
          <a:xfrm xmlns:a="http://schemas.openxmlformats.org/drawingml/2006/main">
            <a:off x="7210425" y="2209800"/>
            <a:ext cx="43719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При питании у цветка пыльца</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попадает на шерсть.</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Следующий визит может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перенести её на другое дерево.</a:t>
            </a:r>
          </a:p>
        </p:txBody>
      </p:sp>
      <p:sp>
        <p:nvSpPr>
          <p:cNvPr id="6" name="">
            <a:extLst xmlns:a="http://schemas.openxmlformats.org/drawingml/2006/main">
              <a:ext uri="{FF2B5EF4-FFF2-40B4-BE49-F238E27FC236}">
                <a16:creationId xmlns:a16="http://schemas.microsoft.com/office/drawing/2014/main" id="{1D1857A1-A244-468C-A528-4028D768A2BE}"/>
              </a:ext>
            </a:extLst>
          </p:cNvPr>
          <p:cNvSpPr>
            <a:spLocks xmlns:a="http://schemas.openxmlformats.org/drawingml/2006/main" noGrp="1"/>
          </p:cNvSpPr>
          <p:nvPr/>
        </p:nvSpPr>
        <p:spPr>
          <a:xfrm xmlns:a="http://schemas.openxmlformats.org/drawingml/2006/main">
            <a:off x="7210425" y="4238625"/>
            <a:ext cx="4371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Защита</a:t>
            </a:r>
          </a:p>
        </p:txBody>
      </p:sp>
      <p:sp>
        <p:nvSpPr>
          <p:cNvPr id="7" name="">
            <a:extLst xmlns:a="http://schemas.openxmlformats.org/drawingml/2006/main">
              <a:ext uri="{FF2B5EF4-FFF2-40B4-BE49-F238E27FC236}">
                <a16:creationId xmlns:a16="http://schemas.microsoft.com/office/drawing/2014/main" id="{B4831198-AB8D-4051-9A76-1D389EC79CDA}"/>
              </a:ext>
            </a:extLst>
          </p:cNvPr>
          <p:cNvSpPr>
            <a:spLocks xmlns:a="http://schemas.openxmlformats.org/drawingml/2006/main" noGrp="1"/>
          </p:cNvSpPr>
          <p:nvPr/>
        </p:nvSpPr>
        <p:spPr>
          <a:xfrm xmlns:a="http://schemas.openxmlformats.org/drawingml/2006/main">
            <a:off x="7210425" y="4848225"/>
            <a:ext cx="43719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Поедание растительноядных</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насекомых может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уменьшить повреждения.</a:t>
            </a:r>
          </a:p>
        </p:txBody>
      </p:sp>
      <p:sp>
        <p:nvSpPr>
          <p:cNvPr id="8" name="">
            <a:extLst xmlns:a="http://schemas.openxmlformats.org/drawingml/2006/main">
              <a:ext uri="{FF2B5EF4-FFF2-40B4-BE49-F238E27FC236}">
                <a16:creationId xmlns:a16="http://schemas.microsoft.com/office/drawing/2014/main" id="{F21CF849-11E4-4041-ABB9-0878325AAC36}"/>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[7], [15]</a:t>
            </a:r>
          </a:p>
        </p:txBody>
      </p:sp>
    </p:spTree>
    <p:extLst>
      <p:ext uri="{BB962C8B-B14F-4D97-AF65-F5344CB8AC3E}">
        <p14:creationId xmlns:p14="http://schemas.microsoft.com/office/powerpoint/2010/main" val="118819465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63CACE-FD27-4EDE-8F74-498CB0BAABFF}"/>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Возможные изменения в экосистеме</a:t>
            </a:r>
          </a:p>
        </p:txBody>
      </p:sp>
      <p:sp>
        <p:nvSpPr>
          <p:cNvPr id="2" name="">
            <a:extLst xmlns:a="http://schemas.openxmlformats.org/drawingml/2006/main">
              <a:ext uri="{FF2B5EF4-FFF2-40B4-BE49-F238E27FC236}">
                <a16:creationId xmlns:a16="http://schemas.microsoft.com/office/drawing/2014/main" id="{BA6C24BC-E5AC-4461-AB13-6392EAF98E68}"/>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59CD1E9B-9A87-4704-A005-05D76B5914BC}"/>
              </a:ext>
            </a:extLst>
          </p:cNvPr>
          <p:cNvSpPr>
            <a:spLocks xmlns:a="http://schemas.openxmlformats.org/drawingml/2006/main" noGrp="1"/>
          </p:cNvSpPr>
          <p:nvPr/>
        </p:nvSpPr>
        <p:spPr>
          <a:xfrm xmlns:a="http://schemas.openxmlformats.org/drawingml/2006/main">
            <a:off x="609600" y="1590675"/>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Опыление</a:t>
            </a:r>
          </a:p>
        </p:txBody>
      </p:sp>
      <p:sp>
        <p:nvSpPr>
          <p:cNvPr id="4" name="">
            <a:extLst xmlns:a="http://schemas.openxmlformats.org/drawingml/2006/main">
              <a:ext uri="{FF2B5EF4-FFF2-40B4-BE49-F238E27FC236}">
                <a16:creationId xmlns:a16="http://schemas.microsoft.com/office/drawing/2014/main" id="{B289CAD8-A95A-4650-81D6-241C64B920B7}"/>
              </a:ext>
            </a:extLst>
          </p:cNvPr>
          <p:cNvSpPr>
            <a:spLocks xmlns:a="http://schemas.openxmlformats.org/drawingml/2006/main" noGrp="1"/>
          </p:cNvSpPr>
          <p:nvPr/>
        </p:nvSpPr>
        <p:spPr>
          <a:xfrm xmlns:a="http://schemas.openxmlformats.org/drawingml/2006/main">
            <a:off x="609600" y="2181225"/>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Меняются маршруты животных</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и перенос пыльцы между деревьями.</a:t>
            </a:r>
          </a:p>
        </p:txBody>
      </p:sp>
      <p:sp>
        <p:nvSpPr>
          <p:cNvPr id="5" name="">
            <a:extLst xmlns:a="http://schemas.openxmlformats.org/drawingml/2006/main">
              <a:ext uri="{FF2B5EF4-FFF2-40B4-BE49-F238E27FC236}">
                <a16:creationId xmlns:a16="http://schemas.microsoft.com/office/drawing/2014/main" id="{02E74886-DFB0-4043-80C8-3D7A3FDBC29B}"/>
              </a:ext>
            </a:extLst>
          </p:cNvPr>
          <p:cNvSpPr>
            <a:spLocks xmlns:a="http://schemas.openxmlformats.org/drawingml/2006/main" noGrp="1"/>
          </p:cNvSpPr>
          <p:nvPr/>
        </p:nvSpPr>
        <p:spPr>
          <a:xfrm xmlns:a="http://schemas.openxmlformats.org/drawingml/2006/main">
            <a:off x="6362700" y="1590675"/>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Конкуренция растений</a:t>
            </a:r>
          </a:p>
        </p:txBody>
      </p:sp>
      <p:sp>
        <p:nvSpPr>
          <p:cNvPr id="6" name="">
            <a:extLst xmlns:a="http://schemas.openxmlformats.org/drawingml/2006/main">
              <a:ext uri="{FF2B5EF4-FFF2-40B4-BE49-F238E27FC236}">
                <a16:creationId xmlns:a16="http://schemas.microsoft.com/office/drawing/2014/main" id="{F123D76C-5AD1-4C0F-B91E-029D978911B2}"/>
              </a:ext>
            </a:extLst>
          </p:cNvPr>
          <p:cNvSpPr>
            <a:spLocks xmlns:a="http://schemas.openxmlformats.org/drawingml/2006/main" noGrp="1"/>
          </p:cNvSpPr>
          <p:nvPr/>
        </p:nvSpPr>
        <p:spPr>
          <a:xfrm xmlns:a="http://schemas.openxmlformats.org/drawingml/2006/main">
            <a:off x="6362700" y="2181225"/>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За посетителей конкурируют</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наградой и различимым сигналом.</a:t>
            </a:r>
          </a:p>
        </p:txBody>
      </p:sp>
      <p:sp>
        <p:nvSpPr>
          <p:cNvPr id="7" name="">
            <a:extLst xmlns:a="http://schemas.openxmlformats.org/drawingml/2006/main">
              <a:ext uri="{FF2B5EF4-FFF2-40B4-BE49-F238E27FC236}">
                <a16:creationId xmlns:a16="http://schemas.microsoft.com/office/drawing/2014/main" id="{381E4B3C-CA29-44D4-AE36-24BE154428DB}"/>
              </a:ext>
            </a:extLst>
          </p:cNvPr>
          <p:cNvSpPr>
            <a:spLocks xmlns:a="http://schemas.openxmlformats.org/drawingml/2006/main" noGrp="1"/>
          </p:cNvSpPr>
          <p:nvPr/>
        </p:nvSpPr>
        <p:spPr>
          <a:xfrm xmlns:a="http://schemas.openxmlformats.org/drawingml/2006/main">
            <a:off x="609600" y="3924300"/>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Поведение животных</a:t>
            </a:r>
          </a:p>
        </p:txBody>
      </p:sp>
      <p:sp>
        <p:nvSpPr>
          <p:cNvPr id="8" name="">
            <a:extLst xmlns:a="http://schemas.openxmlformats.org/drawingml/2006/main">
              <a:ext uri="{FF2B5EF4-FFF2-40B4-BE49-F238E27FC236}">
                <a16:creationId xmlns:a16="http://schemas.microsoft.com/office/drawing/2014/main" id="{E45CED17-5D71-4AF3-A936-ECDCAAFE6157}"/>
              </a:ext>
            </a:extLst>
          </p:cNvPr>
          <p:cNvSpPr>
            <a:spLocks xmlns:a="http://schemas.openxmlformats.org/drawingml/2006/main" noGrp="1"/>
          </p:cNvSpPr>
          <p:nvPr/>
        </p:nvSpPr>
        <p:spPr>
          <a:xfrm xmlns:a="http://schemas.openxmlformats.org/drawingml/2006/main">
            <a:off x="609600" y="4514850"/>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Становится выгоднее учитывать</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сигналы при сборе кормовой группы.</a:t>
            </a:r>
          </a:p>
        </p:txBody>
      </p:sp>
      <p:sp>
        <p:nvSpPr>
          <p:cNvPr id="9" name="">
            <a:extLst xmlns:a="http://schemas.openxmlformats.org/drawingml/2006/main">
              <a:ext uri="{FF2B5EF4-FFF2-40B4-BE49-F238E27FC236}">
                <a16:creationId xmlns:a16="http://schemas.microsoft.com/office/drawing/2014/main" id="{8332CDAC-4B03-45C7-B8AF-BDC92424BD93}"/>
              </a:ext>
            </a:extLst>
          </p:cNvPr>
          <p:cNvSpPr>
            <a:spLocks xmlns:a="http://schemas.openxmlformats.org/drawingml/2006/main" noGrp="1"/>
          </p:cNvSpPr>
          <p:nvPr/>
        </p:nvSpPr>
        <p:spPr>
          <a:xfrm xmlns:a="http://schemas.openxmlformats.org/drawingml/2006/main">
            <a:off x="6362700" y="3924300"/>
            <a:ext cx="521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Подслушивание</a:t>
            </a:r>
          </a:p>
        </p:txBody>
      </p:sp>
      <p:sp>
        <p:nvSpPr>
          <p:cNvPr id="10" name="">
            <a:extLst xmlns:a="http://schemas.openxmlformats.org/drawingml/2006/main">
              <a:ext uri="{FF2B5EF4-FFF2-40B4-BE49-F238E27FC236}">
                <a16:creationId xmlns:a16="http://schemas.microsoft.com/office/drawing/2014/main" id="{279D82EE-12CC-468D-A0C7-A765A0754050}"/>
              </a:ext>
            </a:extLst>
          </p:cNvPr>
          <p:cNvSpPr>
            <a:spLocks xmlns:a="http://schemas.openxmlformats.org/drawingml/2006/main" noGrp="1"/>
          </p:cNvSpPr>
          <p:nvPr/>
        </p:nvSpPr>
        <p:spPr>
          <a:xfrm xmlns:a="http://schemas.openxmlformats.org/drawingml/2006/main">
            <a:off x="6362700" y="4514850"/>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Пищу могут находить конкуренты;</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хищники — самих посетителей.</a:t>
            </a:r>
          </a:p>
        </p:txBody>
      </p:sp>
    </p:spTree>
    <p:extLst>
      <p:ext uri="{BB962C8B-B14F-4D97-AF65-F5344CB8AC3E}">
        <p14:creationId xmlns:p14="http://schemas.microsoft.com/office/powerpoint/2010/main" val="109601079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8E6F5BDE-3BF4-4298-A19F-AFD1AC0D0076}"/>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Источники 1/2</a:t>
            </a:r>
          </a:p>
        </p:txBody>
      </p:sp>
      <p:sp>
        <p:nvSpPr>
          <p:cNvPr id="2" name="">
            <a:extLst xmlns:a="http://schemas.openxmlformats.org/drawingml/2006/main">
              <a:ext uri="{FF2B5EF4-FFF2-40B4-BE49-F238E27FC236}">
                <a16:creationId xmlns:a16="http://schemas.microsoft.com/office/drawing/2014/main" id="{E033C62C-6E95-4EA4-96E6-667FB925B5DB}"/>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179ABAE0-5AD8-40F0-AF4B-89ACA3D42637}"/>
              </a:ext>
            </a:extLst>
          </p:cNvPr>
          <p:cNvSpPr>
            <a:spLocks xmlns:a="http://schemas.openxmlformats.org/drawingml/2006/main" noGrp="1"/>
          </p:cNvSpPr>
          <p:nvPr/>
        </p:nvSpPr>
        <p:spPr>
          <a:xfrm xmlns:a="http://schemas.openxmlformats.org/drawingml/2006/main">
            <a:off x="609600" y="13525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7924C2A7-B087-49F3-8A86-67E36E7DB3A9}"/>
              </a:ext>
            </a:extLst>
          </p:cNvPr>
          <p:cNvSpPr>
            <a:spLocks xmlns:a="http://schemas.openxmlformats.org/drawingml/2006/main" noGrp="1"/>
          </p:cNvSpPr>
          <p:nvPr/>
        </p:nvSpPr>
        <p:spPr>
          <a:xfrm xmlns:a="http://schemas.openxmlformats.org/drawingml/2006/main">
            <a:off x="1114425" y="13525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van Tussenbroek et al., 2016</a:t>
            </a:r>
          </a:p>
        </p:txBody>
      </p:sp>
      <p:sp>
        <p:nvSpPr>
          <p:cNvPr id="5" name="">
            <a:extLst xmlns:a="http://schemas.openxmlformats.org/drawingml/2006/main">
              <a:ext uri="{FF2B5EF4-FFF2-40B4-BE49-F238E27FC236}">
                <a16:creationId xmlns:a16="http://schemas.microsoft.com/office/drawing/2014/main" id="{256B4258-B846-431F-B209-5975348670D0}"/>
              </a:ext>
            </a:extLst>
          </p:cNvPr>
          <p:cNvSpPr>
            <a:spLocks xmlns:a="http://schemas.openxmlformats.org/drawingml/2006/main" noGrp="1"/>
          </p:cNvSpPr>
          <p:nvPr/>
        </p:nvSpPr>
        <p:spPr>
          <a:xfrm xmlns:a="http://schemas.openxmlformats.org/drawingml/2006/main">
            <a:off x="1114425" y="16192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Опыление морских цветков беспозвоночными. </a:t>
            </a:r>
            <a:r>
              <a:rPr sz="1200" b="0">
                <a:solidFill>
                  <a:srgbClr val="263B31"/>
                </a:solidFill>
                <a:latin typeface="Arial"/>
                <a:ea typeface="Arial"/>
                <a:cs typeface="Arial"/>
                <a:hlinkClick xmlns:r="http://schemas.openxmlformats.org/officeDocument/2006/relationships" r:id="Reaa34760a8844016"/>
              </a:rPr>
              <a:t>DOI: 10.1038/ncomms12980</a:t>
            </a:r>
          </a:p>
        </p:txBody>
      </p:sp>
      <p:sp>
        <p:nvSpPr>
          <p:cNvPr id="6" name="">
            <a:extLst xmlns:a="http://schemas.openxmlformats.org/drawingml/2006/main">
              <a:ext uri="{FF2B5EF4-FFF2-40B4-BE49-F238E27FC236}">
                <a16:creationId xmlns:a16="http://schemas.microsoft.com/office/drawing/2014/main" id="{7880BC4D-2304-4717-87D4-DC6283B43D15}"/>
              </a:ext>
            </a:extLst>
          </p:cNvPr>
          <p:cNvSpPr>
            <a:spLocks xmlns:a="http://schemas.openxmlformats.org/drawingml/2006/main" noGrp="1"/>
          </p:cNvSpPr>
          <p:nvPr/>
        </p:nvSpPr>
        <p:spPr>
          <a:xfrm xmlns:a="http://schemas.openxmlformats.org/drawingml/2006/main">
            <a:off x="609600" y="20574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BD5FB002-C22F-4089-9C28-DDD2BAE3E0BA}"/>
              </a:ext>
            </a:extLst>
          </p:cNvPr>
          <p:cNvSpPr>
            <a:spLocks xmlns:a="http://schemas.openxmlformats.org/drawingml/2006/main" noGrp="1"/>
          </p:cNvSpPr>
          <p:nvPr/>
        </p:nvSpPr>
        <p:spPr>
          <a:xfrm xmlns:a="http://schemas.openxmlformats.org/drawingml/2006/main">
            <a:off x="1114425" y="20574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Forterre et al., 2005</a:t>
            </a:r>
          </a:p>
        </p:txBody>
      </p:sp>
      <p:sp>
        <p:nvSpPr>
          <p:cNvPr id="8" name="">
            <a:extLst xmlns:a="http://schemas.openxmlformats.org/drawingml/2006/main">
              <a:ext uri="{FF2B5EF4-FFF2-40B4-BE49-F238E27FC236}">
                <a16:creationId xmlns:a16="http://schemas.microsoft.com/office/drawing/2014/main" id="{20E1A51E-CCA7-4CDD-9F0D-CC2F1A8B8F51}"/>
              </a:ext>
            </a:extLst>
          </p:cNvPr>
          <p:cNvSpPr>
            <a:spLocks xmlns:a="http://schemas.openxmlformats.org/drawingml/2006/main" noGrp="1"/>
          </p:cNvSpPr>
          <p:nvPr/>
        </p:nvSpPr>
        <p:spPr>
          <a:xfrm xmlns:a="http://schemas.openxmlformats.org/drawingml/2006/main">
            <a:off x="1114425" y="23241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Упругое захлопывание мухоловки. </a:t>
            </a:r>
            <a:r>
              <a:rPr sz="1200" b="0">
                <a:solidFill>
                  <a:srgbClr val="263B31"/>
                </a:solidFill>
                <a:latin typeface="Arial"/>
                <a:ea typeface="Arial"/>
                <a:cs typeface="Arial"/>
                <a:hlinkClick xmlns:r="http://schemas.openxmlformats.org/officeDocument/2006/relationships" r:id="R09699056314c451d"/>
              </a:rPr>
              <a:t>DOI: 10.1038/nature03185</a:t>
            </a:r>
          </a:p>
        </p:txBody>
      </p:sp>
      <p:sp>
        <p:nvSpPr>
          <p:cNvPr id="9" name="">
            <a:extLst xmlns:a="http://schemas.openxmlformats.org/drawingml/2006/main">
              <a:ext uri="{FF2B5EF4-FFF2-40B4-BE49-F238E27FC236}">
                <a16:creationId xmlns:a16="http://schemas.microsoft.com/office/drawing/2014/main" id="{C48F447E-58AB-4CF8-B8A1-C553BD018B54}"/>
              </a:ext>
            </a:extLst>
          </p:cNvPr>
          <p:cNvSpPr>
            <a:spLocks xmlns:a="http://schemas.openxmlformats.org/drawingml/2006/main" noGrp="1"/>
          </p:cNvSpPr>
          <p:nvPr/>
        </p:nvSpPr>
        <p:spPr>
          <a:xfrm xmlns:a="http://schemas.openxmlformats.org/drawingml/2006/main">
            <a:off x="609600" y="27622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C91EEFD-ECF1-466C-ACD6-080C36F59421}"/>
              </a:ext>
            </a:extLst>
          </p:cNvPr>
          <p:cNvSpPr>
            <a:spLocks xmlns:a="http://schemas.openxmlformats.org/drawingml/2006/main" noGrp="1"/>
          </p:cNvSpPr>
          <p:nvPr/>
        </p:nvSpPr>
        <p:spPr>
          <a:xfrm xmlns:a="http://schemas.openxmlformats.org/drawingml/2006/main">
            <a:off x="1114425" y="27622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Fleurat-Lessard et al., 1997</a:t>
            </a:r>
          </a:p>
        </p:txBody>
      </p:sp>
      <p:sp>
        <p:nvSpPr>
          <p:cNvPr id="11" name="">
            <a:extLst xmlns:a="http://schemas.openxmlformats.org/drawingml/2006/main">
              <a:ext uri="{FF2B5EF4-FFF2-40B4-BE49-F238E27FC236}">
                <a16:creationId xmlns:a16="http://schemas.microsoft.com/office/drawing/2014/main" id="{879B0D6B-84CB-4ED0-B789-87BF6669AB9A}"/>
              </a:ext>
            </a:extLst>
          </p:cNvPr>
          <p:cNvSpPr>
            <a:spLocks xmlns:a="http://schemas.openxmlformats.org/drawingml/2006/main" noGrp="1"/>
          </p:cNvSpPr>
          <p:nvPr/>
        </p:nvSpPr>
        <p:spPr>
          <a:xfrm xmlns:a="http://schemas.openxmlformats.org/drawingml/2006/main">
            <a:off x="1114425" y="30289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H⁺-АТФаза двигательных клеток мимозы. </a:t>
            </a:r>
            <a:r>
              <a:rPr sz="1200" b="0">
                <a:solidFill>
                  <a:srgbClr val="263B31"/>
                </a:solidFill>
                <a:latin typeface="Arial"/>
                <a:ea typeface="Arial"/>
                <a:cs typeface="Arial"/>
                <a:hlinkClick xmlns:r="http://schemas.openxmlformats.org/officeDocument/2006/relationships" r:id="Rc7b9aa7a23b44c33"/>
              </a:rPr>
              <a:t>DOI: 10.1104/pp.113.3.747</a:t>
            </a:r>
          </a:p>
        </p:txBody>
      </p:sp>
      <p:sp>
        <p:nvSpPr>
          <p:cNvPr id="12" name="">
            <a:extLst xmlns:a="http://schemas.openxmlformats.org/drawingml/2006/main">
              <a:ext uri="{FF2B5EF4-FFF2-40B4-BE49-F238E27FC236}">
                <a16:creationId xmlns:a16="http://schemas.microsoft.com/office/drawing/2014/main" id="{32E2CF86-1D4D-4EC7-B53C-74EB09049BDE}"/>
              </a:ext>
            </a:extLst>
          </p:cNvPr>
          <p:cNvSpPr>
            <a:spLocks xmlns:a="http://schemas.openxmlformats.org/drawingml/2006/main" noGrp="1"/>
          </p:cNvSpPr>
          <p:nvPr/>
        </p:nvSpPr>
        <p:spPr>
          <a:xfrm xmlns:a="http://schemas.openxmlformats.org/drawingml/2006/main">
            <a:off x="609600" y="34671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79A96ED4-5A25-4FD8-BE69-A786322BCF26}"/>
              </a:ext>
            </a:extLst>
          </p:cNvPr>
          <p:cNvSpPr>
            <a:spLocks xmlns:a="http://schemas.openxmlformats.org/drawingml/2006/main" noGrp="1"/>
          </p:cNvSpPr>
          <p:nvPr/>
        </p:nvSpPr>
        <p:spPr>
          <a:xfrm xmlns:a="http://schemas.openxmlformats.org/drawingml/2006/main">
            <a:off x="1114425" y="34671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Bennet-Clark &amp; Daws, 1999</a:t>
            </a:r>
          </a:p>
        </p:txBody>
      </p:sp>
      <p:sp>
        <p:nvSpPr>
          <p:cNvPr id="14" name="">
            <a:extLst xmlns:a="http://schemas.openxmlformats.org/drawingml/2006/main">
              <a:ext uri="{FF2B5EF4-FFF2-40B4-BE49-F238E27FC236}">
                <a16:creationId xmlns:a16="http://schemas.microsoft.com/office/drawing/2014/main" id="{122284D6-C487-4A80-B8A9-D800F88FC621}"/>
              </a:ext>
            </a:extLst>
          </p:cNvPr>
          <p:cNvSpPr>
            <a:spLocks xmlns:a="http://schemas.openxmlformats.org/drawingml/2006/main" noGrp="1"/>
          </p:cNvSpPr>
          <p:nvPr/>
        </p:nvSpPr>
        <p:spPr>
          <a:xfrm xmlns:a="http://schemas.openxmlformats.org/drawingml/2006/main">
            <a:off x="1114425" y="37338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Преобразование энергии в звук у цикады. </a:t>
            </a:r>
            <a:r>
              <a:rPr sz="1200" b="0">
                <a:solidFill>
                  <a:srgbClr val="263B31"/>
                </a:solidFill>
                <a:latin typeface="Arial"/>
                <a:ea typeface="Arial"/>
                <a:cs typeface="Arial"/>
                <a:hlinkClick xmlns:r="http://schemas.openxmlformats.org/officeDocument/2006/relationships" r:id="R164cc9f8c4ad4b8d"/>
              </a:rPr>
              <a:t>DOI: 10.1242/jeb.202.13.1803</a:t>
            </a:r>
          </a:p>
        </p:txBody>
      </p:sp>
      <p:sp>
        <p:nvSpPr>
          <p:cNvPr id="15" name="">
            <a:extLst xmlns:a="http://schemas.openxmlformats.org/drawingml/2006/main">
              <a:ext uri="{FF2B5EF4-FFF2-40B4-BE49-F238E27FC236}">
                <a16:creationId xmlns:a16="http://schemas.microsoft.com/office/drawing/2014/main" id="{D895C8D6-B747-4777-9F01-3B6BA9F63BB7}"/>
              </a:ext>
            </a:extLst>
          </p:cNvPr>
          <p:cNvSpPr>
            <a:spLocks xmlns:a="http://schemas.openxmlformats.org/drawingml/2006/main" noGrp="1"/>
          </p:cNvSpPr>
          <p:nvPr/>
        </p:nvSpPr>
        <p:spPr>
          <a:xfrm xmlns:a="http://schemas.openxmlformats.org/drawingml/2006/main">
            <a:off x="609600" y="41719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A88253A1-D450-4F1D-8EBE-D54A4E326009}"/>
              </a:ext>
            </a:extLst>
          </p:cNvPr>
          <p:cNvSpPr>
            <a:spLocks xmlns:a="http://schemas.openxmlformats.org/drawingml/2006/main" noGrp="1"/>
          </p:cNvSpPr>
          <p:nvPr/>
        </p:nvSpPr>
        <p:spPr>
          <a:xfrm xmlns:a="http://schemas.openxmlformats.org/drawingml/2006/main">
            <a:off x="1114425" y="41719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Koay et al., 2002</a:t>
            </a:r>
          </a:p>
        </p:txBody>
      </p:sp>
      <p:sp>
        <p:nvSpPr>
          <p:cNvPr id="17" name="">
            <a:extLst xmlns:a="http://schemas.openxmlformats.org/drawingml/2006/main">
              <a:ext uri="{FF2B5EF4-FFF2-40B4-BE49-F238E27FC236}">
                <a16:creationId xmlns:a16="http://schemas.microsoft.com/office/drawing/2014/main" id="{D2001D80-1764-4D6B-9491-7BA702B03B69}"/>
              </a:ext>
            </a:extLst>
          </p:cNvPr>
          <p:cNvSpPr>
            <a:spLocks xmlns:a="http://schemas.openxmlformats.org/drawingml/2006/main" noGrp="1"/>
          </p:cNvSpPr>
          <p:nvPr/>
        </p:nvSpPr>
        <p:spPr>
          <a:xfrm xmlns:a="http://schemas.openxmlformats.org/drawingml/2006/main">
            <a:off x="1114425" y="44386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Слух Phyllostomus hastatus. </a:t>
            </a:r>
            <a:r>
              <a:rPr sz="1200" b="0">
                <a:solidFill>
                  <a:srgbClr val="263B31"/>
                </a:solidFill>
                <a:latin typeface="Arial"/>
                <a:ea typeface="Arial"/>
                <a:cs typeface="Arial"/>
                <a:hlinkClick xmlns:r="http://schemas.openxmlformats.org/officeDocument/2006/relationships" r:id="R44466d926a3e4475"/>
              </a:rPr>
              <a:t>DOI: 10.1016/S0378-5955(02)00458-6</a:t>
            </a:r>
          </a:p>
        </p:txBody>
      </p:sp>
      <p:sp>
        <p:nvSpPr>
          <p:cNvPr id="18" name="">
            <a:extLst xmlns:a="http://schemas.openxmlformats.org/drawingml/2006/main">
              <a:ext uri="{FF2B5EF4-FFF2-40B4-BE49-F238E27FC236}">
                <a16:creationId xmlns:a16="http://schemas.microsoft.com/office/drawing/2014/main" id="{FBE22403-CEA2-4AD6-A27C-77333F455502}"/>
              </a:ext>
            </a:extLst>
          </p:cNvPr>
          <p:cNvSpPr>
            <a:spLocks xmlns:a="http://schemas.openxmlformats.org/drawingml/2006/main" noGrp="1"/>
          </p:cNvSpPr>
          <p:nvPr/>
        </p:nvSpPr>
        <p:spPr>
          <a:xfrm xmlns:a="http://schemas.openxmlformats.org/drawingml/2006/main">
            <a:off x="609600" y="48768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[6]</a:t>
            </a:r>
          </a:p>
        </p:txBody>
      </p:sp>
      <p:sp>
        <p:nvSpPr>
          <p:cNvPr id="19" name="">
            <a:extLst xmlns:a="http://schemas.openxmlformats.org/drawingml/2006/main">
              <a:ext uri="{FF2B5EF4-FFF2-40B4-BE49-F238E27FC236}">
                <a16:creationId xmlns:a16="http://schemas.microsoft.com/office/drawing/2014/main" id="{121D8F42-7EE8-43AE-90F2-032F06C5A3D9}"/>
              </a:ext>
            </a:extLst>
          </p:cNvPr>
          <p:cNvSpPr>
            <a:spLocks xmlns:a="http://schemas.openxmlformats.org/drawingml/2006/main" noGrp="1"/>
          </p:cNvSpPr>
          <p:nvPr/>
        </p:nvSpPr>
        <p:spPr>
          <a:xfrm xmlns:a="http://schemas.openxmlformats.org/drawingml/2006/main">
            <a:off x="1114425" y="48768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Wilkinson &amp; Boughman, 1998</a:t>
            </a:r>
          </a:p>
        </p:txBody>
      </p:sp>
      <p:sp>
        <p:nvSpPr>
          <p:cNvPr id="20" name="">
            <a:extLst xmlns:a="http://schemas.openxmlformats.org/drawingml/2006/main">
              <a:ext uri="{FF2B5EF4-FFF2-40B4-BE49-F238E27FC236}">
                <a16:creationId xmlns:a16="http://schemas.microsoft.com/office/drawing/2014/main" id="{DA3C7275-7B5D-47ED-916A-58A7CCF5EFF7}"/>
              </a:ext>
            </a:extLst>
          </p:cNvPr>
          <p:cNvSpPr>
            <a:spLocks xmlns:a="http://schemas.openxmlformats.org/drawingml/2006/main" noGrp="1"/>
          </p:cNvSpPr>
          <p:nvPr/>
        </p:nvSpPr>
        <p:spPr>
          <a:xfrm xmlns:a="http://schemas.openxmlformats.org/drawingml/2006/main">
            <a:off x="1114425" y="51435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Социальные сигналы и поиск пищи. </a:t>
            </a:r>
            <a:r>
              <a:rPr sz="1200" b="0">
                <a:solidFill>
                  <a:srgbClr val="263B31"/>
                </a:solidFill>
                <a:latin typeface="Arial"/>
                <a:ea typeface="Arial"/>
                <a:cs typeface="Arial"/>
                <a:hlinkClick xmlns:r="http://schemas.openxmlformats.org/officeDocument/2006/relationships" r:id="R94610ea7fc9c4296"/>
              </a:rPr>
              <a:t>DOI: 10.1006/anbe.1997.0557</a:t>
            </a:r>
          </a:p>
        </p:txBody>
      </p:sp>
      <p:sp>
        <p:nvSpPr>
          <p:cNvPr id="21" name="">
            <a:extLst xmlns:a="http://schemas.openxmlformats.org/drawingml/2006/main">
              <a:ext uri="{FF2B5EF4-FFF2-40B4-BE49-F238E27FC236}">
                <a16:creationId xmlns:a16="http://schemas.microsoft.com/office/drawing/2014/main" id="{3C5096CD-F3A7-414B-9BA2-09EDF4BC494A}"/>
              </a:ext>
            </a:extLst>
          </p:cNvPr>
          <p:cNvSpPr>
            <a:spLocks xmlns:a="http://schemas.openxmlformats.org/drawingml/2006/main" noGrp="1"/>
          </p:cNvSpPr>
          <p:nvPr/>
        </p:nvSpPr>
        <p:spPr>
          <a:xfrm xmlns:a="http://schemas.openxmlformats.org/drawingml/2006/main">
            <a:off x="609600" y="55816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[7]</a:t>
            </a:r>
          </a:p>
        </p:txBody>
      </p:sp>
      <p:sp>
        <p:nvSpPr>
          <p:cNvPr id="22" name="">
            <a:extLst xmlns:a="http://schemas.openxmlformats.org/drawingml/2006/main">
              <a:ext uri="{FF2B5EF4-FFF2-40B4-BE49-F238E27FC236}">
                <a16:creationId xmlns:a16="http://schemas.microsoft.com/office/drawing/2014/main" id="{0A861F4B-B646-4E30-AA4A-73A61417EB3B}"/>
              </a:ext>
            </a:extLst>
          </p:cNvPr>
          <p:cNvSpPr>
            <a:spLocks xmlns:a="http://schemas.openxmlformats.org/drawingml/2006/main" noGrp="1"/>
          </p:cNvSpPr>
          <p:nvPr/>
        </p:nvSpPr>
        <p:spPr>
          <a:xfrm xmlns:a="http://schemas.openxmlformats.org/drawingml/2006/main">
            <a:off x="1114425" y="55816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Kays et al., 2012</a:t>
            </a:r>
          </a:p>
        </p:txBody>
      </p:sp>
      <p:sp>
        <p:nvSpPr>
          <p:cNvPr id="23" name="">
            <a:extLst xmlns:a="http://schemas.openxmlformats.org/drawingml/2006/main">
              <a:ext uri="{FF2B5EF4-FFF2-40B4-BE49-F238E27FC236}">
                <a16:creationId xmlns:a16="http://schemas.microsoft.com/office/drawing/2014/main" id="{EDD65F6F-7ECE-437C-BE91-44C79CFDDAB8}"/>
              </a:ext>
            </a:extLst>
          </p:cNvPr>
          <p:cNvSpPr>
            <a:spLocks xmlns:a="http://schemas.openxmlformats.org/drawingml/2006/main" noGrp="1"/>
          </p:cNvSpPr>
          <p:nvPr/>
        </p:nvSpPr>
        <p:spPr>
          <a:xfrm xmlns:a="http://schemas.openxmlformats.org/drawingml/2006/main">
            <a:off x="1114425" y="58483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Посещение и опыление цветков бальсы. </a:t>
            </a:r>
            <a:r>
              <a:rPr sz="1200" b="0">
                <a:solidFill>
                  <a:srgbClr val="263B31"/>
                </a:solidFill>
                <a:latin typeface="Arial"/>
                <a:ea typeface="Arial"/>
                <a:cs typeface="Arial"/>
                <a:hlinkClick xmlns:r="http://schemas.openxmlformats.org/officeDocument/2006/relationships" r:id="Rfe96fb3a9c1a41cb"/>
              </a:rPr>
              <a:t>research.si.edu</a:t>
            </a:r>
          </a:p>
        </p:txBody>
      </p:sp>
      <p:sp>
        <p:nvSpPr>
          <p:cNvPr id="24" name="">
            <a:extLst xmlns:a="http://schemas.openxmlformats.org/drawingml/2006/main">
              <a:ext uri="{FF2B5EF4-FFF2-40B4-BE49-F238E27FC236}">
                <a16:creationId xmlns:a16="http://schemas.microsoft.com/office/drawing/2014/main" id="{BECE20A5-E8BA-4E50-BEEB-4A65725049AC}"/>
              </a:ext>
            </a:extLst>
          </p:cNvPr>
          <p:cNvSpPr>
            <a:spLocks xmlns:a="http://schemas.openxmlformats.org/drawingml/2006/main" noGrp="1"/>
          </p:cNvSpPr>
          <p:nvPr/>
        </p:nvSpPr>
        <p:spPr>
          <a:xfrm xmlns:a="http://schemas.openxmlformats.org/drawingml/2006/main">
            <a:off x="6324600" y="13525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[8]</a:t>
            </a:r>
          </a:p>
        </p:txBody>
      </p:sp>
      <p:sp>
        <p:nvSpPr>
          <p:cNvPr id="25" name="">
            <a:extLst xmlns:a="http://schemas.openxmlformats.org/drawingml/2006/main">
              <a:ext uri="{FF2B5EF4-FFF2-40B4-BE49-F238E27FC236}">
                <a16:creationId xmlns:a16="http://schemas.microsoft.com/office/drawing/2014/main" id="{9D1A809C-C5A3-4BD1-A82F-E1B64BB65570}"/>
              </a:ext>
            </a:extLst>
          </p:cNvPr>
          <p:cNvSpPr>
            <a:spLocks xmlns:a="http://schemas.openxmlformats.org/drawingml/2006/main" noGrp="1"/>
          </p:cNvSpPr>
          <p:nvPr/>
        </p:nvSpPr>
        <p:spPr>
          <a:xfrm xmlns:a="http://schemas.openxmlformats.org/drawingml/2006/main">
            <a:off x="6829425" y="13525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Calderón-Capote et al., 2025</a:t>
            </a:r>
          </a:p>
        </p:txBody>
      </p:sp>
      <p:sp>
        <p:nvSpPr>
          <p:cNvPr id="26" name="">
            <a:extLst xmlns:a="http://schemas.openxmlformats.org/drawingml/2006/main">
              <a:ext uri="{FF2B5EF4-FFF2-40B4-BE49-F238E27FC236}">
                <a16:creationId xmlns:a16="http://schemas.microsoft.com/office/drawing/2014/main" id="{A7E68E48-8596-4C2B-B91E-22F192E8707E}"/>
              </a:ext>
            </a:extLst>
          </p:cNvPr>
          <p:cNvSpPr>
            <a:spLocks xmlns:a="http://schemas.openxmlformats.org/drawingml/2006/main" noGrp="1"/>
          </p:cNvSpPr>
          <p:nvPr/>
        </p:nvSpPr>
        <p:spPr>
          <a:xfrm xmlns:a="http://schemas.openxmlformats.org/drawingml/2006/main">
            <a:off x="6829425" y="16192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Социальная структура и кормление. </a:t>
            </a:r>
            <a:r>
              <a:rPr sz="1200" b="0">
                <a:solidFill>
                  <a:srgbClr val="263B31"/>
                </a:solidFill>
                <a:latin typeface="Arial"/>
                <a:ea typeface="Arial"/>
                <a:cs typeface="Arial"/>
                <a:hlinkClick xmlns:r="http://schemas.openxmlformats.org/officeDocument/2006/relationships" r:id="R9ff33993efe94698"/>
              </a:rPr>
              <a:t>DOI: 10.1371/journal.pone.0313782</a:t>
            </a:r>
          </a:p>
        </p:txBody>
      </p:sp>
      <p:sp>
        <p:nvSpPr>
          <p:cNvPr id="27" name="">
            <a:extLst xmlns:a="http://schemas.openxmlformats.org/drawingml/2006/main">
              <a:ext uri="{FF2B5EF4-FFF2-40B4-BE49-F238E27FC236}">
                <a16:creationId xmlns:a16="http://schemas.microsoft.com/office/drawing/2014/main" id="{09D721D9-D571-4470-B810-4A35448AB69A}"/>
              </a:ext>
            </a:extLst>
          </p:cNvPr>
          <p:cNvSpPr>
            <a:spLocks xmlns:a="http://schemas.openxmlformats.org/drawingml/2006/main" noGrp="1"/>
          </p:cNvSpPr>
          <p:nvPr/>
        </p:nvSpPr>
        <p:spPr>
          <a:xfrm xmlns:a="http://schemas.openxmlformats.org/drawingml/2006/main">
            <a:off x="6324600" y="20574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[9]</a:t>
            </a:r>
          </a:p>
        </p:txBody>
      </p:sp>
      <p:sp>
        <p:nvSpPr>
          <p:cNvPr id="28" name="">
            <a:extLst xmlns:a="http://schemas.openxmlformats.org/drawingml/2006/main">
              <a:ext uri="{FF2B5EF4-FFF2-40B4-BE49-F238E27FC236}">
                <a16:creationId xmlns:a16="http://schemas.microsoft.com/office/drawing/2014/main" id="{558034D1-780B-4FA7-B4F5-BACED9603DAD}"/>
              </a:ext>
            </a:extLst>
          </p:cNvPr>
          <p:cNvSpPr>
            <a:spLocks xmlns:a="http://schemas.openxmlformats.org/drawingml/2006/main" noGrp="1"/>
          </p:cNvSpPr>
          <p:nvPr/>
        </p:nvSpPr>
        <p:spPr>
          <a:xfrm xmlns:a="http://schemas.openxmlformats.org/drawingml/2006/main">
            <a:off x="6829425" y="20574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Amthor et al., 1994</a:t>
            </a:r>
          </a:p>
        </p:txBody>
      </p:sp>
      <p:sp>
        <p:nvSpPr>
          <p:cNvPr id="29" name="">
            <a:extLst xmlns:a="http://schemas.openxmlformats.org/drawingml/2006/main">
              <a:ext uri="{FF2B5EF4-FFF2-40B4-BE49-F238E27FC236}">
                <a16:creationId xmlns:a16="http://schemas.microsoft.com/office/drawing/2014/main" id="{734C5F66-85D1-4B14-B38B-A08C10053876}"/>
              </a:ext>
            </a:extLst>
          </p:cNvPr>
          <p:cNvSpPr>
            <a:spLocks xmlns:a="http://schemas.openxmlformats.org/drawingml/2006/main" noGrp="1"/>
          </p:cNvSpPr>
          <p:nvPr/>
        </p:nvSpPr>
        <p:spPr>
          <a:xfrm xmlns:a="http://schemas.openxmlformats.org/drawingml/2006/main">
            <a:off x="6829425" y="23241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Стоимость построения растительных тканей. </a:t>
            </a:r>
            <a:r>
              <a:rPr sz="1200" b="0">
                <a:solidFill>
                  <a:srgbClr val="263B31"/>
                </a:solidFill>
                <a:latin typeface="Arial"/>
                <a:ea typeface="Arial"/>
                <a:cs typeface="Arial"/>
                <a:hlinkClick xmlns:r="http://schemas.openxmlformats.org/officeDocument/2006/relationships" r:id="Rf4dd8a50ed9b486c"/>
              </a:rPr>
              <a:t>DOI: 10.1111/j.1469-8137.1994.tb02990.x</a:t>
            </a:r>
          </a:p>
        </p:txBody>
      </p:sp>
      <p:sp>
        <p:nvSpPr>
          <p:cNvPr id="30" name="">
            <a:extLst xmlns:a="http://schemas.openxmlformats.org/drawingml/2006/main">
              <a:ext uri="{FF2B5EF4-FFF2-40B4-BE49-F238E27FC236}">
                <a16:creationId xmlns:a16="http://schemas.microsoft.com/office/drawing/2014/main" id="{0D6B6BD6-2696-4C96-8CE3-A8EE7E8F983B}"/>
              </a:ext>
            </a:extLst>
          </p:cNvPr>
          <p:cNvSpPr>
            <a:spLocks xmlns:a="http://schemas.openxmlformats.org/drawingml/2006/main" noGrp="1"/>
          </p:cNvSpPr>
          <p:nvPr/>
        </p:nvSpPr>
        <p:spPr>
          <a:xfrm xmlns:a="http://schemas.openxmlformats.org/drawingml/2006/main">
            <a:off x="6324600" y="27622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[10]</a:t>
            </a:r>
          </a:p>
        </p:txBody>
      </p:sp>
      <p:sp>
        <p:nvSpPr>
          <p:cNvPr id="31" name="">
            <a:extLst xmlns:a="http://schemas.openxmlformats.org/drawingml/2006/main">
              <a:ext uri="{FF2B5EF4-FFF2-40B4-BE49-F238E27FC236}">
                <a16:creationId xmlns:a16="http://schemas.microsoft.com/office/drawing/2014/main" id="{5FFE67E6-8124-4C7B-810F-3BAB5958C452}"/>
              </a:ext>
            </a:extLst>
          </p:cNvPr>
          <p:cNvSpPr>
            <a:spLocks xmlns:a="http://schemas.openxmlformats.org/drawingml/2006/main" noGrp="1"/>
          </p:cNvSpPr>
          <p:nvPr/>
        </p:nvSpPr>
        <p:spPr>
          <a:xfrm xmlns:a="http://schemas.openxmlformats.org/drawingml/2006/main">
            <a:off x="6829425" y="27622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Penning de Vries, 1975</a:t>
            </a:r>
          </a:p>
        </p:txBody>
      </p:sp>
      <p:sp>
        <p:nvSpPr>
          <p:cNvPr id="32" name="">
            <a:extLst xmlns:a="http://schemas.openxmlformats.org/drawingml/2006/main">
              <a:ext uri="{FF2B5EF4-FFF2-40B4-BE49-F238E27FC236}">
                <a16:creationId xmlns:a16="http://schemas.microsoft.com/office/drawing/2014/main" id="{76F593A2-B7C4-4BF5-AAF2-020A3D662FFA}"/>
              </a:ext>
            </a:extLst>
          </p:cNvPr>
          <p:cNvSpPr>
            <a:spLocks xmlns:a="http://schemas.openxmlformats.org/drawingml/2006/main" noGrp="1"/>
          </p:cNvSpPr>
          <p:nvPr/>
        </p:nvSpPr>
        <p:spPr>
          <a:xfrm xmlns:a="http://schemas.openxmlformats.org/drawingml/2006/main">
            <a:off x="6829425" y="30289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Затраты на поддержание живых клеток. </a:t>
            </a:r>
            <a:r>
              <a:rPr sz="1200" b="0">
                <a:solidFill>
                  <a:srgbClr val="263B31"/>
                </a:solidFill>
                <a:latin typeface="Arial"/>
                <a:ea typeface="Arial"/>
                <a:cs typeface="Arial"/>
                <a:hlinkClick xmlns:r="http://schemas.openxmlformats.org/officeDocument/2006/relationships" r:id="R50956beb307245e5"/>
              </a:rPr>
              <a:t>DOI: 10.1093/oxfordjournals.aob.a084919</a:t>
            </a:r>
          </a:p>
        </p:txBody>
      </p:sp>
      <p:sp>
        <p:nvSpPr>
          <p:cNvPr id="33" name="">
            <a:extLst xmlns:a="http://schemas.openxmlformats.org/drawingml/2006/main">
              <a:ext uri="{FF2B5EF4-FFF2-40B4-BE49-F238E27FC236}">
                <a16:creationId xmlns:a16="http://schemas.microsoft.com/office/drawing/2014/main" id="{CDD15A80-8D3C-4EF7-BEB8-0416CA9FCD62}"/>
              </a:ext>
            </a:extLst>
          </p:cNvPr>
          <p:cNvSpPr>
            <a:spLocks xmlns:a="http://schemas.openxmlformats.org/drawingml/2006/main" noGrp="1"/>
          </p:cNvSpPr>
          <p:nvPr/>
        </p:nvSpPr>
        <p:spPr>
          <a:xfrm xmlns:a="http://schemas.openxmlformats.org/drawingml/2006/main">
            <a:off x="6324600" y="34671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[11]</a:t>
            </a:r>
          </a:p>
        </p:txBody>
      </p:sp>
      <p:sp>
        <p:nvSpPr>
          <p:cNvPr id="34" name="">
            <a:extLst xmlns:a="http://schemas.openxmlformats.org/drawingml/2006/main">
              <a:ext uri="{FF2B5EF4-FFF2-40B4-BE49-F238E27FC236}">
                <a16:creationId xmlns:a16="http://schemas.microsoft.com/office/drawing/2014/main" id="{76628BD4-3549-4777-A9C8-70C89F728F6E}"/>
              </a:ext>
            </a:extLst>
          </p:cNvPr>
          <p:cNvSpPr>
            <a:spLocks xmlns:a="http://schemas.openxmlformats.org/drawingml/2006/main" noGrp="1"/>
          </p:cNvSpPr>
          <p:nvPr/>
        </p:nvSpPr>
        <p:spPr>
          <a:xfrm xmlns:a="http://schemas.openxmlformats.org/drawingml/2006/main">
            <a:off x="6829425" y="34671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OpenStax, University Physics, т. 1</a:t>
            </a:r>
          </a:p>
        </p:txBody>
      </p:sp>
      <p:sp>
        <p:nvSpPr>
          <p:cNvPr id="35" name="">
            <a:extLst xmlns:a="http://schemas.openxmlformats.org/drawingml/2006/main">
              <a:ext uri="{FF2B5EF4-FFF2-40B4-BE49-F238E27FC236}">
                <a16:creationId xmlns:a16="http://schemas.microsoft.com/office/drawing/2014/main" id="{7B20D23B-0DE8-459F-8D2F-1E6B964157E0}"/>
              </a:ext>
            </a:extLst>
          </p:cNvPr>
          <p:cNvSpPr>
            <a:spLocks xmlns:a="http://schemas.openxmlformats.org/drawingml/2006/main" noGrp="1"/>
          </p:cNvSpPr>
          <p:nvPr/>
        </p:nvSpPr>
        <p:spPr>
          <a:xfrm xmlns:a="http://schemas.openxmlformats.org/drawingml/2006/main">
            <a:off x="6829425" y="37338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Интенсивность звука и децибелы. </a:t>
            </a:r>
            <a:r>
              <a:rPr sz="1200" b="0">
                <a:solidFill>
                  <a:srgbClr val="263B31"/>
                </a:solidFill>
                <a:latin typeface="Arial"/>
                <a:ea typeface="Arial"/>
                <a:cs typeface="Arial"/>
                <a:hlinkClick xmlns:r="http://schemas.openxmlformats.org/officeDocument/2006/relationships" r:id="R0cc82529ea684768"/>
              </a:rPr>
              <a:t>openstax.org</a:t>
            </a:r>
          </a:p>
        </p:txBody>
      </p:sp>
      <p:sp>
        <p:nvSpPr>
          <p:cNvPr id="36" name="">
            <a:extLst xmlns:a="http://schemas.openxmlformats.org/drawingml/2006/main">
              <a:ext uri="{FF2B5EF4-FFF2-40B4-BE49-F238E27FC236}">
                <a16:creationId xmlns:a16="http://schemas.microsoft.com/office/drawing/2014/main" id="{EA80CC72-C818-4035-8F72-C14147B9E47F}"/>
              </a:ext>
            </a:extLst>
          </p:cNvPr>
          <p:cNvSpPr>
            <a:spLocks xmlns:a="http://schemas.openxmlformats.org/drawingml/2006/main" noGrp="1"/>
          </p:cNvSpPr>
          <p:nvPr/>
        </p:nvSpPr>
        <p:spPr>
          <a:xfrm xmlns:a="http://schemas.openxmlformats.org/drawingml/2006/main">
            <a:off x="6324600" y="41719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[12]</a:t>
            </a:r>
          </a:p>
        </p:txBody>
      </p:sp>
      <p:sp>
        <p:nvSpPr>
          <p:cNvPr id="37" name="">
            <a:extLst xmlns:a="http://schemas.openxmlformats.org/drawingml/2006/main">
              <a:ext uri="{FF2B5EF4-FFF2-40B4-BE49-F238E27FC236}">
                <a16:creationId xmlns:a16="http://schemas.microsoft.com/office/drawing/2014/main" id="{F3A0F509-BD7E-42BF-B565-F56616542407}"/>
              </a:ext>
            </a:extLst>
          </p:cNvPr>
          <p:cNvSpPr>
            <a:spLocks xmlns:a="http://schemas.openxmlformats.org/drawingml/2006/main" noGrp="1"/>
          </p:cNvSpPr>
          <p:nvPr/>
        </p:nvSpPr>
        <p:spPr>
          <a:xfrm xmlns:a="http://schemas.openxmlformats.org/drawingml/2006/main">
            <a:off x="6829425" y="41719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NIST Chemistry WebBook</a:t>
            </a:r>
          </a:p>
        </p:txBody>
      </p:sp>
      <p:sp>
        <p:nvSpPr>
          <p:cNvPr id="38" name="">
            <a:extLst xmlns:a="http://schemas.openxmlformats.org/drawingml/2006/main">
              <a:ext uri="{FF2B5EF4-FFF2-40B4-BE49-F238E27FC236}">
                <a16:creationId xmlns:a16="http://schemas.microsoft.com/office/drawing/2014/main" id="{9668F7F4-D1D1-45D5-8597-FC2B7AA0E93B}"/>
              </a:ext>
            </a:extLst>
          </p:cNvPr>
          <p:cNvSpPr>
            <a:spLocks xmlns:a="http://schemas.openxmlformats.org/drawingml/2006/main" noGrp="1"/>
          </p:cNvSpPr>
          <p:nvPr/>
        </p:nvSpPr>
        <p:spPr>
          <a:xfrm xmlns:a="http://schemas.openxmlformats.org/drawingml/2006/main">
            <a:off x="6829425" y="44386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Теплота сгорания глюкозы. </a:t>
            </a:r>
            <a:r>
              <a:rPr sz="1200" b="0">
                <a:solidFill>
                  <a:srgbClr val="263B31"/>
                </a:solidFill>
                <a:latin typeface="Arial"/>
                <a:ea typeface="Arial"/>
                <a:cs typeface="Arial"/>
                <a:hlinkClick xmlns:r="http://schemas.openxmlformats.org/officeDocument/2006/relationships" r:id="R31b13060020e4f77"/>
              </a:rPr>
              <a:t>webbook.nist.gov</a:t>
            </a:r>
          </a:p>
        </p:txBody>
      </p:sp>
      <p:sp>
        <p:nvSpPr>
          <p:cNvPr id="39" name="">
            <a:extLst xmlns:a="http://schemas.openxmlformats.org/drawingml/2006/main">
              <a:ext uri="{FF2B5EF4-FFF2-40B4-BE49-F238E27FC236}">
                <a16:creationId xmlns:a16="http://schemas.microsoft.com/office/drawing/2014/main" id="{F9FB3865-F70A-4DEE-8D4A-A1455AE3B3E8}"/>
              </a:ext>
            </a:extLst>
          </p:cNvPr>
          <p:cNvSpPr>
            <a:spLocks xmlns:a="http://schemas.openxmlformats.org/drawingml/2006/main" noGrp="1"/>
          </p:cNvSpPr>
          <p:nvPr/>
        </p:nvSpPr>
        <p:spPr>
          <a:xfrm xmlns:a="http://schemas.openxmlformats.org/drawingml/2006/main">
            <a:off x="6324600" y="48768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[13]</a:t>
            </a:r>
          </a:p>
        </p:txBody>
      </p:sp>
      <p:sp>
        <p:nvSpPr>
          <p:cNvPr id="40" name="">
            <a:extLst xmlns:a="http://schemas.openxmlformats.org/drawingml/2006/main">
              <a:ext uri="{FF2B5EF4-FFF2-40B4-BE49-F238E27FC236}">
                <a16:creationId xmlns:a16="http://schemas.microsoft.com/office/drawing/2014/main" id="{9FD8C581-1A36-439C-AC5E-AAEBEC75FBF8}"/>
              </a:ext>
            </a:extLst>
          </p:cNvPr>
          <p:cNvSpPr>
            <a:spLocks xmlns:a="http://schemas.openxmlformats.org/drawingml/2006/main" noGrp="1"/>
          </p:cNvSpPr>
          <p:nvPr/>
        </p:nvSpPr>
        <p:spPr>
          <a:xfrm xmlns:a="http://schemas.openxmlformats.org/drawingml/2006/main">
            <a:off x="6829425" y="48768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NOAA, National Ocean Service</a:t>
            </a:r>
          </a:p>
        </p:txBody>
      </p:sp>
      <p:sp>
        <p:nvSpPr>
          <p:cNvPr id="41" name="">
            <a:extLst xmlns:a="http://schemas.openxmlformats.org/drawingml/2006/main">
              <a:ext uri="{FF2B5EF4-FFF2-40B4-BE49-F238E27FC236}">
                <a16:creationId xmlns:a16="http://schemas.microsoft.com/office/drawing/2014/main" id="{BAF2EE0A-6847-4F52-AA4C-EE086D662047}"/>
              </a:ext>
            </a:extLst>
          </p:cNvPr>
          <p:cNvSpPr>
            <a:spLocks xmlns:a="http://schemas.openxmlformats.org/drawingml/2006/main" noGrp="1"/>
          </p:cNvSpPr>
          <p:nvPr/>
        </p:nvSpPr>
        <p:spPr>
          <a:xfrm xmlns:a="http://schemas.openxmlformats.org/drawingml/2006/main">
            <a:off x="6829425" y="51435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Распространение звука в океане. </a:t>
            </a:r>
            <a:r>
              <a:rPr sz="1200" b="0">
                <a:solidFill>
                  <a:srgbClr val="263B31"/>
                </a:solidFill>
                <a:latin typeface="Arial"/>
                <a:ea typeface="Arial"/>
                <a:cs typeface="Arial"/>
                <a:hlinkClick xmlns:r="http://schemas.openxmlformats.org/officeDocument/2006/relationships" r:id="R3b174d5a4d3148eb"/>
              </a:rPr>
              <a:t>oceanservice.noaa.gov</a:t>
            </a:r>
          </a:p>
        </p:txBody>
      </p:sp>
    </p:spTree>
    <p:extLst>
      <p:ext uri="{BB962C8B-B14F-4D97-AF65-F5344CB8AC3E}">
        <p14:creationId xmlns:p14="http://schemas.microsoft.com/office/powerpoint/2010/main" val="53552644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460F2ED-F8D5-4A1C-9E49-EFFC4B3F535D}"/>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Источники 2/2</a:t>
            </a:r>
          </a:p>
        </p:txBody>
      </p:sp>
      <p:sp>
        <p:nvSpPr>
          <p:cNvPr id="2" name="">
            <a:extLst xmlns:a="http://schemas.openxmlformats.org/drawingml/2006/main">
              <a:ext uri="{FF2B5EF4-FFF2-40B4-BE49-F238E27FC236}">
                <a16:creationId xmlns:a16="http://schemas.microsoft.com/office/drawing/2014/main" id="{2398A3E4-7818-4915-A616-E983B9A46E99}"/>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26</a:t>
            </a:r>
          </a:p>
        </p:txBody>
      </p:sp>
      <p:sp>
        <p:nvSpPr>
          <p:cNvPr id="3" name="">
            <a:extLst xmlns:a="http://schemas.openxmlformats.org/drawingml/2006/main">
              <a:ext uri="{FF2B5EF4-FFF2-40B4-BE49-F238E27FC236}">
                <a16:creationId xmlns:a16="http://schemas.microsoft.com/office/drawing/2014/main" id="{D0A7DF2C-2F98-43D4-9867-BC05EC085930}"/>
              </a:ext>
            </a:extLst>
          </p:cNvPr>
          <p:cNvSpPr>
            <a:spLocks xmlns:a="http://schemas.openxmlformats.org/drawingml/2006/main" noGrp="1"/>
          </p:cNvSpPr>
          <p:nvPr/>
        </p:nvSpPr>
        <p:spPr>
          <a:xfrm xmlns:a="http://schemas.openxmlformats.org/drawingml/2006/main">
            <a:off x="609600" y="13525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16E2C18D-3ADE-4173-936B-D595452AF4F6}"/>
              </a:ext>
            </a:extLst>
          </p:cNvPr>
          <p:cNvSpPr>
            <a:spLocks xmlns:a="http://schemas.openxmlformats.org/drawingml/2006/main" noGrp="1"/>
          </p:cNvSpPr>
          <p:nvPr/>
        </p:nvSpPr>
        <p:spPr>
          <a:xfrm xmlns:a="http://schemas.openxmlformats.org/drawingml/2006/main">
            <a:off x="1114425" y="13525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Leissa, 1969</a:t>
            </a:r>
          </a:p>
        </p:txBody>
      </p:sp>
      <p:sp>
        <p:nvSpPr>
          <p:cNvPr id="5" name="">
            <a:extLst xmlns:a="http://schemas.openxmlformats.org/drawingml/2006/main">
              <a:ext uri="{FF2B5EF4-FFF2-40B4-BE49-F238E27FC236}">
                <a16:creationId xmlns:a16="http://schemas.microsoft.com/office/drawing/2014/main" id="{EC5D293E-50ED-4BCD-9A00-31F37C2996A8}"/>
              </a:ext>
            </a:extLst>
          </p:cNvPr>
          <p:cNvSpPr>
            <a:spLocks xmlns:a="http://schemas.openxmlformats.org/drawingml/2006/main" noGrp="1"/>
          </p:cNvSpPr>
          <p:nvPr/>
        </p:nvSpPr>
        <p:spPr>
          <a:xfrm xmlns:a="http://schemas.openxmlformats.org/drawingml/2006/main">
            <a:off x="1114425" y="16192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Частоты колебаний пластинок. NASA SP-160. </a:t>
            </a:r>
            <a:r>
              <a:rPr sz="1200" b="0">
                <a:solidFill>
                  <a:srgbClr val="263B31"/>
                </a:solidFill>
                <a:latin typeface="Arial"/>
                <a:ea typeface="Arial"/>
                <a:cs typeface="Arial"/>
                <a:hlinkClick xmlns:r="http://schemas.openxmlformats.org/officeDocument/2006/relationships" r:id="Rb152a866110d4721"/>
              </a:rPr>
              <a:t>ntrs.nasa.gov</a:t>
            </a:r>
          </a:p>
        </p:txBody>
      </p:sp>
      <p:sp>
        <p:nvSpPr>
          <p:cNvPr id="6" name="">
            <a:extLst xmlns:a="http://schemas.openxmlformats.org/drawingml/2006/main">
              <a:ext uri="{FF2B5EF4-FFF2-40B4-BE49-F238E27FC236}">
                <a16:creationId xmlns:a16="http://schemas.microsoft.com/office/drawing/2014/main" id="{E628C340-9EB7-4908-8FA4-CEA4B9F0D3A8}"/>
              </a:ext>
            </a:extLst>
          </p:cNvPr>
          <p:cNvSpPr>
            <a:spLocks xmlns:a="http://schemas.openxmlformats.org/drawingml/2006/main" noGrp="1"/>
          </p:cNvSpPr>
          <p:nvPr/>
        </p:nvSpPr>
        <p:spPr>
          <a:xfrm xmlns:a="http://schemas.openxmlformats.org/drawingml/2006/main">
            <a:off x="609600" y="20574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1436C151-A6ED-4072-9E15-4E5EC3DAA749}"/>
              </a:ext>
            </a:extLst>
          </p:cNvPr>
          <p:cNvSpPr>
            <a:spLocks xmlns:a="http://schemas.openxmlformats.org/drawingml/2006/main" noGrp="1"/>
          </p:cNvSpPr>
          <p:nvPr/>
        </p:nvSpPr>
        <p:spPr>
          <a:xfrm xmlns:a="http://schemas.openxmlformats.org/drawingml/2006/main">
            <a:off x="1114425" y="20574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Aguirre et al., 2003</a:t>
            </a:r>
          </a:p>
        </p:txBody>
      </p:sp>
      <p:sp>
        <p:nvSpPr>
          <p:cNvPr id="8" name="">
            <a:extLst xmlns:a="http://schemas.openxmlformats.org/drawingml/2006/main">
              <a:ext uri="{FF2B5EF4-FFF2-40B4-BE49-F238E27FC236}">
                <a16:creationId xmlns:a16="http://schemas.microsoft.com/office/drawing/2014/main" id="{99A08C8B-5CD1-4E94-94E7-4F62B6AC6D43}"/>
              </a:ext>
            </a:extLst>
          </p:cNvPr>
          <p:cNvSpPr>
            <a:spLocks xmlns:a="http://schemas.openxmlformats.org/drawingml/2006/main" noGrp="1"/>
          </p:cNvSpPr>
          <p:nvPr/>
        </p:nvSpPr>
        <p:spPr>
          <a:xfrm xmlns:a="http://schemas.openxmlformats.org/drawingml/2006/main">
            <a:off x="1114425" y="23241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Твёрдость пищи и рацион летучих мышей. </a:t>
            </a:r>
            <a:r>
              <a:rPr sz="1200" b="0">
                <a:solidFill>
                  <a:srgbClr val="263B31"/>
                </a:solidFill>
                <a:latin typeface="Arial"/>
                <a:ea typeface="Arial"/>
                <a:cs typeface="Arial"/>
                <a:hlinkClick xmlns:r="http://schemas.openxmlformats.org/officeDocument/2006/relationships" r:id="R17754de6b40844ad"/>
              </a:rPr>
              <a:t>DOI: 10.1046/j.1365-2435.2003.00721.x</a:t>
            </a:r>
          </a:p>
        </p:txBody>
      </p:sp>
      <p:sp>
        <p:nvSpPr>
          <p:cNvPr id="9" name="">
            <a:extLst xmlns:a="http://schemas.openxmlformats.org/drawingml/2006/main">
              <a:ext uri="{FF2B5EF4-FFF2-40B4-BE49-F238E27FC236}">
                <a16:creationId xmlns:a16="http://schemas.microsoft.com/office/drawing/2014/main" id="{3E41A29B-8597-45DB-BC71-9ECA2BD56AAE}"/>
              </a:ext>
            </a:extLst>
          </p:cNvPr>
          <p:cNvSpPr>
            <a:spLocks xmlns:a="http://schemas.openxmlformats.org/drawingml/2006/main" noGrp="1"/>
          </p:cNvSpPr>
          <p:nvPr/>
        </p:nvSpPr>
        <p:spPr>
          <a:xfrm xmlns:a="http://schemas.openxmlformats.org/drawingml/2006/main">
            <a:off x="609600" y="27622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[16]</a:t>
            </a:r>
          </a:p>
        </p:txBody>
      </p:sp>
      <p:sp>
        <p:nvSpPr>
          <p:cNvPr id="10" name="">
            <a:extLst xmlns:a="http://schemas.openxmlformats.org/drawingml/2006/main">
              <a:ext uri="{FF2B5EF4-FFF2-40B4-BE49-F238E27FC236}">
                <a16:creationId xmlns:a16="http://schemas.microsoft.com/office/drawing/2014/main" id="{A71560D0-72D2-498A-AB7D-5EEA08730C7A}"/>
              </a:ext>
            </a:extLst>
          </p:cNvPr>
          <p:cNvSpPr>
            <a:spLocks xmlns:a="http://schemas.openxmlformats.org/drawingml/2006/main" noGrp="1"/>
          </p:cNvSpPr>
          <p:nvPr/>
        </p:nvSpPr>
        <p:spPr>
          <a:xfrm xmlns:a="http://schemas.openxmlformats.org/drawingml/2006/main">
            <a:off x="1114425" y="27622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Goerlitz, 2018</a:t>
            </a:r>
          </a:p>
        </p:txBody>
      </p:sp>
      <p:sp>
        <p:nvSpPr>
          <p:cNvPr id="11" name="">
            <a:extLst xmlns:a="http://schemas.openxmlformats.org/drawingml/2006/main">
              <a:ext uri="{FF2B5EF4-FFF2-40B4-BE49-F238E27FC236}">
                <a16:creationId xmlns:a16="http://schemas.microsoft.com/office/drawing/2014/main" id="{28ADEF79-0871-4C9B-92F9-8CF92E7CA7C6}"/>
              </a:ext>
            </a:extLst>
          </p:cNvPr>
          <p:cNvSpPr>
            <a:spLocks xmlns:a="http://schemas.openxmlformats.org/drawingml/2006/main" noGrp="1"/>
          </p:cNvSpPr>
          <p:nvPr/>
        </p:nvSpPr>
        <p:spPr>
          <a:xfrm xmlns:a="http://schemas.openxmlformats.org/drawingml/2006/main">
            <a:off x="1114425" y="30289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Влияние погоды на затухание звука. </a:t>
            </a:r>
            <a:r>
              <a:rPr sz="1200" b="0">
                <a:solidFill>
                  <a:srgbClr val="263B31"/>
                </a:solidFill>
                <a:latin typeface="Arial"/>
                <a:ea typeface="Arial"/>
                <a:cs typeface="Arial"/>
                <a:hlinkClick xmlns:r="http://schemas.openxmlformats.org/officeDocument/2006/relationships" r:id="R66387482bfba4e21"/>
              </a:rPr>
              <a:t>DOI: 10.1002/ece3.4088</a:t>
            </a:r>
          </a:p>
        </p:txBody>
      </p:sp>
      <p:sp>
        <p:nvSpPr>
          <p:cNvPr id="12" name="">
            <a:extLst xmlns:a="http://schemas.openxmlformats.org/drawingml/2006/main">
              <a:ext uri="{FF2B5EF4-FFF2-40B4-BE49-F238E27FC236}">
                <a16:creationId xmlns:a16="http://schemas.microsoft.com/office/drawing/2014/main" id="{3EBB60E7-776C-4FAE-9677-3E400B7C5E8F}"/>
              </a:ext>
            </a:extLst>
          </p:cNvPr>
          <p:cNvSpPr>
            <a:spLocks xmlns:a="http://schemas.openxmlformats.org/drawingml/2006/main" noGrp="1"/>
          </p:cNvSpPr>
          <p:nvPr/>
        </p:nvSpPr>
        <p:spPr>
          <a:xfrm xmlns:a="http://schemas.openxmlformats.org/drawingml/2006/main">
            <a:off x="609600" y="34671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[17]</a:t>
            </a:r>
          </a:p>
        </p:txBody>
      </p:sp>
      <p:sp>
        <p:nvSpPr>
          <p:cNvPr id="13" name="">
            <a:extLst xmlns:a="http://schemas.openxmlformats.org/drawingml/2006/main">
              <a:ext uri="{FF2B5EF4-FFF2-40B4-BE49-F238E27FC236}">
                <a16:creationId xmlns:a16="http://schemas.microsoft.com/office/drawing/2014/main" id="{C37BEA76-2CB3-46D9-B62B-0DAA5895DE84}"/>
              </a:ext>
            </a:extLst>
          </p:cNvPr>
          <p:cNvSpPr>
            <a:spLocks xmlns:a="http://schemas.openxmlformats.org/drawingml/2006/main" noGrp="1"/>
          </p:cNvSpPr>
          <p:nvPr/>
        </p:nvSpPr>
        <p:spPr>
          <a:xfrm xmlns:a="http://schemas.openxmlformats.org/drawingml/2006/main">
            <a:off x="1114425" y="34671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Squicciarini et al., 2014</a:t>
            </a:r>
          </a:p>
        </p:txBody>
      </p:sp>
      <p:sp>
        <p:nvSpPr>
          <p:cNvPr id="14" name="">
            <a:extLst xmlns:a="http://schemas.openxmlformats.org/drawingml/2006/main">
              <a:ext uri="{FF2B5EF4-FFF2-40B4-BE49-F238E27FC236}">
                <a16:creationId xmlns:a16="http://schemas.microsoft.com/office/drawing/2014/main" id="{FA7C9A6E-557C-4757-87F0-C339490EAF9E}"/>
              </a:ext>
            </a:extLst>
          </p:cNvPr>
          <p:cNvSpPr>
            <a:spLocks xmlns:a="http://schemas.openxmlformats.org/drawingml/2006/main" noGrp="1"/>
          </p:cNvSpPr>
          <p:nvPr/>
        </p:nvSpPr>
        <p:spPr>
          <a:xfrm xmlns:a="http://schemas.openxmlformats.org/drawingml/2006/main">
            <a:off x="1114425" y="37338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Коэффициент излучения пластин. </a:t>
            </a:r>
            <a:r>
              <a:rPr sz="1200" b="0">
                <a:solidFill>
                  <a:srgbClr val="263B31"/>
                </a:solidFill>
                <a:latin typeface="Arial"/>
                <a:ea typeface="Arial"/>
                <a:cs typeface="Arial"/>
                <a:hlinkClick xmlns:r="http://schemas.openxmlformats.org/officeDocument/2006/relationships" r:id="R8137cf920caf4ed5"/>
              </a:rPr>
              <a:t>DOI: 10.1016/j.jsv.2014.04.022</a:t>
            </a:r>
          </a:p>
        </p:txBody>
      </p:sp>
      <p:sp>
        <p:nvSpPr>
          <p:cNvPr id="15" name="">
            <a:extLst xmlns:a="http://schemas.openxmlformats.org/drawingml/2006/main">
              <a:ext uri="{FF2B5EF4-FFF2-40B4-BE49-F238E27FC236}">
                <a16:creationId xmlns:a16="http://schemas.microsoft.com/office/drawing/2014/main" id="{6240BEEC-A65F-447A-A621-88B5754DF384}"/>
              </a:ext>
            </a:extLst>
          </p:cNvPr>
          <p:cNvSpPr>
            <a:spLocks xmlns:a="http://schemas.openxmlformats.org/drawingml/2006/main" noGrp="1"/>
          </p:cNvSpPr>
          <p:nvPr/>
        </p:nvSpPr>
        <p:spPr>
          <a:xfrm xmlns:a="http://schemas.openxmlformats.org/drawingml/2006/main">
            <a:off x="609600" y="41719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[18]</a:t>
            </a:r>
          </a:p>
        </p:txBody>
      </p:sp>
      <p:sp>
        <p:nvSpPr>
          <p:cNvPr id="16" name="">
            <a:extLst xmlns:a="http://schemas.openxmlformats.org/drawingml/2006/main">
              <a:ext uri="{FF2B5EF4-FFF2-40B4-BE49-F238E27FC236}">
                <a16:creationId xmlns:a16="http://schemas.microsoft.com/office/drawing/2014/main" id="{FEED7544-6055-4249-8ACA-C9247E9F14D1}"/>
              </a:ext>
            </a:extLst>
          </p:cNvPr>
          <p:cNvSpPr>
            <a:spLocks xmlns:a="http://schemas.openxmlformats.org/drawingml/2006/main" noGrp="1"/>
          </p:cNvSpPr>
          <p:nvPr/>
        </p:nvSpPr>
        <p:spPr>
          <a:xfrm xmlns:a="http://schemas.openxmlformats.org/drawingml/2006/main">
            <a:off x="1114425" y="41719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Weber et al., 2015</a:t>
            </a:r>
          </a:p>
        </p:txBody>
      </p:sp>
      <p:sp>
        <p:nvSpPr>
          <p:cNvPr id="17" name="">
            <a:extLst xmlns:a="http://schemas.openxmlformats.org/drawingml/2006/main">
              <a:ext uri="{FF2B5EF4-FFF2-40B4-BE49-F238E27FC236}">
                <a16:creationId xmlns:a16="http://schemas.microsoft.com/office/drawing/2014/main" id="{B649864E-64EA-4DB1-930A-4E5EE6064233}"/>
              </a:ext>
            </a:extLst>
          </p:cNvPr>
          <p:cNvSpPr>
            <a:spLocks xmlns:a="http://schemas.openxmlformats.org/drawingml/2006/main" noGrp="1"/>
          </p:cNvSpPr>
          <p:nvPr/>
        </p:nvSpPr>
        <p:spPr>
          <a:xfrm xmlns:a="http://schemas.openxmlformats.org/drawingml/2006/main">
            <a:off x="1114425" y="44386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Тургор и механические свойства клеток. </a:t>
            </a:r>
            <a:r>
              <a:rPr sz="1200" b="0">
                <a:solidFill>
                  <a:srgbClr val="263B31"/>
                </a:solidFill>
                <a:latin typeface="Arial"/>
                <a:ea typeface="Arial"/>
                <a:cs typeface="Arial"/>
                <a:hlinkClick xmlns:r="http://schemas.openxmlformats.org/officeDocument/2006/relationships" r:id="Rddb11a8b71cf49e3"/>
              </a:rPr>
              <a:t>DOI: 10.1093/jxb/erv135</a:t>
            </a:r>
          </a:p>
        </p:txBody>
      </p:sp>
      <p:sp>
        <p:nvSpPr>
          <p:cNvPr id="18" name="">
            <a:extLst xmlns:a="http://schemas.openxmlformats.org/drawingml/2006/main">
              <a:ext uri="{FF2B5EF4-FFF2-40B4-BE49-F238E27FC236}">
                <a16:creationId xmlns:a16="http://schemas.microsoft.com/office/drawing/2014/main" id="{75FF24F3-186E-480F-87EE-43998257ECB6}"/>
              </a:ext>
            </a:extLst>
          </p:cNvPr>
          <p:cNvSpPr>
            <a:spLocks xmlns:a="http://schemas.openxmlformats.org/drawingml/2006/main" noGrp="1"/>
          </p:cNvSpPr>
          <p:nvPr/>
        </p:nvSpPr>
        <p:spPr>
          <a:xfrm xmlns:a="http://schemas.openxmlformats.org/drawingml/2006/main">
            <a:off x="609600" y="48768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[19]</a:t>
            </a:r>
          </a:p>
        </p:txBody>
      </p:sp>
      <p:sp>
        <p:nvSpPr>
          <p:cNvPr id="19" name="">
            <a:extLst xmlns:a="http://schemas.openxmlformats.org/drawingml/2006/main">
              <a:ext uri="{FF2B5EF4-FFF2-40B4-BE49-F238E27FC236}">
                <a16:creationId xmlns:a16="http://schemas.microsoft.com/office/drawing/2014/main" id="{736F8918-1F77-47DD-81CA-7DBD7BBCBEE0}"/>
              </a:ext>
            </a:extLst>
          </p:cNvPr>
          <p:cNvSpPr>
            <a:spLocks xmlns:a="http://schemas.openxmlformats.org/drawingml/2006/main" noGrp="1"/>
          </p:cNvSpPr>
          <p:nvPr/>
        </p:nvSpPr>
        <p:spPr>
          <a:xfrm xmlns:a="http://schemas.openxmlformats.org/drawingml/2006/main">
            <a:off x="1114425" y="48768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Moshelion et al., 2002</a:t>
            </a:r>
          </a:p>
        </p:txBody>
      </p:sp>
      <p:sp>
        <p:nvSpPr>
          <p:cNvPr id="20" name="">
            <a:extLst xmlns:a="http://schemas.openxmlformats.org/drawingml/2006/main">
              <a:ext uri="{FF2B5EF4-FFF2-40B4-BE49-F238E27FC236}">
                <a16:creationId xmlns:a16="http://schemas.microsoft.com/office/drawing/2014/main" id="{BCA53235-270E-48FC-89F1-829685E65C26}"/>
              </a:ext>
            </a:extLst>
          </p:cNvPr>
          <p:cNvSpPr>
            <a:spLocks xmlns:a="http://schemas.openxmlformats.org/drawingml/2006/main" noGrp="1"/>
          </p:cNvSpPr>
          <p:nvPr/>
        </p:nvSpPr>
        <p:spPr>
          <a:xfrm xmlns:a="http://schemas.openxmlformats.org/drawingml/2006/main">
            <a:off x="1114425" y="51435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Аквапорины двигательных клеток Samanea. </a:t>
            </a:r>
            <a:r>
              <a:rPr sz="1200" b="0">
                <a:solidFill>
                  <a:srgbClr val="263B31"/>
                </a:solidFill>
                <a:latin typeface="Arial"/>
                <a:ea typeface="Arial"/>
                <a:cs typeface="Arial"/>
                <a:hlinkClick xmlns:r="http://schemas.openxmlformats.org/officeDocument/2006/relationships" r:id="Rd1770ba7c1854914"/>
              </a:rPr>
              <a:t>DOI: 10.1105/tpc.010351</a:t>
            </a:r>
          </a:p>
        </p:txBody>
      </p:sp>
      <p:sp>
        <p:nvSpPr>
          <p:cNvPr id="21" name="">
            <a:extLst xmlns:a="http://schemas.openxmlformats.org/drawingml/2006/main">
              <a:ext uri="{FF2B5EF4-FFF2-40B4-BE49-F238E27FC236}">
                <a16:creationId xmlns:a16="http://schemas.microsoft.com/office/drawing/2014/main" id="{04D6B2C2-07E9-4383-9F10-27DF96AC82E7}"/>
              </a:ext>
            </a:extLst>
          </p:cNvPr>
          <p:cNvSpPr>
            <a:spLocks xmlns:a="http://schemas.openxmlformats.org/drawingml/2006/main" noGrp="1"/>
          </p:cNvSpPr>
          <p:nvPr/>
        </p:nvSpPr>
        <p:spPr>
          <a:xfrm xmlns:a="http://schemas.openxmlformats.org/drawingml/2006/main">
            <a:off x="609600" y="55816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[20]</a:t>
            </a:r>
          </a:p>
        </p:txBody>
      </p:sp>
      <p:sp>
        <p:nvSpPr>
          <p:cNvPr id="22" name="">
            <a:extLst xmlns:a="http://schemas.openxmlformats.org/drawingml/2006/main">
              <a:ext uri="{FF2B5EF4-FFF2-40B4-BE49-F238E27FC236}">
                <a16:creationId xmlns:a16="http://schemas.microsoft.com/office/drawing/2014/main" id="{124BED74-4D80-4EBD-AF95-6DD5FB9E84F7}"/>
              </a:ext>
            </a:extLst>
          </p:cNvPr>
          <p:cNvSpPr>
            <a:spLocks xmlns:a="http://schemas.openxmlformats.org/drawingml/2006/main" noGrp="1"/>
          </p:cNvSpPr>
          <p:nvPr/>
        </p:nvSpPr>
        <p:spPr>
          <a:xfrm xmlns:a="http://schemas.openxmlformats.org/drawingml/2006/main">
            <a:off x="1114425" y="55816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Fleurat-Lessard et al., 1997</a:t>
            </a:r>
          </a:p>
        </p:txBody>
      </p:sp>
      <p:sp>
        <p:nvSpPr>
          <p:cNvPr id="23" name="">
            <a:extLst xmlns:a="http://schemas.openxmlformats.org/drawingml/2006/main">
              <a:ext uri="{FF2B5EF4-FFF2-40B4-BE49-F238E27FC236}">
                <a16:creationId xmlns:a16="http://schemas.microsoft.com/office/drawing/2014/main" id="{6F537543-AF64-45D0-BB31-CFFFA6186B3F}"/>
              </a:ext>
            </a:extLst>
          </p:cNvPr>
          <p:cNvSpPr>
            <a:spLocks xmlns:a="http://schemas.openxmlformats.org/drawingml/2006/main" noGrp="1"/>
          </p:cNvSpPr>
          <p:nvPr/>
        </p:nvSpPr>
        <p:spPr>
          <a:xfrm xmlns:a="http://schemas.openxmlformats.org/drawingml/2006/main">
            <a:off x="1114425" y="58483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Аквапорины вакуолей двигательных клеток. </a:t>
            </a:r>
            <a:r>
              <a:rPr sz="1200" b="0">
                <a:solidFill>
                  <a:srgbClr val="263B31"/>
                </a:solidFill>
                <a:latin typeface="Arial"/>
                <a:ea typeface="Arial"/>
                <a:cs typeface="Arial"/>
                <a:hlinkClick xmlns:r="http://schemas.openxmlformats.org/officeDocument/2006/relationships" r:id="R980e667aeabe4f33"/>
              </a:rPr>
              <a:t>DOI: 10.1104/pp.114.3.827</a:t>
            </a:r>
          </a:p>
        </p:txBody>
      </p:sp>
      <p:sp>
        <p:nvSpPr>
          <p:cNvPr id="24" name="">
            <a:extLst xmlns:a="http://schemas.openxmlformats.org/drawingml/2006/main">
              <a:ext uri="{FF2B5EF4-FFF2-40B4-BE49-F238E27FC236}">
                <a16:creationId xmlns:a16="http://schemas.microsoft.com/office/drawing/2014/main" id="{BDF5061B-7647-4546-A393-DF1187A16B28}"/>
              </a:ext>
            </a:extLst>
          </p:cNvPr>
          <p:cNvSpPr>
            <a:spLocks xmlns:a="http://schemas.openxmlformats.org/drawingml/2006/main" noGrp="1"/>
          </p:cNvSpPr>
          <p:nvPr/>
        </p:nvSpPr>
        <p:spPr>
          <a:xfrm xmlns:a="http://schemas.openxmlformats.org/drawingml/2006/main">
            <a:off x="6324600" y="13525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[21]</a:t>
            </a:r>
          </a:p>
        </p:txBody>
      </p:sp>
      <p:sp>
        <p:nvSpPr>
          <p:cNvPr id="25" name="">
            <a:extLst xmlns:a="http://schemas.openxmlformats.org/drawingml/2006/main">
              <a:ext uri="{FF2B5EF4-FFF2-40B4-BE49-F238E27FC236}">
                <a16:creationId xmlns:a16="http://schemas.microsoft.com/office/drawing/2014/main" id="{C2416EF3-47D4-49D5-BCB7-40932A29FA92}"/>
              </a:ext>
            </a:extLst>
          </p:cNvPr>
          <p:cNvSpPr>
            <a:spLocks xmlns:a="http://schemas.openxmlformats.org/drawingml/2006/main" noGrp="1"/>
          </p:cNvSpPr>
          <p:nvPr/>
        </p:nvSpPr>
        <p:spPr>
          <a:xfrm xmlns:a="http://schemas.openxmlformats.org/drawingml/2006/main">
            <a:off x="6829425" y="13525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Song, Yeom &amp; Lee, 2014</a:t>
            </a:r>
          </a:p>
        </p:txBody>
      </p:sp>
      <p:sp>
        <p:nvSpPr>
          <p:cNvPr id="26" name="">
            <a:extLst xmlns:a="http://schemas.openxmlformats.org/drawingml/2006/main">
              <a:ext uri="{FF2B5EF4-FFF2-40B4-BE49-F238E27FC236}">
                <a16:creationId xmlns:a16="http://schemas.microsoft.com/office/drawing/2014/main" id="{1B5C01C3-6EF2-4ECC-8D2B-4EC9301F3FA7}"/>
              </a:ext>
            </a:extLst>
          </p:cNvPr>
          <p:cNvSpPr>
            <a:spLocks xmlns:a="http://schemas.openxmlformats.org/drawingml/2006/main" noGrp="1"/>
          </p:cNvSpPr>
          <p:nvPr/>
        </p:nvSpPr>
        <p:spPr>
          <a:xfrm xmlns:a="http://schemas.openxmlformats.org/drawingml/2006/main">
            <a:off x="6829425" y="16192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Анатомия и изгиб двигательного органа. </a:t>
            </a:r>
            <a:r>
              <a:rPr sz="1200" b="0">
                <a:solidFill>
                  <a:srgbClr val="263B31"/>
                </a:solidFill>
                <a:latin typeface="Arial"/>
                <a:ea typeface="Arial"/>
                <a:cs typeface="Arial"/>
                <a:hlinkClick xmlns:r="http://schemas.openxmlformats.org/officeDocument/2006/relationships" r:id="Rd63f658d0d1f4b13"/>
              </a:rPr>
              <a:t>DOI: 10.1038/srep06466</a:t>
            </a:r>
          </a:p>
        </p:txBody>
      </p:sp>
      <p:sp>
        <p:nvSpPr>
          <p:cNvPr id="27" name="">
            <a:extLst xmlns:a="http://schemas.openxmlformats.org/drawingml/2006/main">
              <a:ext uri="{FF2B5EF4-FFF2-40B4-BE49-F238E27FC236}">
                <a16:creationId xmlns:a16="http://schemas.microsoft.com/office/drawing/2014/main" id="{1D5FAD70-693A-4D94-AAB7-A82AC0414E37}"/>
              </a:ext>
            </a:extLst>
          </p:cNvPr>
          <p:cNvSpPr>
            <a:spLocks xmlns:a="http://schemas.openxmlformats.org/drawingml/2006/main" noGrp="1"/>
          </p:cNvSpPr>
          <p:nvPr/>
        </p:nvSpPr>
        <p:spPr>
          <a:xfrm xmlns:a="http://schemas.openxmlformats.org/drawingml/2006/main">
            <a:off x="6324600" y="20574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[22]</a:t>
            </a:r>
          </a:p>
        </p:txBody>
      </p:sp>
      <p:sp>
        <p:nvSpPr>
          <p:cNvPr id="28" name="">
            <a:extLst xmlns:a="http://schemas.openxmlformats.org/drawingml/2006/main">
              <a:ext uri="{FF2B5EF4-FFF2-40B4-BE49-F238E27FC236}">
                <a16:creationId xmlns:a16="http://schemas.microsoft.com/office/drawing/2014/main" id="{F01C74EB-0A9B-478D-AE95-9110FFEE550A}"/>
              </a:ext>
            </a:extLst>
          </p:cNvPr>
          <p:cNvSpPr>
            <a:spLocks xmlns:a="http://schemas.openxmlformats.org/drawingml/2006/main" noGrp="1"/>
          </p:cNvSpPr>
          <p:nvPr/>
        </p:nvSpPr>
        <p:spPr>
          <a:xfrm xmlns:a="http://schemas.openxmlformats.org/drawingml/2006/main">
            <a:off x="6829425" y="20574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Volkov et al., 2010</a:t>
            </a:r>
          </a:p>
        </p:txBody>
      </p:sp>
      <p:sp>
        <p:nvSpPr>
          <p:cNvPr id="29" name="">
            <a:extLst xmlns:a="http://schemas.openxmlformats.org/drawingml/2006/main">
              <a:ext uri="{FF2B5EF4-FFF2-40B4-BE49-F238E27FC236}">
                <a16:creationId xmlns:a16="http://schemas.microsoft.com/office/drawing/2014/main" id="{4068D298-402B-4EC9-8A11-D8D7B7A366EC}"/>
              </a:ext>
            </a:extLst>
          </p:cNvPr>
          <p:cNvSpPr>
            <a:spLocks xmlns:a="http://schemas.openxmlformats.org/drawingml/2006/main" noGrp="1"/>
          </p:cNvSpPr>
          <p:nvPr/>
        </p:nvSpPr>
        <p:spPr>
          <a:xfrm xmlns:a="http://schemas.openxmlformats.org/drawingml/2006/main">
            <a:off x="6829425" y="23241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Движение и восстановление мимозы. </a:t>
            </a:r>
            <a:r>
              <a:rPr sz="1200" b="0">
                <a:solidFill>
                  <a:srgbClr val="263B31"/>
                </a:solidFill>
                <a:latin typeface="Arial"/>
                <a:ea typeface="Arial"/>
                <a:cs typeface="Arial"/>
                <a:hlinkClick xmlns:r="http://schemas.openxmlformats.org/officeDocument/2006/relationships" r:id="R73242f58333249fd"/>
              </a:rPr>
              <a:t>DOI: 10.4161/psb.5.10.12658</a:t>
            </a:r>
          </a:p>
        </p:txBody>
      </p:sp>
      <p:sp>
        <p:nvSpPr>
          <p:cNvPr id="30" name="">
            <a:extLst xmlns:a="http://schemas.openxmlformats.org/drawingml/2006/main">
              <a:ext uri="{FF2B5EF4-FFF2-40B4-BE49-F238E27FC236}">
                <a16:creationId xmlns:a16="http://schemas.microsoft.com/office/drawing/2014/main" id="{1ADA78A6-9B52-4566-A170-42F1DFA34B4C}"/>
              </a:ext>
            </a:extLst>
          </p:cNvPr>
          <p:cNvSpPr>
            <a:spLocks xmlns:a="http://schemas.openxmlformats.org/drawingml/2006/main" noGrp="1"/>
          </p:cNvSpPr>
          <p:nvPr/>
        </p:nvSpPr>
        <p:spPr>
          <a:xfrm xmlns:a="http://schemas.openxmlformats.org/drawingml/2006/main">
            <a:off x="6324600" y="27622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[23]</a:t>
            </a:r>
          </a:p>
        </p:txBody>
      </p:sp>
      <p:sp>
        <p:nvSpPr>
          <p:cNvPr id="31" name="">
            <a:extLst xmlns:a="http://schemas.openxmlformats.org/drawingml/2006/main">
              <a:ext uri="{FF2B5EF4-FFF2-40B4-BE49-F238E27FC236}">
                <a16:creationId xmlns:a16="http://schemas.microsoft.com/office/drawing/2014/main" id="{155A56F2-EAC4-4A5F-97E6-8E7F6C9F7150}"/>
              </a:ext>
            </a:extLst>
          </p:cNvPr>
          <p:cNvSpPr>
            <a:spLocks xmlns:a="http://schemas.openxmlformats.org/drawingml/2006/main" noGrp="1"/>
          </p:cNvSpPr>
          <p:nvPr/>
        </p:nvSpPr>
        <p:spPr>
          <a:xfrm xmlns:a="http://schemas.openxmlformats.org/drawingml/2006/main">
            <a:off x="6829425" y="27622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Hagihara et al., 2022</a:t>
            </a:r>
          </a:p>
        </p:txBody>
      </p:sp>
      <p:sp>
        <p:nvSpPr>
          <p:cNvPr id="32" name="">
            <a:extLst xmlns:a="http://schemas.openxmlformats.org/drawingml/2006/main">
              <a:ext uri="{FF2B5EF4-FFF2-40B4-BE49-F238E27FC236}">
                <a16:creationId xmlns:a16="http://schemas.microsoft.com/office/drawing/2014/main" id="{EDA31211-0FC1-48D9-8432-A6F2CA96386D}"/>
              </a:ext>
            </a:extLst>
          </p:cNvPr>
          <p:cNvSpPr>
            <a:spLocks xmlns:a="http://schemas.openxmlformats.org/drawingml/2006/main" noGrp="1"/>
          </p:cNvSpPr>
          <p:nvPr/>
        </p:nvSpPr>
        <p:spPr>
          <a:xfrm xmlns:a="http://schemas.openxmlformats.org/drawingml/2006/main">
            <a:off x="6829425" y="30289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Последовательные движения и сигналы мимозы. </a:t>
            </a:r>
            <a:r>
              <a:rPr sz="1200" b="0">
                <a:solidFill>
                  <a:srgbClr val="263B31"/>
                </a:solidFill>
                <a:latin typeface="Arial"/>
                <a:ea typeface="Arial"/>
                <a:cs typeface="Arial"/>
                <a:hlinkClick xmlns:r="http://schemas.openxmlformats.org/officeDocument/2006/relationships" r:id="Rec2754a773264036"/>
              </a:rPr>
              <a:t>DOI: 10.1038/s41467-022-34106-x</a:t>
            </a:r>
          </a:p>
        </p:txBody>
      </p:sp>
      <p:sp>
        <p:nvSpPr>
          <p:cNvPr id="33" name="">
            <a:extLst xmlns:a="http://schemas.openxmlformats.org/drawingml/2006/main">
              <a:ext uri="{FF2B5EF4-FFF2-40B4-BE49-F238E27FC236}">
                <a16:creationId xmlns:a16="http://schemas.microsoft.com/office/drawing/2014/main" id="{332D1785-6595-41FA-BB39-324ABFC2E044}"/>
              </a:ext>
            </a:extLst>
          </p:cNvPr>
          <p:cNvSpPr>
            <a:spLocks xmlns:a="http://schemas.openxmlformats.org/drawingml/2006/main" noGrp="1"/>
          </p:cNvSpPr>
          <p:nvPr/>
        </p:nvSpPr>
        <p:spPr>
          <a:xfrm xmlns:a="http://schemas.openxmlformats.org/drawingml/2006/main">
            <a:off x="6324600" y="34671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[24]</a:t>
            </a:r>
          </a:p>
        </p:txBody>
      </p:sp>
      <p:sp>
        <p:nvSpPr>
          <p:cNvPr id="34" name="">
            <a:extLst xmlns:a="http://schemas.openxmlformats.org/drawingml/2006/main">
              <a:ext uri="{FF2B5EF4-FFF2-40B4-BE49-F238E27FC236}">
                <a16:creationId xmlns:a16="http://schemas.microsoft.com/office/drawing/2014/main" id="{F5446DE5-800C-424A-B86F-B235E16BEBA7}"/>
              </a:ext>
            </a:extLst>
          </p:cNvPr>
          <p:cNvSpPr>
            <a:spLocks xmlns:a="http://schemas.openxmlformats.org/drawingml/2006/main" noGrp="1"/>
          </p:cNvSpPr>
          <p:nvPr/>
        </p:nvSpPr>
        <p:spPr>
          <a:xfrm xmlns:a="http://schemas.openxmlformats.org/drawingml/2006/main">
            <a:off x="6829425" y="34671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Favre &amp; Agosti, 2007</a:t>
            </a:r>
          </a:p>
        </p:txBody>
      </p:sp>
      <p:sp>
        <p:nvSpPr>
          <p:cNvPr id="35" name="">
            <a:extLst xmlns:a="http://schemas.openxmlformats.org/drawingml/2006/main">
              <a:ext uri="{FF2B5EF4-FFF2-40B4-BE49-F238E27FC236}">
                <a16:creationId xmlns:a16="http://schemas.microsoft.com/office/drawing/2014/main" id="{AA491967-B133-4BF1-97C7-AD665056A2D7}"/>
              </a:ext>
            </a:extLst>
          </p:cNvPr>
          <p:cNvSpPr>
            <a:spLocks xmlns:a="http://schemas.openxmlformats.org/drawingml/2006/main" noGrp="1"/>
          </p:cNvSpPr>
          <p:nvPr/>
        </p:nvSpPr>
        <p:spPr>
          <a:xfrm xmlns:a="http://schemas.openxmlformats.org/drawingml/2006/main">
            <a:off x="6829425" y="37338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Потенциалы действия у Arabidopsis. </a:t>
            </a:r>
            <a:r>
              <a:rPr sz="1200" b="0">
                <a:solidFill>
                  <a:srgbClr val="263B31"/>
                </a:solidFill>
                <a:latin typeface="Arial"/>
                <a:ea typeface="Arial"/>
                <a:cs typeface="Arial"/>
                <a:hlinkClick xmlns:r="http://schemas.openxmlformats.org/officeDocument/2006/relationships" r:id="R63d5492ed4bd417c"/>
              </a:rPr>
              <a:t>DOI: 10.1111/j.1399-3054.2007.00954.x</a:t>
            </a:r>
          </a:p>
        </p:txBody>
      </p:sp>
      <p:sp>
        <p:nvSpPr>
          <p:cNvPr id="36" name="">
            <a:extLst xmlns:a="http://schemas.openxmlformats.org/drawingml/2006/main">
              <a:ext uri="{FF2B5EF4-FFF2-40B4-BE49-F238E27FC236}">
                <a16:creationId xmlns:a16="http://schemas.microsoft.com/office/drawing/2014/main" id="{F11E95B4-5A3D-4886-9A80-6CE13D4AADB4}"/>
              </a:ext>
            </a:extLst>
          </p:cNvPr>
          <p:cNvSpPr>
            <a:spLocks xmlns:a="http://schemas.openxmlformats.org/drawingml/2006/main" noGrp="1"/>
          </p:cNvSpPr>
          <p:nvPr/>
        </p:nvSpPr>
        <p:spPr>
          <a:xfrm xmlns:a="http://schemas.openxmlformats.org/drawingml/2006/main">
            <a:off x="6324600" y="417195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[25]</a:t>
            </a:r>
          </a:p>
        </p:txBody>
      </p:sp>
      <p:sp>
        <p:nvSpPr>
          <p:cNvPr id="37" name="">
            <a:extLst xmlns:a="http://schemas.openxmlformats.org/drawingml/2006/main">
              <a:ext uri="{FF2B5EF4-FFF2-40B4-BE49-F238E27FC236}">
                <a16:creationId xmlns:a16="http://schemas.microsoft.com/office/drawing/2014/main" id="{BA6A5E16-786E-48B7-A648-F97AA91D6729}"/>
              </a:ext>
            </a:extLst>
          </p:cNvPr>
          <p:cNvSpPr>
            <a:spLocks xmlns:a="http://schemas.openxmlformats.org/drawingml/2006/main" noGrp="1"/>
          </p:cNvSpPr>
          <p:nvPr/>
        </p:nvSpPr>
        <p:spPr>
          <a:xfrm xmlns:a="http://schemas.openxmlformats.org/drawingml/2006/main">
            <a:off x="6829425" y="417195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Iino, Long &amp; Wang, 2001</a:t>
            </a:r>
          </a:p>
        </p:txBody>
      </p:sp>
      <p:sp>
        <p:nvSpPr>
          <p:cNvPr id="38" name="">
            <a:extLst xmlns:a="http://schemas.openxmlformats.org/drawingml/2006/main">
              <a:ext uri="{FF2B5EF4-FFF2-40B4-BE49-F238E27FC236}">
                <a16:creationId xmlns:a16="http://schemas.microsoft.com/office/drawing/2014/main" id="{C0B6B1ED-5400-4259-AEEF-B7675A9D7B6A}"/>
              </a:ext>
            </a:extLst>
          </p:cNvPr>
          <p:cNvSpPr>
            <a:spLocks xmlns:a="http://schemas.openxmlformats.org/drawingml/2006/main" noGrp="1"/>
          </p:cNvSpPr>
          <p:nvPr/>
        </p:nvSpPr>
        <p:spPr>
          <a:xfrm xmlns:a="http://schemas.openxmlformats.org/drawingml/2006/main">
            <a:off x="6829425" y="443865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АБК и ауксин: объём моторных клеток. </a:t>
            </a:r>
            <a:r>
              <a:rPr sz="1200" b="0">
                <a:solidFill>
                  <a:srgbClr val="263B31"/>
                </a:solidFill>
                <a:latin typeface="Arial"/>
                <a:ea typeface="Arial"/>
                <a:cs typeface="Arial"/>
                <a:hlinkClick xmlns:r="http://schemas.openxmlformats.org/officeDocument/2006/relationships" r:id="R0eab13cb12bc4cab"/>
              </a:rPr>
              <a:t>DOI: 10.1093/pcp/pce157</a:t>
            </a:r>
          </a:p>
        </p:txBody>
      </p:sp>
      <p:sp>
        <p:nvSpPr>
          <p:cNvPr id="39" name="">
            <a:extLst xmlns:a="http://schemas.openxmlformats.org/drawingml/2006/main">
              <a:ext uri="{FF2B5EF4-FFF2-40B4-BE49-F238E27FC236}">
                <a16:creationId xmlns:a16="http://schemas.microsoft.com/office/drawing/2014/main" id="{0EB0C67B-306D-4E6C-A77E-B985F2FC12EC}"/>
              </a:ext>
            </a:extLst>
          </p:cNvPr>
          <p:cNvSpPr>
            <a:spLocks xmlns:a="http://schemas.openxmlformats.org/drawingml/2006/main" noGrp="1"/>
          </p:cNvSpPr>
          <p:nvPr/>
        </p:nvSpPr>
        <p:spPr>
          <a:xfrm xmlns:a="http://schemas.openxmlformats.org/drawingml/2006/main">
            <a:off x="6324600" y="4876800"/>
            <a:ext cx="466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47705A"/>
                </a:solidFill>
                <a:latin typeface="Arial"/>
                <a:ea typeface="Arial"/>
                <a:cs typeface="Arial"/>
              </a:defRPr>
            </a:pPr>
            <a:r>
              <a:rPr sz="1425" b="1">
                <a:solidFill>
                  <a:srgbClr val="47705A"/>
                </a:solidFill>
                <a:latin typeface="Arial"/>
                <a:ea typeface="Arial"/>
                <a:cs typeface="Arial"/>
              </a:rPr>
              <a:t>[26]</a:t>
            </a:r>
          </a:p>
        </p:txBody>
      </p:sp>
      <p:sp>
        <p:nvSpPr>
          <p:cNvPr id="40" name="">
            <a:extLst xmlns:a="http://schemas.openxmlformats.org/drawingml/2006/main">
              <a:ext uri="{FF2B5EF4-FFF2-40B4-BE49-F238E27FC236}">
                <a16:creationId xmlns:a16="http://schemas.microsoft.com/office/drawing/2014/main" id="{FA4F8DCA-4678-44AC-A37B-446C9C5C7105}"/>
              </a:ext>
            </a:extLst>
          </p:cNvPr>
          <p:cNvSpPr>
            <a:spLocks xmlns:a="http://schemas.openxmlformats.org/drawingml/2006/main" noGrp="1"/>
          </p:cNvSpPr>
          <p:nvPr/>
        </p:nvSpPr>
        <p:spPr>
          <a:xfrm xmlns:a="http://schemas.openxmlformats.org/drawingml/2006/main">
            <a:off x="6829425" y="4876800"/>
            <a:ext cx="47529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263B31"/>
                </a:solidFill>
                <a:latin typeface="Arial"/>
                <a:ea typeface="Arial"/>
                <a:cs typeface="Arial"/>
              </a:defRPr>
            </a:pPr>
            <a:r>
              <a:rPr sz="1500" b="1">
                <a:solidFill>
                  <a:srgbClr val="263B31"/>
                </a:solidFill>
                <a:latin typeface="Arial"/>
                <a:ea typeface="Arial"/>
                <a:cs typeface="Arial"/>
              </a:rPr>
              <a:t>Siegel et al., 2009</a:t>
            </a:r>
          </a:p>
        </p:txBody>
      </p:sp>
      <p:sp>
        <p:nvSpPr>
          <p:cNvPr id="41" name="">
            <a:extLst xmlns:a="http://schemas.openxmlformats.org/drawingml/2006/main">
              <a:ext uri="{FF2B5EF4-FFF2-40B4-BE49-F238E27FC236}">
                <a16:creationId xmlns:a16="http://schemas.microsoft.com/office/drawing/2014/main" id="{56646DA4-EF5D-4D72-AEA2-9C3ACEACC826}"/>
              </a:ext>
            </a:extLst>
          </p:cNvPr>
          <p:cNvSpPr>
            <a:spLocks xmlns:a="http://schemas.openxmlformats.org/drawingml/2006/main" noGrp="1"/>
          </p:cNvSpPr>
          <p:nvPr/>
        </p:nvSpPr>
        <p:spPr>
          <a:xfrm xmlns:a="http://schemas.openxmlformats.org/drawingml/2006/main">
            <a:off x="6829425" y="5143500"/>
            <a:ext cx="4752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263B31"/>
                </a:solidFill>
                <a:latin typeface="Arial"/>
                <a:ea typeface="Arial"/>
                <a:cs typeface="Arial"/>
              </a:defRPr>
            </a:pPr>
            <a:r>
              <a:rPr sz="1200" b="0">
                <a:solidFill>
                  <a:srgbClr val="263B31"/>
                </a:solidFill>
                <a:latin typeface="Arial"/>
                <a:ea typeface="Arial"/>
                <a:cs typeface="Arial"/>
              </a:rPr>
              <a:t>АБК усиливает чувствительность каналов к Ca²⁺. </a:t>
            </a:r>
            <a:r>
              <a:rPr sz="1200" b="0">
                <a:solidFill>
                  <a:srgbClr val="263B31"/>
                </a:solidFill>
                <a:latin typeface="Arial"/>
                <a:ea typeface="Arial"/>
                <a:cs typeface="Arial"/>
                <a:hlinkClick xmlns:r="http://schemas.openxmlformats.org/officeDocument/2006/relationships" r:id="R9882e99c92a94f18"/>
              </a:rPr>
              <a:t>DOI: 10.1111/j.1365-313X.2009.03872.x</a:t>
            </a:r>
          </a:p>
        </p:txBody>
      </p:sp>
    </p:spTree>
    <p:extLst>
      <p:ext uri="{BB962C8B-B14F-4D97-AF65-F5344CB8AC3E}">
        <p14:creationId xmlns:p14="http://schemas.microsoft.com/office/powerpoint/2010/main" val="137944424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CF9248-A48D-4D7F-8FA1-21F3551EF222}"/>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400E96B-8F0E-43BB-BFAE-689277524390}"/>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27</a:t>
            </a:r>
          </a:p>
        </p:txBody>
      </p:sp>
      <p:sp>
        <p:nvSpPr>
          <p:cNvPr id="3" name="">
            <a:extLst xmlns:a="http://schemas.openxmlformats.org/drawingml/2006/main">
              <a:ext uri="{FF2B5EF4-FFF2-40B4-BE49-F238E27FC236}">
                <a16:creationId xmlns:a16="http://schemas.microsoft.com/office/drawing/2014/main" id="{F5A93AF4-2E72-40CD-BD7C-6AE99315DA68}"/>
              </a:ext>
            </a:extLst>
          </p:cNvPr>
          <p:cNvSpPr>
            <a:spLocks xmlns:a="http://schemas.openxmlformats.org/drawingml/2006/main" noGrp="1"/>
          </p:cNvSpPr>
          <p:nvPr/>
        </p:nvSpPr>
        <p:spPr>
          <a:xfrm xmlns:a="http://schemas.openxmlformats.org/drawingml/2006/main">
            <a:off x="609600" y="2295525"/>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625" b="1">
                <a:solidFill>
                  <a:srgbClr val="263B31"/>
                </a:solidFill>
                <a:latin typeface="Arial"/>
                <a:ea typeface="Arial"/>
                <a:cs typeface="Arial"/>
              </a:defRPr>
            </a:pPr>
            <a:r>
              <a:rPr sz="5625" b="1">
                <a:solidFill>
                  <a:srgbClr val="263B31"/>
                </a:solidFill>
                <a:latin typeface="Arial"/>
                <a:ea typeface="Arial"/>
                <a:cs typeface="Arial"/>
              </a:rPr>
              <a:t>Спасибо за внимание</a:t>
            </a:r>
          </a:p>
        </p:txBody>
      </p:sp>
      <p:sp>
        <p:nvSpPr>
          <p:cNvPr id="4" name="">
            <a:extLst xmlns:a="http://schemas.openxmlformats.org/drawingml/2006/main">
              <a:ext uri="{FF2B5EF4-FFF2-40B4-BE49-F238E27FC236}">
                <a16:creationId xmlns:a16="http://schemas.microsoft.com/office/drawing/2014/main" id="{99B37325-1815-4F17-9367-6F3FD3AA6B6D}"/>
              </a:ext>
            </a:extLst>
          </p:cNvPr>
          <p:cNvSpPr>
            <a:spLocks xmlns:a="http://schemas.openxmlformats.org/drawingml/2006/main" noGrp="1"/>
          </p:cNvSpPr>
          <p:nvPr/>
        </p:nvSpPr>
        <p:spPr>
          <a:xfrm xmlns:a="http://schemas.openxmlformats.org/drawingml/2006/main">
            <a:off x="647700" y="3971925"/>
            <a:ext cx="10477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263B31"/>
                </a:solidFill>
                <a:latin typeface="Arial"/>
                <a:ea typeface="Arial"/>
                <a:cs typeface="Arial"/>
              </a:defRPr>
            </a:pPr>
            <a:r>
              <a:rPr sz="2850" b="0">
                <a:solidFill>
                  <a:srgbClr val="263B31"/>
                </a:solidFill>
                <a:latin typeface="Arial"/>
                <a:ea typeface="Arial"/>
                <a:cs typeface="Arial"/>
              </a:rPr>
              <a:t>Команда «Нейронично»</a:t>
            </a:r>
          </a:p>
        </p:txBody>
      </p:sp>
    </p:spTree>
    <p:extLst>
      <p:ext uri="{BB962C8B-B14F-4D97-AF65-F5344CB8AC3E}">
        <p14:creationId xmlns:p14="http://schemas.microsoft.com/office/powerpoint/2010/main" val="89762993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F84618-FE5D-432E-A9B4-AFFA65BD6C12}"/>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Почему растения редко используют звук</a:t>
            </a:r>
          </a:p>
        </p:txBody>
      </p:sp>
      <p:sp>
        <p:nvSpPr>
          <p:cNvPr id="2" name="">
            <a:extLst xmlns:a="http://schemas.openxmlformats.org/drawingml/2006/main">
              <a:ext uri="{FF2B5EF4-FFF2-40B4-BE49-F238E27FC236}">
                <a16:creationId xmlns:a16="http://schemas.microsoft.com/office/drawing/2014/main" id="{4263BC51-D41D-4562-B5B6-E91A757F807F}"/>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00C62C60-83F8-464E-B4B4-64E20ADD796C}"/>
              </a:ext>
            </a:extLst>
          </p:cNvPr>
          <p:cNvSpPr>
            <a:spLocks xmlns:a="http://schemas.openxmlformats.org/drawingml/2006/main" noGrp="1"/>
          </p:cNvSpPr>
          <p:nvPr/>
        </p:nvSpPr>
        <p:spPr>
          <a:xfrm xmlns:a="http://schemas.openxmlformats.org/drawingml/2006/main">
            <a:off x="609600" y="1581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Медленная ответная реакция</a:t>
            </a:r>
          </a:p>
        </p:txBody>
      </p:sp>
      <p:sp>
        <p:nvSpPr>
          <p:cNvPr id="4" name="">
            <a:extLst xmlns:a="http://schemas.openxmlformats.org/drawingml/2006/main">
              <a:ext uri="{FF2B5EF4-FFF2-40B4-BE49-F238E27FC236}">
                <a16:creationId xmlns:a16="http://schemas.microsoft.com/office/drawing/2014/main" id="{CA0837AC-D0E2-43B5-BFBB-77069915C99A}"/>
              </a:ext>
            </a:extLst>
          </p:cNvPr>
          <p:cNvSpPr>
            <a:spLocks xmlns:a="http://schemas.openxmlformats.org/drawingml/2006/main" noGrp="1"/>
          </p:cNvSpPr>
          <p:nvPr/>
        </p:nvSpPr>
        <p:spPr>
          <a:xfrm xmlns:a="http://schemas.openxmlformats.org/drawingml/2006/main">
            <a:off x="609600" y="21717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Растения обычно реагируют медленно.</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Поэтому быстрая связь часто даёт небольшой выигрыш.</a:t>
            </a:r>
          </a:p>
        </p:txBody>
      </p:sp>
      <p:sp>
        <p:nvSpPr>
          <p:cNvPr id="5" name="">
            <a:extLst xmlns:a="http://schemas.openxmlformats.org/drawingml/2006/main">
              <a:ext uri="{FF2B5EF4-FFF2-40B4-BE49-F238E27FC236}">
                <a16:creationId xmlns:a16="http://schemas.microsoft.com/office/drawing/2014/main" id="{488976CC-1FF0-4969-8B0B-E00F21CE9A8F}"/>
              </a:ext>
            </a:extLst>
          </p:cNvPr>
          <p:cNvSpPr>
            <a:spLocks xmlns:a="http://schemas.openxmlformats.org/drawingml/2006/main" noGrp="1"/>
          </p:cNvSpPr>
          <p:nvPr/>
        </p:nvSpPr>
        <p:spPr>
          <a:xfrm xmlns:a="http://schemas.openxmlformats.org/drawingml/2006/main">
            <a:off x="609600" y="3105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Сложность механических движений</a:t>
            </a:r>
          </a:p>
        </p:txBody>
      </p:sp>
      <p:sp>
        <p:nvSpPr>
          <p:cNvPr id="6" name="">
            <a:extLst xmlns:a="http://schemas.openxmlformats.org/drawingml/2006/main">
              <a:ext uri="{FF2B5EF4-FFF2-40B4-BE49-F238E27FC236}">
                <a16:creationId xmlns:a16="http://schemas.microsoft.com/office/drawing/2014/main" id="{67A8F265-F591-4C0E-95FF-45ABC4967485}"/>
              </a:ext>
            </a:extLst>
          </p:cNvPr>
          <p:cNvSpPr>
            <a:spLocks xmlns:a="http://schemas.openxmlformats.org/drawingml/2006/main" noGrp="1"/>
          </p:cNvSpPr>
          <p:nvPr/>
        </p:nvSpPr>
        <p:spPr>
          <a:xfrm xmlns:a="http://schemas.openxmlformats.org/drawingml/2006/main">
            <a:off x="609600" y="36957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Для быстрого движения нужны специальные ткани</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и механизм накопления и высвобождения энергии.</a:t>
            </a:r>
          </a:p>
        </p:txBody>
      </p:sp>
      <p:sp>
        <p:nvSpPr>
          <p:cNvPr id="7" name="">
            <a:extLst xmlns:a="http://schemas.openxmlformats.org/drawingml/2006/main">
              <a:ext uri="{FF2B5EF4-FFF2-40B4-BE49-F238E27FC236}">
                <a16:creationId xmlns:a16="http://schemas.microsoft.com/office/drawing/2014/main" id="{6D4463E2-7123-4C41-8466-96AD1B6F938D}"/>
              </a:ext>
            </a:extLst>
          </p:cNvPr>
          <p:cNvSpPr>
            <a:spLocks xmlns:a="http://schemas.openxmlformats.org/drawingml/2006/main" noGrp="1"/>
          </p:cNvSpPr>
          <p:nvPr/>
        </p:nvSpPr>
        <p:spPr>
          <a:xfrm xmlns:a="http://schemas.openxmlformats.org/drawingml/2006/main">
            <a:off x="609600" y="46291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Затраты энергии</a:t>
            </a:r>
          </a:p>
        </p:txBody>
      </p:sp>
      <p:sp>
        <p:nvSpPr>
          <p:cNvPr id="8" name="">
            <a:extLst xmlns:a="http://schemas.openxmlformats.org/drawingml/2006/main">
              <a:ext uri="{FF2B5EF4-FFF2-40B4-BE49-F238E27FC236}">
                <a16:creationId xmlns:a16="http://schemas.microsoft.com/office/drawing/2014/main" id="{15346C34-EDE9-43F4-9902-871FFACD2F5A}"/>
              </a:ext>
            </a:extLst>
          </p:cNvPr>
          <p:cNvSpPr>
            <a:spLocks xmlns:a="http://schemas.openxmlformats.org/drawingml/2006/main" noGrp="1"/>
          </p:cNvSpPr>
          <p:nvPr/>
        </p:nvSpPr>
        <p:spPr>
          <a:xfrm xmlns:a="http://schemas.openxmlformats.org/drawingml/2006/main">
            <a:off x="609600" y="52197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Нужно создать звуковой орган и обеспечивать его работу.</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Эти затраты должны окупаться пользой от передачи сигнала.</a:t>
            </a:r>
          </a:p>
        </p:txBody>
      </p:sp>
      <p:sp>
        <p:nvSpPr>
          <p:cNvPr id="9" name="">
            <a:extLst xmlns:a="http://schemas.openxmlformats.org/drawingml/2006/main">
              <a:ext uri="{FF2B5EF4-FFF2-40B4-BE49-F238E27FC236}">
                <a16:creationId xmlns:a16="http://schemas.microsoft.com/office/drawing/2014/main" id="{53AF3564-2B0B-4701-9E7E-B2B004E4D19E}"/>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[2], [3]</a:t>
            </a:r>
          </a:p>
        </p:txBody>
      </p:sp>
    </p:spTree>
    <p:extLst>
      <p:ext uri="{BB962C8B-B14F-4D97-AF65-F5344CB8AC3E}">
        <p14:creationId xmlns:p14="http://schemas.microsoft.com/office/powerpoint/2010/main" val="84930807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4" idx="3"/>
            <a:endCxn xmlns:a="http://schemas.openxmlformats.org/drawingml/2006/main" id="6" idx="1"/>
          </p:cNvCxnSpPr>
          <p:nvPr/>
        </p:nvCxnSpPr>
        <p:spPr>
          <a:xfrm xmlns:a="http://schemas.openxmlformats.org/drawingml/2006/main">
            <a:off x="7781925" y="2247900"/>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4" name=""/>
          <p:cNvCxnSpPr>
            <a:stCxn xmlns:a="http://schemas.openxmlformats.org/drawingml/2006/main" id="3" idx="3"/>
            <a:endCxn xmlns:a="http://schemas.openxmlformats.org/drawingml/2006/main" id="4" idx="1"/>
          </p:cNvCxnSpPr>
          <p:nvPr/>
        </p:nvCxnSpPr>
        <p:spPr>
          <a:xfrm xmlns:a="http://schemas.openxmlformats.org/drawingml/2006/main">
            <a:off x="3981450" y="2247900"/>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5" name="">
            <a:extLst xmlns:a="http://schemas.openxmlformats.org/drawingml/2006/main">
              <a:ext uri="{FF2B5EF4-FFF2-40B4-BE49-F238E27FC236}">
                <a16:creationId xmlns:a16="http://schemas.microsoft.com/office/drawing/2014/main" id="{3CC1C7BC-443C-4068-B4A0-D7C4944E8941}"/>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Как растение меняет сообщение</a:t>
            </a:r>
          </a:p>
        </p:txBody>
      </p:sp>
      <p:sp>
        <p:nvSpPr>
          <p:cNvPr id="2" name="">
            <a:extLst xmlns:a="http://schemas.openxmlformats.org/drawingml/2006/main">
              <a:ext uri="{FF2B5EF4-FFF2-40B4-BE49-F238E27FC236}">
                <a16:creationId xmlns:a16="http://schemas.microsoft.com/office/drawing/2014/main" id="{34E2B544-DBB8-4CEE-B8D4-29A586DD92D2}"/>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A516D882-4F5A-4BE5-8512-E162126E44D1}"/>
              </a:ext>
            </a:extLst>
          </p:cNvPr>
          <p:cNvSpPr>
            <a:spLocks xmlns:a="http://schemas.openxmlformats.org/drawingml/2006/main" noGrp="1"/>
          </p:cNvSpPr>
          <p:nvPr/>
        </p:nvSpPr>
        <p:spPr>
          <a:xfrm xmlns:a="http://schemas.openxmlformats.org/drawingml/2006/main">
            <a:off x="609600" y="1752600"/>
            <a:ext cx="3371850" cy="990600"/>
          </a:xfrm>
          <a:prstGeom xmlns:a="http://schemas.openxmlformats.org/drawingml/2006/main" prst="roundRect">
            <a:avLst>
              <a:gd name="adj" fmla="val 15385"/>
            </a:avLst>
          </a:prstGeom>
          <a:solidFill xmlns:a="http://schemas.openxmlformats.org/drawingml/2006/main">
            <a:srgbClr val="F6E7D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Нектар</a:t>
            </a:r>
          </a:p>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или повреждение</a:t>
            </a:r>
          </a:p>
        </p:txBody>
      </p:sp>
      <p:sp>
        <p:nvSpPr>
          <p:cNvPr id="4" name="">
            <a:extLst xmlns:a="http://schemas.openxmlformats.org/drawingml/2006/main">
              <a:ext uri="{FF2B5EF4-FFF2-40B4-BE49-F238E27FC236}">
                <a16:creationId xmlns:a16="http://schemas.microsoft.com/office/drawing/2014/main" id="{4C9DBB00-8AEB-426F-A09C-82C18D082EEC}"/>
              </a:ext>
            </a:extLst>
          </p:cNvPr>
          <p:cNvSpPr>
            <a:spLocks xmlns:a="http://schemas.openxmlformats.org/drawingml/2006/main" noGrp="1"/>
          </p:cNvSpPr>
          <p:nvPr/>
        </p:nvSpPr>
        <p:spPr>
          <a:xfrm xmlns:a="http://schemas.openxmlformats.org/drawingml/2006/main">
            <a:off x="4410075" y="1752600"/>
            <a:ext cx="3371850" cy="990600"/>
          </a:xfrm>
          <a:prstGeom xmlns:a="http://schemas.openxmlformats.org/drawingml/2006/main" prst="roundRect">
            <a:avLst>
              <a:gd name="adj" fmla="val 15385"/>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Уровень АБК</a:t>
            </a:r>
          </a:p>
        </p:txBody>
      </p:sp>
      <p:sp>
        <p:nvSpPr>
          <p:cNvPr id="6" name="">
            <a:extLst xmlns:a="http://schemas.openxmlformats.org/drawingml/2006/main">
              <a:ext uri="{FF2B5EF4-FFF2-40B4-BE49-F238E27FC236}">
                <a16:creationId xmlns:a16="http://schemas.microsoft.com/office/drawing/2014/main" id="{81A04E7B-54F6-4C5E-98B0-F9EE34547E75}"/>
              </a:ext>
            </a:extLst>
          </p:cNvPr>
          <p:cNvSpPr>
            <a:spLocks xmlns:a="http://schemas.openxmlformats.org/drawingml/2006/main" noGrp="1"/>
          </p:cNvSpPr>
          <p:nvPr/>
        </p:nvSpPr>
        <p:spPr>
          <a:xfrm xmlns:a="http://schemas.openxmlformats.org/drawingml/2006/main">
            <a:off x="8210550" y="1752600"/>
            <a:ext cx="3371850" cy="990600"/>
          </a:xfrm>
          <a:prstGeom xmlns:a="http://schemas.openxmlformats.org/drawingml/2006/main" prst="roundRect">
            <a:avLst>
              <a:gd name="adj" fmla="val 15385"/>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Число</a:t>
            </a:r>
          </a:p>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выбранных спусков</a:t>
            </a:r>
          </a:p>
        </p:txBody>
      </p:sp>
      <p:sp>
        <p:nvSpPr>
          <p:cNvPr id="8" name="">
            <a:extLst xmlns:a="http://schemas.openxmlformats.org/drawingml/2006/main">
              <a:ext uri="{FF2B5EF4-FFF2-40B4-BE49-F238E27FC236}">
                <a16:creationId xmlns:a16="http://schemas.microsoft.com/office/drawing/2014/main" id="{D06FECEF-3306-4E95-8250-84341CEB7B0F}"/>
              </a:ext>
            </a:extLst>
          </p:cNvPr>
          <p:cNvSpPr>
            <a:spLocks xmlns:a="http://schemas.openxmlformats.org/drawingml/2006/main" noGrp="1"/>
          </p:cNvSpPr>
          <p:nvPr/>
        </p:nvSpPr>
        <p:spPr>
          <a:xfrm xmlns:a="http://schemas.openxmlformats.org/drawingml/2006/main">
            <a:off x="733425" y="3143250"/>
            <a:ext cx="32861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Нектарники и листья</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формируют разные</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регуляторные сигналы.</a:t>
            </a:r>
          </a:p>
        </p:txBody>
      </p:sp>
      <p:sp>
        <p:nvSpPr>
          <p:cNvPr id="9" name="">
            <a:extLst xmlns:a="http://schemas.openxmlformats.org/drawingml/2006/main">
              <a:ext uri="{FF2B5EF4-FFF2-40B4-BE49-F238E27FC236}">
                <a16:creationId xmlns:a16="http://schemas.microsoft.com/office/drawing/2014/main" id="{67634292-A85D-4809-B44F-64793BBB3B80}"/>
              </a:ext>
            </a:extLst>
          </p:cNvPr>
          <p:cNvSpPr>
            <a:spLocks xmlns:a="http://schemas.openxmlformats.org/drawingml/2006/main" noGrp="1"/>
          </p:cNvSpPr>
          <p:nvPr/>
        </p:nvSpPr>
        <p:spPr>
          <a:xfrm xmlns:a="http://schemas.openxmlformats.org/drawingml/2006/main">
            <a:off x="4629150" y="3143250"/>
            <a:ext cx="32861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Настройка задаёт,</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какие спусковые клетки</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ответят на общий пуск.</a:t>
            </a:r>
          </a:p>
        </p:txBody>
      </p:sp>
      <p:sp>
        <p:nvSpPr>
          <p:cNvPr id="10" name="">
            <a:extLst xmlns:a="http://schemas.openxmlformats.org/drawingml/2006/main">
              <a:ext uri="{FF2B5EF4-FFF2-40B4-BE49-F238E27FC236}">
                <a16:creationId xmlns:a16="http://schemas.microsoft.com/office/drawing/2014/main" id="{AE902E99-2CAA-46EB-9CBC-D22110FB435E}"/>
              </a:ext>
            </a:extLst>
          </p:cNvPr>
          <p:cNvSpPr>
            <a:spLocks xmlns:a="http://schemas.openxmlformats.org/drawingml/2006/main" noGrp="1"/>
          </p:cNvSpPr>
          <p:nvPr/>
        </p:nvSpPr>
        <p:spPr>
          <a:xfrm xmlns:a="http://schemas.openxmlformats.org/drawingml/2006/main">
            <a:off x="8524875" y="3143250"/>
            <a:ext cx="3048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Один импульс</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последовательно</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запускает выбранные органы.</a:t>
            </a:r>
          </a:p>
        </p:txBody>
      </p:sp>
      <p:sp>
        <p:nvSpPr>
          <p:cNvPr id="11" name="">
            <a:extLst xmlns:a="http://schemas.openxmlformats.org/drawingml/2006/main">
              <a:ext uri="{FF2B5EF4-FFF2-40B4-BE49-F238E27FC236}">
                <a16:creationId xmlns:a16="http://schemas.microsoft.com/office/drawing/2014/main" id="{D3CBC3ED-A693-4D81-9BB2-B06538AB9591}"/>
              </a:ext>
            </a:extLst>
          </p:cNvPr>
          <p:cNvSpPr>
            <a:spLocks xmlns:a="http://schemas.openxmlformats.org/drawingml/2006/main" noGrp="1"/>
          </p:cNvSpPr>
          <p:nvPr/>
        </p:nvSpPr>
        <p:spPr>
          <a:xfrm xmlns:a="http://schemas.openxmlformats.org/drawingml/2006/main">
            <a:off x="609600" y="5305425"/>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Число щелчков задаётся чувствительностью спусков.</a:t>
            </a:r>
          </a:p>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Их порядок задаётся общей проводящей полоской.</a:t>
            </a:r>
          </a:p>
        </p:txBody>
      </p:sp>
      <p:sp>
        <p:nvSpPr>
          <p:cNvPr id="12" name="">
            <a:extLst xmlns:a="http://schemas.openxmlformats.org/drawingml/2006/main">
              <a:ext uri="{FF2B5EF4-FFF2-40B4-BE49-F238E27FC236}">
                <a16:creationId xmlns:a16="http://schemas.microsoft.com/office/drawing/2014/main" id="{B904D5D5-4D89-4AAE-8F39-1AD0B238A800}"/>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[23], [24]</a:t>
            </a:r>
          </a:p>
        </p:txBody>
      </p:sp>
    </p:spTree>
    <p:extLst>
      <p:ext uri="{BB962C8B-B14F-4D97-AF65-F5344CB8AC3E}">
        <p14:creationId xmlns:p14="http://schemas.microsoft.com/office/powerpoint/2010/main" val="51278213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4A9F4D-BF19-4AC2-9764-22821BEB7CA1}"/>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Мимоза: как сигнал запускает движение</a:t>
            </a:r>
          </a:p>
        </p:txBody>
      </p:sp>
      <p:sp>
        <p:nvSpPr>
          <p:cNvPr id="2" name="">
            <a:extLst xmlns:a="http://schemas.openxmlformats.org/drawingml/2006/main">
              <a:ext uri="{FF2B5EF4-FFF2-40B4-BE49-F238E27FC236}">
                <a16:creationId xmlns:a16="http://schemas.microsoft.com/office/drawing/2014/main" id="{34CC66E9-453B-46F9-9E1E-CE8880771A29}"/>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FCC05603-25C1-4701-87BC-AA9B421CF67D}"/>
              </a:ext>
            </a:extLst>
          </p:cNvPr>
          <p:cNvSpPr>
            <a:spLocks xmlns:a="http://schemas.openxmlformats.org/drawingml/2006/main" noGrp="1"/>
          </p:cNvSpPr>
          <p:nvPr/>
        </p:nvSpPr>
        <p:spPr>
          <a:xfrm xmlns:a="http://schemas.openxmlformats.org/drawingml/2006/main">
            <a:off x="609600" y="14192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Прикосновение к кончику листа запускает электрический</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и кальциевый сигналы вдоль его оси.</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1fc3f74954b486e"/>
          <a:srcRect xmlns:a="http://schemas.openxmlformats.org/drawingml/2006/main" l="0" t="0" r="0" b="77804"/>
          <a:stretch xmlns:a="http://schemas.openxmlformats.org/drawingml/2006/main"/>
        </p:blipFill>
        <p:spPr>
          <a:xfrm xmlns:a="http://schemas.openxmlformats.org/drawingml/2006/main">
            <a:off x="609600" y="2466975"/>
            <a:ext cx="7715250" cy="32289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7CCFC25-EF29-4D43-9687-215A040374D4}"/>
              </a:ext>
            </a:extLst>
          </p:cNvPr>
          <p:cNvSpPr>
            <a:spLocks xmlns:a="http://schemas.openxmlformats.org/drawingml/2006/main" noGrp="1"/>
          </p:cNvSpPr>
          <p:nvPr/>
        </p:nvSpPr>
        <p:spPr>
          <a:xfrm xmlns:a="http://schemas.openxmlformats.org/drawingml/2006/main">
            <a:off x="8743950" y="2581275"/>
            <a:ext cx="2838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47705A"/>
                </a:solidFill>
                <a:latin typeface="Arial"/>
                <a:ea typeface="Arial"/>
                <a:cs typeface="Arial"/>
              </a:defRPr>
            </a:pPr>
            <a:r>
              <a:rPr sz="2250" b="1">
                <a:solidFill>
                  <a:srgbClr val="47705A"/>
                </a:solidFill>
                <a:latin typeface="Arial"/>
                <a:ea typeface="Arial"/>
                <a:cs typeface="Arial"/>
              </a:rPr>
              <a:t>1 → 3 → 12 с</a:t>
            </a:r>
          </a:p>
        </p:txBody>
      </p:sp>
      <p:sp>
        <p:nvSpPr>
          <p:cNvPr id="6" name="">
            <a:extLst xmlns:a="http://schemas.openxmlformats.org/drawingml/2006/main">
              <a:ext uri="{FF2B5EF4-FFF2-40B4-BE49-F238E27FC236}">
                <a16:creationId xmlns:a16="http://schemas.microsoft.com/office/drawing/2014/main" id="{F70086C6-778F-4F47-9C74-4714A166260A}"/>
              </a:ext>
            </a:extLst>
          </p:cNvPr>
          <p:cNvSpPr>
            <a:spLocks xmlns:a="http://schemas.openxmlformats.org/drawingml/2006/main" noGrp="1"/>
          </p:cNvSpPr>
          <p:nvPr/>
        </p:nvSpPr>
        <p:spPr>
          <a:xfrm xmlns:a="http://schemas.openxmlformats.org/drawingml/2006/main">
            <a:off x="8743950" y="3209925"/>
            <a:ext cx="28384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Светлые участки:</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подъём Ca²⁺</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в основаниях</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листочков.</a:t>
            </a:r>
          </a:p>
        </p:txBody>
      </p:sp>
      <p:sp>
        <p:nvSpPr>
          <p:cNvPr id="7" name="">
            <a:extLst xmlns:a="http://schemas.openxmlformats.org/drawingml/2006/main">
              <a:ext uri="{FF2B5EF4-FFF2-40B4-BE49-F238E27FC236}">
                <a16:creationId xmlns:a16="http://schemas.microsoft.com/office/drawing/2014/main" id="{21D6BC02-A52B-48D3-A9C5-696FF4458D20}"/>
              </a:ext>
            </a:extLst>
          </p:cNvPr>
          <p:cNvSpPr>
            <a:spLocks xmlns:a="http://schemas.openxmlformats.org/drawingml/2006/main" noGrp="1"/>
          </p:cNvSpPr>
          <p:nvPr/>
        </p:nvSpPr>
        <p:spPr>
          <a:xfrm xmlns:a="http://schemas.openxmlformats.org/drawingml/2006/main">
            <a:off x="8743950" y="4886325"/>
            <a:ext cx="28384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Листочки</a:t>
            </a:r>
          </a:p>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складываются</a:t>
            </a:r>
          </a:p>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по очереди.</a:t>
            </a:r>
          </a:p>
        </p:txBody>
      </p:sp>
      <p:sp>
        <p:nvSpPr>
          <p:cNvPr id="8" name="">
            <a:extLst xmlns:a="http://schemas.openxmlformats.org/drawingml/2006/main">
              <a:ext uri="{FF2B5EF4-FFF2-40B4-BE49-F238E27FC236}">
                <a16:creationId xmlns:a16="http://schemas.microsoft.com/office/drawing/2014/main" id="{4D7FFA24-FB4C-47D3-8500-D53818F42DA7}"/>
              </a:ext>
            </a:extLst>
          </p:cNvPr>
          <p:cNvSpPr>
            <a:spLocks xmlns:a="http://schemas.openxmlformats.org/drawingml/2006/main" noGrp="1"/>
          </p:cNvSpPr>
          <p:nvPr/>
        </p:nvSpPr>
        <p:spPr>
          <a:xfrm xmlns:a="http://schemas.openxmlformats.org/drawingml/2006/main">
            <a:off x="609600" y="60388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63B31"/>
                </a:solidFill>
                <a:latin typeface="Arial"/>
                <a:ea typeface="Arial"/>
                <a:cs typeface="Arial"/>
              </a:defRPr>
            </a:pPr>
            <a:r>
              <a:rPr sz="1725" b="0">
                <a:solidFill>
                  <a:srgbClr val="263B31"/>
                </a:solidFill>
                <a:latin typeface="Arial"/>
                <a:ea typeface="Arial"/>
                <a:cs typeface="Arial"/>
              </a:rPr>
              <a:t>Источник: Hagihara et al., 2022, Fig. 1a. DOI: 10.1038/s41467-022-34106-x</a:t>
            </a:r>
          </a:p>
        </p:txBody>
      </p:sp>
      <p:sp>
        <p:nvSpPr>
          <p:cNvPr id="9" name="">
            <a:extLst xmlns:a="http://schemas.openxmlformats.org/drawingml/2006/main">
              <a:ext uri="{FF2B5EF4-FFF2-40B4-BE49-F238E27FC236}">
                <a16:creationId xmlns:a16="http://schemas.microsoft.com/office/drawing/2014/main" id="{4D063129-D40A-40B1-B588-2D2EC40654AB}"/>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[23]</a:t>
            </a:r>
          </a:p>
        </p:txBody>
      </p:sp>
    </p:spTree>
    <p:extLst>
      <p:ext uri="{BB962C8B-B14F-4D97-AF65-F5344CB8AC3E}">
        <p14:creationId xmlns:p14="http://schemas.microsoft.com/office/powerpoint/2010/main" val="255650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4" idx="3"/>
            <a:endCxn xmlns:a="http://schemas.openxmlformats.org/drawingml/2006/main" id="6" idx="1"/>
          </p:cNvCxnSpPr>
          <p:nvPr/>
        </p:nvCxnSpPr>
        <p:spPr>
          <a:xfrm xmlns:a="http://schemas.openxmlformats.org/drawingml/2006/main">
            <a:off x="7781925" y="2114550"/>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3981450" y="2114550"/>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6" name="">
            <a:extLst xmlns:a="http://schemas.openxmlformats.org/drawingml/2006/main">
              <a:ext uri="{FF2B5EF4-FFF2-40B4-BE49-F238E27FC236}">
                <a16:creationId xmlns:a16="http://schemas.microsoft.com/office/drawing/2014/main" id="{0C301CCD-8143-45A8-AB69-9733B6CDEC09}"/>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Мимоза: работа двигательной подушечки</a:t>
            </a:r>
          </a:p>
        </p:txBody>
      </p:sp>
      <p:sp>
        <p:nvSpPr>
          <p:cNvPr id="2" name="">
            <a:extLst xmlns:a="http://schemas.openxmlformats.org/drawingml/2006/main">
              <a:ext uri="{FF2B5EF4-FFF2-40B4-BE49-F238E27FC236}">
                <a16:creationId xmlns:a16="http://schemas.microsoft.com/office/drawing/2014/main" id="{196A464F-77EF-4FBF-B42D-0B757E1E907A}"/>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8968E59E-1178-4946-A578-773383F05252}"/>
              </a:ext>
            </a:extLst>
          </p:cNvPr>
          <p:cNvSpPr>
            <a:spLocks xmlns:a="http://schemas.openxmlformats.org/drawingml/2006/main" noGrp="1"/>
          </p:cNvSpPr>
          <p:nvPr/>
        </p:nvSpPr>
        <p:spPr>
          <a:xfrm xmlns:a="http://schemas.openxmlformats.org/drawingml/2006/main">
            <a:off x="609600" y="1619250"/>
            <a:ext cx="3371850" cy="990600"/>
          </a:xfrm>
          <a:prstGeom xmlns:a="http://schemas.openxmlformats.org/drawingml/2006/main" prst="roundRect">
            <a:avLst>
              <a:gd name="adj" fmla="val 15385"/>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Электрический</a:t>
            </a:r>
          </a:p>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сигнал и Ca²⁺</a:t>
            </a:r>
          </a:p>
        </p:txBody>
      </p:sp>
      <p:sp>
        <p:nvSpPr>
          <p:cNvPr id="4" name="">
            <a:extLst xmlns:a="http://schemas.openxmlformats.org/drawingml/2006/main">
              <a:ext uri="{FF2B5EF4-FFF2-40B4-BE49-F238E27FC236}">
                <a16:creationId xmlns:a16="http://schemas.microsoft.com/office/drawing/2014/main" id="{2C0F5EF2-04D5-4B56-80DA-506F6860AE94}"/>
              </a:ext>
            </a:extLst>
          </p:cNvPr>
          <p:cNvSpPr>
            <a:spLocks xmlns:a="http://schemas.openxmlformats.org/drawingml/2006/main" noGrp="1"/>
          </p:cNvSpPr>
          <p:nvPr/>
        </p:nvSpPr>
        <p:spPr>
          <a:xfrm xmlns:a="http://schemas.openxmlformats.org/drawingml/2006/main">
            <a:off x="4410075" y="1619250"/>
            <a:ext cx="3371850" cy="990600"/>
          </a:xfrm>
          <a:prstGeom xmlns:a="http://schemas.openxmlformats.org/drawingml/2006/main" prst="roundRect">
            <a:avLst>
              <a:gd name="adj" fmla="val 15385"/>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Выход K⁺, Cl⁻</a:t>
            </a:r>
          </a:p>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и воды</a:t>
            </a:r>
          </a:p>
        </p:txBody>
      </p:sp>
      <p:sp>
        <p:nvSpPr>
          <p:cNvPr id="6" name="">
            <a:extLst xmlns:a="http://schemas.openxmlformats.org/drawingml/2006/main">
              <a:ext uri="{FF2B5EF4-FFF2-40B4-BE49-F238E27FC236}">
                <a16:creationId xmlns:a16="http://schemas.microsoft.com/office/drawing/2014/main" id="{AF6157C5-9F3B-4B03-A0EA-88490D86C6FD}"/>
              </a:ext>
            </a:extLst>
          </p:cNvPr>
          <p:cNvSpPr>
            <a:spLocks xmlns:a="http://schemas.openxmlformats.org/drawingml/2006/main" noGrp="1"/>
          </p:cNvSpPr>
          <p:nvPr/>
        </p:nvSpPr>
        <p:spPr>
          <a:xfrm xmlns:a="http://schemas.openxmlformats.org/drawingml/2006/main">
            <a:off x="8210550" y="1619250"/>
            <a:ext cx="3371850" cy="990600"/>
          </a:xfrm>
          <a:prstGeom xmlns:a="http://schemas.openxmlformats.org/drawingml/2006/main" prst="roundRect">
            <a:avLst>
              <a:gd name="adj" fmla="val 15385"/>
            </a:avLst>
          </a:prstGeom>
          <a:solidFill xmlns:a="http://schemas.openxmlformats.org/drawingml/2006/main">
            <a:srgbClr val="F6E7D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Падение тургора</a:t>
            </a:r>
          </a:p>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моторных клеток</a:t>
            </a:r>
          </a:p>
        </p:txBody>
      </p:sp>
      <p:sp>
        <p:nvSpPr>
          <p:cNvPr id="8" name="">
            <a:extLst xmlns:a="http://schemas.openxmlformats.org/drawingml/2006/main">
              <a:ext uri="{FF2B5EF4-FFF2-40B4-BE49-F238E27FC236}">
                <a16:creationId xmlns:a16="http://schemas.microsoft.com/office/drawing/2014/main" id="{5282A581-57E5-4851-90C5-68033246BE7E}"/>
              </a:ext>
            </a:extLst>
          </p:cNvPr>
          <p:cNvSpPr>
            <a:spLocks xmlns:a="http://schemas.openxmlformats.org/drawingml/2006/main" noGrp="1"/>
          </p:cNvSpPr>
          <p:nvPr/>
        </p:nvSpPr>
        <p:spPr>
          <a:xfrm xmlns:a="http://schemas.openxmlformats.org/drawingml/2006/main">
            <a:off x="609600" y="3124200"/>
            <a:ext cx="5191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3B31"/>
                </a:solidFill>
                <a:latin typeface="Arial"/>
                <a:ea typeface="Arial"/>
                <a:cs typeface="Arial"/>
              </a:defRPr>
            </a:pPr>
            <a:r>
              <a:rPr sz="2475" b="1">
                <a:solidFill>
                  <a:srgbClr val="263B31"/>
                </a:solidFill>
                <a:latin typeface="Arial"/>
                <a:ea typeface="Arial"/>
                <a:cs typeface="Arial"/>
              </a:rPr>
              <a:t>Подушечка в основании листочка</a:t>
            </a:r>
          </a:p>
        </p:txBody>
      </p:sp>
      <p:sp>
        <p:nvSpPr>
          <p:cNvPr id="9" name="">
            <a:extLst xmlns:a="http://schemas.openxmlformats.org/drawingml/2006/main">
              <a:ext uri="{FF2B5EF4-FFF2-40B4-BE49-F238E27FC236}">
                <a16:creationId xmlns:a16="http://schemas.microsoft.com/office/drawing/2014/main" id="{0BFB8C05-BE3D-4C57-A8B3-3E7614E60649}"/>
              </a:ext>
            </a:extLst>
          </p:cNvPr>
          <p:cNvSpPr>
            <a:spLocks xmlns:a="http://schemas.openxmlformats.org/drawingml/2006/main" noGrp="1"/>
          </p:cNvSpPr>
          <p:nvPr/>
        </p:nvSpPr>
        <p:spPr>
          <a:xfrm xmlns:a="http://schemas.openxmlformats.org/drawingml/2006/main">
            <a:off x="609600" y="4038600"/>
            <a:ext cx="519112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Живая моторная паренхима меняет объём.</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Неодинаковое изменение тургора</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на двух сторонах сгибает орган.</a:t>
            </a:r>
          </a:p>
        </p:txBody>
      </p:sp>
      <p:sp>
        <p:nvSpPr>
          <p:cNvPr id="10" name="">
            <a:extLst xmlns:a="http://schemas.openxmlformats.org/drawingml/2006/main">
              <a:ext uri="{FF2B5EF4-FFF2-40B4-BE49-F238E27FC236}">
                <a16:creationId xmlns:a16="http://schemas.microsoft.com/office/drawing/2014/main" id="{C0A6FF02-8364-4CE2-BB9F-6B7208F4EAE8}"/>
              </a:ext>
            </a:extLst>
          </p:cNvPr>
          <p:cNvSpPr>
            <a:spLocks xmlns:a="http://schemas.openxmlformats.org/drawingml/2006/main" noGrp="1"/>
          </p:cNvSpPr>
          <p:nvPr/>
        </p:nvSpPr>
        <p:spPr>
          <a:xfrm xmlns:a="http://schemas.openxmlformats.org/drawingml/2006/main">
            <a:off x="6524625" y="3124200"/>
            <a:ext cx="5057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3B31"/>
                </a:solidFill>
                <a:latin typeface="Arial"/>
                <a:ea typeface="Arial"/>
                <a:cs typeface="Arial"/>
              </a:defRPr>
            </a:pPr>
            <a:r>
              <a:rPr sz="2475" b="1">
                <a:solidFill>
                  <a:srgbClr val="263B31"/>
                </a:solidFill>
                <a:latin typeface="Arial"/>
                <a:ea typeface="Arial"/>
                <a:cs typeface="Arial"/>
              </a:rPr>
              <a:t>Ткани сохраняют подвижность</a:t>
            </a:r>
          </a:p>
        </p:txBody>
      </p:sp>
      <p:sp>
        <p:nvSpPr>
          <p:cNvPr id="11" name="">
            <a:extLst xmlns:a="http://schemas.openxmlformats.org/drawingml/2006/main">
              <a:ext uri="{FF2B5EF4-FFF2-40B4-BE49-F238E27FC236}">
                <a16:creationId xmlns:a16="http://schemas.microsoft.com/office/drawing/2014/main" id="{92E40889-B28A-4427-893E-1E0BC53C493B}"/>
              </a:ext>
            </a:extLst>
          </p:cNvPr>
          <p:cNvSpPr>
            <a:spLocks xmlns:a="http://schemas.openxmlformats.org/drawingml/2006/main" noGrp="1"/>
          </p:cNvSpPr>
          <p:nvPr/>
        </p:nvSpPr>
        <p:spPr>
          <a:xfrm xmlns:a="http://schemas.openxmlformats.org/drawingml/2006/main">
            <a:off x="6524625" y="4038600"/>
            <a:ext cx="50577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Проводящий пучок изгибается.</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Складчатая эпидерма допускает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изменение формы подушечки.</a:t>
            </a:r>
          </a:p>
        </p:txBody>
      </p:sp>
      <p:sp>
        <p:nvSpPr>
          <p:cNvPr id="12" name="">
            <a:extLst xmlns:a="http://schemas.openxmlformats.org/drawingml/2006/main">
              <a:ext uri="{FF2B5EF4-FFF2-40B4-BE49-F238E27FC236}">
                <a16:creationId xmlns:a16="http://schemas.microsoft.com/office/drawing/2014/main" id="{D3A8D895-CE16-4A35-87A3-1671062118F0}"/>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47705A"/>
                </a:solidFill>
                <a:latin typeface="Arial"/>
                <a:ea typeface="Arial"/>
                <a:cs typeface="Arial"/>
              </a:defRPr>
            </a:pPr>
            <a:r>
              <a:rPr sz="2175" b="1">
                <a:solidFill>
                  <a:srgbClr val="47705A"/>
                </a:solidFill>
                <a:latin typeface="Arial"/>
                <a:ea typeface="Arial"/>
                <a:cs typeface="Arial"/>
              </a:rPr>
              <a:t>Восстановление: ионные насосы возвращают градиенты,</a:t>
            </a:r>
          </a:p>
          <a:p xmlns:a="http://schemas.openxmlformats.org/drawingml/2006/main">
            <a:pPr algn="l">
              <a:defRPr sz="2175" b="1">
                <a:solidFill>
                  <a:srgbClr val="47705A"/>
                </a:solidFill>
                <a:latin typeface="Arial"/>
                <a:ea typeface="Arial"/>
                <a:cs typeface="Arial"/>
              </a:defRPr>
            </a:pPr>
            <a:r>
              <a:rPr sz="2175" b="1">
                <a:solidFill>
                  <a:srgbClr val="47705A"/>
                </a:solidFill>
                <a:latin typeface="Arial"/>
                <a:ea typeface="Arial"/>
                <a:cs typeface="Arial"/>
              </a:rPr>
              <a:t>вода входит в клетки.</a:t>
            </a:r>
          </a:p>
        </p:txBody>
      </p:sp>
      <p:sp>
        <p:nvSpPr>
          <p:cNvPr id="13" name="">
            <a:extLst xmlns:a="http://schemas.openxmlformats.org/drawingml/2006/main">
              <a:ext uri="{FF2B5EF4-FFF2-40B4-BE49-F238E27FC236}">
                <a16:creationId xmlns:a16="http://schemas.microsoft.com/office/drawing/2014/main" id="{AE3CCF1C-D1A3-479F-A34A-9EE18CCF1AD4}"/>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[3], [20], [21], [22], [23]</a:t>
            </a:r>
          </a:p>
        </p:txBody>
      </p:sp>
    </p:spTree>
    <p:extLst>
      <p:ext uri="{BB962C8B-B14F-4D97-AF65-F5344CB8AC3E}">
        <p14:creationId xmlns:p14="http://schemas.microsoft.com/office/powerpoint/2010/main" val="67864356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028F79-330C-463A-B570-85F729961769}"/>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Почему выбрана абсцизовая кислота</a:t>
            </a:r>
          </a:p>
        </p:txBody>
      </p:sp>
      <p:sp>
        <p:nvSpPr>
          <p:cNvPr id="2" name="">
            <a:extLst xmlns:a="http://schemas.openxmlformats.org/drawingml/2006/main">
              <a:ext uri="{FF2B5EF4-FFF2-40B4-BE49-F238E27FC236}">
                <a16:creationId xmlns:a16="http://schemas.microsoft.com/office/drawing/2014/main" id="{456F1D40-9FDD-4A59-AF12-2A62DE8DB26F}"/>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DA68FE80-F51F-4843-A3F2-2C2BF332ADA2}"/>
              </a:ext>
            </a:extLst>
          </p:cNvPr>
          <p:cNvSpPr>
            <a:spLocks xmlns:a="http://schemas.openxmlformats.org/drawingml/2006/main" noGrp="1"/>
          </p:cNvSpPr>
          <p:nvPr/>
        </p:nvSpPr>
        <p:spPr>
          <a:xfrm xmlns:a="http://schemas.openxmlformats.org/drawingml/2006/main">
            <a:off x="609600" y="14097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47705A"/>
                </a:solidFill>
                <a:latin typeface="Arial"/>
                <a:ea typeface="Arial"/>
                <a:cs typeface="Arial"/>
              </a:defRPr>
            </a:pPr>
            <a:r>
              <a:rPr sz="2550" b="1">
                <a:solidFill>
                  <a:srgbClr val="47705A"/>
                </a:solidFill>
                <a:latin typeface="Arial"/>
                <a:ea typeface="Arial"/>
                <a:cs typeface="Arial"/>
              </a:rPr>
              <a:t>Уровень АБК настраивает спусковые клетки звукового узла.</a:t>
            </a:r>
          </a:p>
        </p:txBody>
      </p:sp>
      <p:sp>
        <p:nvSpPr>
          <p:cNvPr id="4" name="">
            <a:extLst xmlns:a="http://schemas.openxmlformats.org/drawingml/2006/main">
              <a:ext uri="{FF2B5EF4-FFF2-40B4-BE49-F238E27FC236}">
                <a16:creationId xmlns:a16="http://schemas.microsoft.com/office/drawing/2014/main" id="{9884A2E1-1DA3-4266-9D94-393EC0F78F6C}"/>
              </a:ext>
            </a:extLst>
          </p:cNvPr>
          <p:cNvSpPr>
            <a:spLocks xmlns:a="http://schemas.openxmlformats.org/drawingml/2006/main" noGrp="1"/>
          </p:cNvSpPr>
          <p:nvPr/>
        </p:nvSpPr>
        <p:spPr>
          <a:xfrm xmlns:a="http://schemas.openxmlformats.org/drawingml/2006/main">
            <a:off x="609600" y="224790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Почему подходит</a:t>
            </a:r>
          </a:p>
        </p:txBody>
      </p:sp>
      <p:sp>
        <p:nvSpPr>
          <p:cNvPr id="5" name="">
            <a:extLst xmlns:a="http://schemas.openxmlformats.org/drawingml/2006/main">
              <a:ext uri="{FF2B5EF4-FFF2-40B4-BE49-F238E27FC236}">
                <a16:creationId xmlns:a16="http://schemas.microsoft.com/office/drawing/2014/main" id="{01613DEE-4DB4-4A91-913C-37B39AE7B80E}"/>
              </a:ext>
            </a:extLst>
          </p:cNvPr>
          <p:cNvSpPr>
            <a:spLocks xmlns:a="http://schemas.openxmlformats.org/drawingml/2006/main" noGrp="1"/>
          </p:cNvSpPr>
          <p:nvPr/>
        </p:nvSpPr>
        <p:spPr>
          <a:xfrm xmlns:a="http://schemas.openxmlformats.org/drawingml/2006/main">
            <a:off x="609600" y="2905125"/>
            <a:ext cx="509587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Протопласты моторных клеток</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фасоли под действием АБК</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уменьшаются. Ауксин в том же</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опыте вызывает набухание.</a:t>
            </a:r>
          </a:p>
        </p:txBody>
      </p:sp>
      <p:sp>
        <p:nvSpPr>
          <p:cNvPr id="6" name="">
            <a:extLst xmlns:a="http://schemas.openxmlformats.org/drawingml/2006/main">
              <a:ext uri="{FF2B5EF4-FFF2-40B4-BE49-F238E27FC236}">
                <a16:creationId xmlns:a16="http://schemas.microsoft.com/office/drawing/2014/main" id="{6E849430-87F5-4A93-95A1-5E55E6D24826}"/>
              </a:ext>
            </a:extLst>
          </p:cNvPr>
          <p:cNvSpPr>
            <a:spLocks xmlns:a="http://schemas.openxmlformats.org/drawingml/2006/main" noGrp="1"/>
          </p:cNvSpPr>
          <p:nvPr/>
        </p:nvSpPr>
        <p:spPr>
          <a:xfrm xmlns:a="http://schemas.openxmlformats.org/drawingml/2006/main">
            <a:off x="609600" y="4819650"/>
            <a:ext cx="50958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В замыкающих клетках АБК</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усиливает чувствительность</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ионных каналов к Ca²⁺.</a:t>
            </a:r>
          </a:p>
        </p:txBody>
      </p:sp>
      <p:sp>
        <p:nvSpPr>
          <p:cNvPr id="7" name="">
            <a:extLst xmlns:a="http://schemas.openxmlformats.org/drawingml/2006/main">
              <a:ext uri="{FF2B5EF4-FFF2-40B4-BE49-F238E27FC236}">
                <a16:creationId xmlns:a16="http://schemas.microsoft.com/office/drawing/2014/main" id="{E7D1E6B0-9599-45A7-A587-65EB9A9B7D28}"/>
              </a:ext>
            </a:extLst>
          </p:cNvPr>
          <p:cNvSpPr>
            <a:spLocks xmlns:a="http://schemas.openxmlformats.org/drawingml/2006/main" noGrp="1"/>
          </p:cNvSpPr>
          <p:nvPr/>
        </p:nvSpPr>
        <p:spPr>
          <a:xfrm xmlns:a="http://schemas.openxmlformats.org/drawingml/2006/main">
            <a:off x="6448425" y="2247900"/>
            <a:ext cx="5133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Как используем в модели</a:t>
            </a:r>
          </a:p>
        </p:txBody>
      </p:sp>
      <p:sp>
        <p:nvSpPr>
          <p:cNvPr id="8" name="">
            <a:extLst xmlns:a="http://schemas.openxmlformats.org/drawingml/2006/main">
              <a:ext uri="{FF2B5EF4-FFF2-40B4-BE49-F238E27FC236}">
                <a16:creationId xmlns:a16="http://schemas.microsoft.com/office/drawing/2014/main" id="{ECAA495C-7039-4D39-94C7-4531293F0EDC}"/>
              </a:ext>
            </a:extLst>
          </p:cNvPr>
          <p:cNvSpPr>
            <a:spLocks xmlns:a="http://schemas.openxmlformats.org/drawingml/2006/main" noGrp="1"/>
          </p:cNvSpPr>
          <p:nvPr/>
        </p:nvSpPr>
        <p:spPr>
          <a:xfrm xmlns:a="http://schemas.openxmlformats.org/drawingml/2006/main">
            <a:off x="6448425" y="2905125"/>
            <a:ext cx="513397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До серии АБК настраивает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чувствительность спусков.</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Четыре группы клеток имеют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разные пороги ответа.</a:t>
            </a:r>
          </a:p>
        </p:txBody>
      </p:sp>
      <p:sp>
        <p:nvSpPr>
          <p:cNvPr id="9" name="">
            <a:extLst xmlns:a="http://schemas.openxmlformats.org/drawingml/2006/main">
              <a:ext uri="{FF2B5EF4-FFF2-40B4-BE49-F238E27FC236}">
                <a16:creationId xmlns:a16="http://schemas.microsoft.com/office/drawing/2014/main" id="{996A9A0F-9871-44C8-AE36-293319E499C5}"/>
              </a:ext>
            </a:extLst>
          </p:cNvPr>
          <p:cNvSpPr>
            <a:spLocks xmlns:a="http://schemas.openxmlformats.org/drawingml/2006/main" noGrp="1"/>
          </p:cNvSpPr>
          <p:nvPr/>
        </p:nvSpPr>
        <p:spPr>
          <a:xfrm xmlns:a="http://schemas.openxmlformats.org/drawingml/2006/main">
            <a:off x="6448425" y="4819650"/>
            <a:ext cx="51339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Общая волна поднимает Ca²⁺. Подготовленные клетки теряют воду и освобождают упоры.</a:t>
            </a:r>
          </a:p>
        </p:txBody>
      </p:sp>
      <p:sp>
        <p:nvSpPr>
          <p:cNvPr id="10" name="">
            <a:extLst xmlns:a="http://schemas.openxmlformats.org/drawingml/2006/main">
              <a:ext uri="{FF2B5EF4-FFF2-40B4-BE49-F238E27FC236}">
                <a16:creationId xmlns:a16="http://schemas.microsoft.com/office/drawing/2014/main" id="{50FF9EF8-FE97-4314-AA94-FE874584362E}"/>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[25], [26]</a:t>
            </a:r>
          </a:p>
        </p:txBody>
      </p:sp>
    </p:spTree>
    <p:extLst>
      <p:ext uri="{BB962C8B-B14F-4D97-AF65-F5344CB8AC3E}">
        <p14:creationId xmlns:p14="http://schemas.microsoft.com/office/powerpoint/2010/main" val="66829801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8CEEB1-4EFD-4431-8EBC-64BB2A8BAC4F}"/>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Почему здесь нужен быстрый сигнал</a:t>
            </a:r>
          </a:p>
        </p:txBody>
      </p:sp>
      <p:sp>
        <p:nvSpPr>
          <p:cNvPr id="2" name="">
            <a:extLst xmlns:a="http://schemas.openxmlformats.org/drawingml/2006/main">
              <a:ext uri="{FF2B5EF4-FFF2-40B4-BE49-F238E27FC236}">
                <a16:creationId xmlns:a16="http://schemas.microsoft.com/office/drawing/2014/main" id="{901B14B0-B2EC-44E8-B6EB-3FF24DA8AE3E}"/>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33</a:t>
            </a:r>
          </a:p>
        </p:txBody>
      </p:sp>
      <p:sp>
        <p:nvSpPr>
          <p:cNvPr id="3" name="">
            <a:extLst xmlns:a="http://schemas.openxmlformats.org/drawingml/2006/main">
              <a:ext uri="{FF2B5EF4-FFF2-40B4-BE49-F238E27FC236}">
                <a16:creationId xmlns:a16="http://schemas.microsoft.com/office/drawing/2014/main" id="{832739E2-9B0F-4A67-8694-E8C5136785EE}"/>
              </a:ext>
            </a:extLst>
          </p:cNvPr>
          <p:cNvSpPr>
            <a:spLocks xmlns:a="http://schemas.openxmlformats.org/drawingml/2006/main" noGrp="1"/>
          </p:cNvSpPr>
          <p:nvPr/>
        </p:nvSpPr>
        <p:spPr>
          <a:xfrm xmlns:a="http://schemas.openxmlformats.org/drawingml/2006/main">
            <a:off x="609600" y="1619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Запас меняется после каждого посещения</a:t>
            </a:r>
          </a:p>
        </p:txBody>
      </p:sp>
      <p:sp>
        <p:nvSpPr>
          <p:cNvPr id="4" name="">
            <a:extLst xmlns:a="http://schemas.openxmlformats.org/drawingml/2006/main">
              <a:ext uri="{FF2B5EF4-FFF2-40B4-BE49-F238E27FC236}">
                <a16:creationId xmlns:a16="http://schemas.microsoft.com/office/drawing/2014/main" id="{18CDCC2D-FCD7-44CD-BABA-F512F86AC43B}"/>
              </a:ext>
            </a:extLst>
          </p:cNvPr>
          <p:cNvSpPr>
            <a:spLocks xmlns:a="http://schemas.openxmlformats.org/drawingml/2006/main" noGrp="1"/>
          </p:cNvSpPr>
          <p:nvPr/>
        </p:nvSpPr>
        <p:spPr>
          <a:xfrm xmlns:a="http://schemas.openxmlformats.org/drawingml/2006/main">
            <a:off x="609600" y="22288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Цветок ещё открыт и пахнет, хотя часть нектара уже выпита.</a:t>
            </a:r>
          </a:p>
        </p:txBody>
      </p:sp>
      <p:sp>
        <p:nvSpPr>
          <p:cNvPr id="5" name="">
            <a:extLst xmlns:a="http://schemas.openxmlformats.org/drawingml/2006/main">
              <a:ext uri="{FF2B5EF4-FFF2-40B4-BE49-F238E27FC236}">
                <a16:creationId xmlns:a16="http://schemas.microsoft.com/office/drawing/2014/main" id="{7E62AA98-B271-422B-8146-5980D7038B9C}"/>
              </a:ext>
            </a:extLst>
          </p:cNvPr>
          <p:cNvSpPr>
            <a:spLocks xmlns:a="http://schemas.openxmlformats.org/drawingml/2006/main" noGrp="1"/>
          </p:cNvSpPr>
          <p:nvPr/>
        </p:nvSpPr>
        <p:spPr>
          <a:xfrm xmlns:a="http://schemas.openxmlformats.org/drawingml/2006/main">
            <a:off x="609600" y="3181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Сообщение можно быстро обновить</a:t>
            </a:r>
          </a:p>
        </p:txBody>
      </p:sp>
      <p:sp>
        <p:nvSpPr>
          <p:cNvPr id="6" name="">
            <a:extLst xmlns:a="http://schemas.openxmlformats.org/drawingml/2006/main">
              <a:ext uri="{FF2B5EF4-FFF2-40B4-BE49-F238E27FC236}">
                <a16:creationId xmlns:a16="http://schemas.microsoft.com/office/drawing/2014/main" id="{221CBA73-B0ED-4F20-B33F-B21CC32FB3CE}"/>
              </a:ext>
            </a:extLst>
          </p:cNvPr>
          <p:cNvSpPr>
            <a:spLocks xmlns:a="http://schemas.openxmlformats.org/drawingml/2006/main" noGrp="1"/>
          </p:cNvSpPr>
          <p:nvPr/>
        </p:nvSpPr>
        <p:spPr>
          <a:xfrm xmlns:a="http://schemas.openxmlformats.org/drawingml/2006/main">
            <a:off x="609600" y="37909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Звук сообщает о текущем запасе; старый запах может сохраняться.</a:t>
            </a:r>
          </a:p>
        </p:txBody>
      </p:sp>
      <p:sp>
        <p:nvSpPr>
          <p:cNvPr id="7" name="">
            <a:extLst xmlns:a="http://schemas.openxmlformats.org/drawingml/2006/main">
              <a:ext uri="{FF2B5EF4-FFF2-40B4-BE49-F238E27FC236}">
                <a16:creationId xmlns:a16="http://schemas.microsoft.com/office/drawing/2014/main" id="{C0A5D33D-31F0-439D-A848-7DE0EA43E9C8}"/>
              </a:ext>
            </a:extLst>
          </p:cNvPr>
          <p:cNvSpPr>
            <a:spLocks xmlns:a="http://schemas.openxmlformats.org/drawingml/2006/main" noGrp="1"/>
          </p:cNvSpPr>
          <p:nvPr/>
        </p:nvSpPr>
        <p:spPr>
          <a:xfrm xmlns:a="http://schemas.openxmlformats.org/drawingml/2006/main">
            <a:off x="609600" y="47434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Быстрая реакция полезна растению</a:t>
            </a:r>
          </a:p>
        </p:txBody>
      </p:sp>
      <p:sp>
        <p:nvSpPr>
          <p:cNvPr id="8" name="">
            <a:extLst xmlns:a="http://schemas.openxmlformats.org/drawingml/2006/main">
              <a:ext uri="{FF2B5EF4-FFF2-40B4-BE49-F238E27FC236}">
                <a16:creationId xmlns:a16="http://schemas.microsoft.com/office/drawing/2014/main" id="{6BC22EE6-0FF0-4AF9-8CC4-9569258F1A7D}"/>
              </a:ext>
            </a:extLst>
          </p:cNvPr>
          <p:cNvSpPr>
            <a:spLocks xmlns:a="http://schemas.openxmlformats.org/drawingml/2006/main" noGrp="1"/>
          </p:cNvSpPr>
          <p:nvPr/>
        </p:nvSpPr>
        <p:spPr>
          <a:xfrm xmlns:a="http://schemas.openxmlformats.org/drawingml/2006/main">
            <a:off x="609600" y="5353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Опыление происходит, пока цветки восприимчивы.</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Охотник находит вредителя до того, как тот уйдёт.</a:t>
            </a:r>
          </a:p>
        </p:txBody>
      </p:sp>
      <p:sp>
        <p:nvSpPr>
          <p:cNvPr id="9" name="">
            <a:extLst xmlns:a="http://schemas.openxmlformats.org/drawingml/2006/main">
              <a:ext uri="{FF2B5EF4-FFF2-40B4-BE49-F238E27FC236}">
                <a16:creationId xmlns:a16="http://schemas.microsoft.com/office/drawing/2014/main" id="{84741F81-5D4B-475D-AAE5-17733B2481E2}"/>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[7]</a:t>
            </a:r>
          </a:p>
        </p:txBody>
      </p:sp>
    </p:spTree>
    <p:extLst>
      <p:ext uri="{BB962C8B-B14F-4D97-AF65-F5344CB8AC3E}">
        <p14:creationId xmlns:p14="http://schemas.microsoft.com/office/powerpoint/2010/main" val="129168679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8" idx="1"/>
          </p:cNvCxnSpPr>
          <p:nvPr/>
        </p:nvCxnSpPr>
        <p:spPr>
          <a:xfrm xmlns:a="http://schemas.openxmlformats.org/drawingml/2006/main">
            <a:off x="8732044" y="2295525"/>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5" name=""/>
          <p:cNvCxnSpPr>
            <a:stCxn xmlns:a="http://schemas.openxmlformats.org/drawingml/2006/main" id="4" idx="3"/>
            <a:endCxn xmlns:a="http://schemas.openxmlformats.org/drawingml/2006/main" id="6" idx="1"/>
          </p:cNvCxnSpPr>
          <p:nvPr/>
        </p:nvCxnSpPr>
        <p:spPr>
          <a:xfrm xmlns:a="http://schemas.openxmlformats.org/drawingml/2006/main">
            <a:off x="5881687" y="2295525"/>
            <a:ext cx="428626"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6" name=""/>
          <p:cNvCxnSpPr>
            <a:stCxn xmlns:a="http://schemas.openxmlformats.org/drawingml/2006/main" id="3" idx="3"/>
            <a:endCxn xmlns:a="http://schemas.openxmlformats.org/drawingml/2006/main" id="4" idx="1"/>
          </p:cNvCxnSpPr>
          <p:nvPr/>
        </p:nvCxnSpPr>
        <p:spPr>
          <a:xfrm xmlns:a="http://schemas.openxmlformats.org/drawingml/2006/main">
            <a:off x="3031331" y="2295525"/>
            <a:ext cx="428625"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7" name="">
            <a:extLst xmlns:a="http://schemas.openxmlformats.org/drawingml/2006/main">
              <a:ext uri="{FF2B5EF4-FFF2-40B4-BE49-F238E27FC236}">
                <a16:creationId xmlns:a16="http://schemas.microsoft.com/office/drawing/2014/main" id="{79099432-50D9-4A01-AEF3-3C4DA9ACA5AE}"/>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Возможное происхождение органа</a:t>
            </a:r>
          </a:p>
        </p:txBody>
      </p:sp>
      <p:sp>
        <p:nvSpPr>
          <p:cNvPr id="2" name="">
            <a:extLst xmlns:a="http://schemas.openxmlformats.org/drawingml/2006/main">
              <a:ext uri="{FF2B5EF4-FFF2-40B4-BE49-F238E27FC236}">
                <a16:creationId xmlns:a16="http://schemas.microsoft.com/office/drawing/2014/main" id="{AD09A412-F51C-4C8F-BA1E-00A91BD6BAC6}"/>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34</a:t>
            </a:r>
          </a:p>
        </p:txBody>
      </p:sp>
      <p:sp>
        <p:nvSpPr>
          <p:cNvPr id="3" name="">
            <a:extLst xmlns:a="http://schemas.openxmlformats.org/drawingml/2006/main">
              <a:ext uri="{FF2B5EF4-FFF2-40B4-BE49-F238E27FC236}">
                <a16:creationId xmlns:a16="http://schemas.microsoft.com/office/drawing/2014/main" id="{5BF3FAEC-1B29-43AB-B0C0-D798F7D8FC4E}"/>
              </a:ext>
            </a:extLst>
          </p:cNvPr>
          <p:cNvSpPr>
            <a:spLocks xmlns:a="http://schemas.openxmlformats.org/drawingml/2006/main" noGrp="1"/>
          </p:cNvSpPr>
          <p:nvPr/>
        </p:nvSpPr>
        <p:spPr>
          <a:xfrm xmlns:a="http://schemas.openxmlformats.org/drawingml/2006/main">
            <a:off x="609600" y="1800225"/>
            <a:ext cx="2421731" cy="990600"/>
          </a:xfrm>
          <a:prstGeom xmlns:a="http://schemas.openxmlformats.org/drawingml/2006/main" prst="roundRect">
            <a:avLst>
              <a:gd name="adj" fmla="val 15385"/>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Побочный щелчок</a:t>
            </a:r>
          </a:p>
        </p:txBody>
      </p:sp>
      <p:sp>
        <p:nvSpPr>
          <p:cNvPr id="4" name="">
            <a:extLst xmlns:a="http://schemas.openxmlformats.org/drawingml/2006/main">
              <a:ext uri="{FF2B5EF4-FFF2-40B4-BE49-F238E27FC236}">
                <a16:creationId xmlns:a16="http://schemas.microsoft.com/office/drawing/2014/main" id="{6AA65564-4184-4770-8459-B0FFC091DED4}"/>
              </a:ext>
            </a:extLst>
          </p:cNvPr>
          <p:cNvSpPr>
            <a:spLocks xmlns:a="http://schemas.openxmlformats.org/drawingml/2006/main" noGrp="1"/>
          </p:cNvSpPr>
          <p:nvPr/>
        </p:nvSpPr>
        <p:spPr>
          <a:xfrm xmlns:a="http://schemas.openxmlformats.org/drawingml/2006/main">
            <a:off x="3459956" y="1800225"/>
            <a:ext cx="2421731" cy="990600"/>
          </a:xfrm>
          <a:prstGeom xmlns:a="http://schemas.openxmlformats.org/drawingml/2006/main" prst="roundRect">
            <a:avLst>
              <a:gd name="adj" fmla="val 15385"/>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Реакция животного</a:t>
            </a:r>
          </a:p>
        </p:txBody>
      </p:sp>
      <p:sp>
        <p:nvSpPr>
          <p:cNvPr id="6" name="">
            <a:extLst xmlns:a="http://schemas.openxmlformats.org/drawingml/2006/main">
              <a:ext uri="{FF2B5EF4-FFF2-40B4-BE49-F238E27FC236}">
                <a16:creationId xmlns:a16="http://schemas.microsoft.com/office/drawing/2014/main" id="{47CBE724-B988-4630-AF85-D18E4A792701}"/>
              </a:ext>
            </a:extLst>
          </p:cNvPr>
          <p:cNvSpPr>
            <a:spLocks xmlns:a="http://schemas.openxmlformats.org/drawingml/2006/main" noGrp="1"/>
          </p:cNvSpPr>
          <p:nvPr/>
        </p:nvSpPr>
        <p:spPr>
          <a:xfrm xmlns:a="http://schemas.openxmlformats.org/drawingml/2006/main">
            <a:off x="6310313" y="1800225"/>
            <a:ext cx="2421731" cy="990600"/>
          </a:xfrm>
          <a:prstGeom xmlns:a="http://schemas.openxmlformats.org/drawingml/2006/main" prst="roundRect">
            <a:avLst>
              <a:gd name="adj" fmla="val 15385"/>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Усиление звука</a:t>
            </a:r>
          </a:p>
        </p:txBody>
      </p:sp>
      <p:sp>
        <p:nvSpPr>
          <p:cNvPr id="8" name="">
            <a:extLst xmlns:a="http://schemas.openxmlformats.org/drawingml/2006/main">
              <a:ext uri="{FF2B5EF4-FFF2-40B4-BE49-F238E27FC236}">
                <a16:creationId xmlns:a16="http://schemas.microsoft.com/office/drawing/2014/main" id="{80A12096-A9D5-4896-91AB-31DFD3206A1E}"/>
              </a:ext>
            </a:extLst>
          </p:cNvPr>
          <p:cNvSpPr>
            <a:spLocks xmlns:a="http://schemas.openxmlformats.org/drawingml/2006/main" noGrp="1"/>
          </p:cNvSpPr>
          <p:nvPr/>
        </p:nvSpPr>
        <p:spPr>
          <a:xfrm xmlns:a="http://schemas.openxmlformats.org/drawingml/2006/main">
            <a:off x="9160669" y="1800225"/>
            <a:ext cx="2421731" cy="990600"/>
          </a:xfrm>
          <a:prstGeom xmlns:a="http://schemas.openxmlformats.org/drawingml/2006/main" prst="roundRect">
            <a:avLst>
              <a:gd name="adj" fmla="val 15385"/>
            </a:avLst>
          </a:prstGeom>
          <a:solidFill xmlns:a="http://schemas.openxmlformats.org/drawingml/2006/main">
            <a:srgbClr val="F6E7D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325" b="1">
                <a:solidFill>
                  <a:srgbClr val="263B31"/>
                </a:solidFill>
                <a:latin typeface="Arial"/>
                <a:ea typeface="Arial"/>
                <a:cs typeface="Arial"/>
              </a:defRPr>
            </a:pPr>
            <a:r>
              <a:rPr sz="2325" b="1">
                <a:solidFill>
                  <a:srgbClr val="263B31"/>
                </a:solidFill>
                <a:latin typeface="Arial"/>
                <a:ea typeface="Arial"/>
                <a:cs typeface="Arial"/>
              </a:rPr>
              <a:t>Разные серии</a:t>
            </a:r>
          </a:p>
        </p:txBody>
      </p:sp>
      <p:sp>
        <p:nvSpPr>
          <p:cNvPr id="10" name="">
            <a:extLst xmlns:a="http://schemas.openxmlformats.org/drawingml/2006/main">
              <a:ext uri="{FF2B5EF4-FFF2-40B4-BE49-F238E27FC236}">
                <a16:creationId xmlns:a16="http://schemas.microsoft.com/office/drawing/2014/main" id="{8210547E-E998-470C-B0F0-13B1E5A1E215}"/>
              </a:ext>
            </a:extLst>
          </p:cNvPr>
          <p:cNvSpPr>
            <a:spLocks xmlns:a="http://schemas.openxmlformats.org/drawingml/2006/main" noGrp="1"/>
          </p:cNvSpPr>
          <p:nvPr/>
        </p:nvSpPr>
        <p:spPr>
          <a:xfrm xmlns:a="http://schemas.openxmlformats.org/drawingml/2006/main">
            <a:off x="647700" y="3333750"/>
            <a:ext cx="24479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Сухая ткань</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движется рядом</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с цветками.</a:t>
            </a:r>
          </a:p>
        </p:txBody>
      </p:sp>
      <p:sp>
        <p:nvSpPr>
          <p:cNvPr id="11" name="">
            <a:extLst xmlns:a="http://schemas.openxmlformats.org/drawingml/2006/main">
              <a:ext uri="{FF2B5EF4-FFF2-40B4-BE49-F238E27FC236}">
                <a16:creationId xmlns:a16="http://schemas.microsoft.com/office/drawing/2014/main" id="{EB9879CE-0548-4E3F-807B-811461583908}"/>
              </a:ext>
            </a:extLst>
          </p:cNvPr>
          <p:cNvSpPr>
            <a:spLocks xmlns:a="http://schemas.openxmlformats.org/drawingml/2006/main" noGrp="1"/>
          </p:cNvSpPr>
          <p:nvPr/>
        </p:nvSpPr>
        <p:spPr>
          <a:xfrm xmlns:a="http://schemas.openxmlformats.org/drawingml/2006/main">
            <a:off x="3524250" y="3333750"/>
            <a:ext cx="24479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Звук совпадает</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с доступностью</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нектара.</a:t>
            </a:r>
          </a:p>
        </p:txBody>
      </p:sp>
      <p:sp>
        <p:nvSpPr>
          <p:cNvPr id="12" name="">
            <a:extLst xmlns:a="http://schemas.openxmlformats.org/drawingml/2006/main">
              <a:ext uri="{FF2B5EF4-FFF2-40B4-BE49-F238E27FC236}">
                <a16:creationId xmlns:a16="http://schemas.microsoft.com/office/drawing/2014/main" id="{43F23FCA-C307-4947-BC43-62E293CA7BF5}"/>
              </a:ext>
            </a:extLst>
          </p:cNvPr>
          <p:cNvSpPr>
            <a:spLocks xmlns:a="http://schemas.openxmlformats.org/drawingml/2006/main" noGrp="1"/>
          </p:cNvSpPr>
          <p:nvPr/>
        </p:nvSpPr>
        <p:spPr>
          <a:xfrm xmlns:a="http://schemas.openxmlformats.org/drawingml/2006/main">
            <a:off x="6400800" y="3333750"/>
            <a:ext cx="24479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Посетители чаще</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находят звучащие</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соцветия.</a:t>
            </a:r>
          </a:p>
        </p:txBody>
      </p:sp>
      <p:sp>
        <p:nvSpPr>
          <p:cNvPr id="13" name="">
            <a:extLst xmlns:a="http://schemas.openxmlformats.org/drawingml/2006/main">
              <a:ext uri="{FF2B5EF4-FFF2-40B4-BE49-F238E27FC236}">
                <a16:creationId xmlns:a16="http://schemas.microsoft.com/office/drawing/2014/main" id="{50602A9E-6D77-4283-92D0-3F71F4FFDAC5}"/>
              </a:ext>
            </a:extLst>
          </p:cNvPr>
          <p:cNvSpPr>
            <a:spLocks xmlns:a="http://schemas.openxmlformats.org/drawingml/2006/main" noGrp="1"/>
          </p:cNvSpPr>
          <p:nvPr/>
        </p:nvSpPr>
        <p:spPr>
          <a:xfrm xmlns:a="http://schemas.openxmlformats.org/drawingml/2006/main">
            <a:off x="9277350" y="3333750"/>
            <a:ext cx="24479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Режим работы</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зависит от запаса</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нектара.</a:t>
            </a:r>
          </a:p>
        </p:txBody>
      </p:sp>
    </p:spTree>
    <p:extLst>
      <p:ext uri="{BB962C8B-B14F-4D97-AF65-F5344CB8AC3E}">
        <p14:creationId xmlns:p14="http://schemas.microsoft.com/office/powerpoint/2010/main" val="33043121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6683D50-357F-4C51-8F6B-E93CF7BE5043}"/>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1. Сколько щелчков за сезон</a:t>
            </a:r>
          </a:p>
        </p:txBody>
      </p:sp>
      <p:sp>
        <p:nvSpPr>
          <p:cNvPr id="2" name="">
            <a:extLst xmlns:a="http://schemas.openxmlformats.org/drawingml/2006/main">
              <a:ext uri="{FF2B5EF4-FFF2-40B4-BE49-F238E27FC236}">
                <a16:creationId xmlns:a16="http://schemas.microsoft.com/office/drawing/2014/main" id="{32C8B5E7-AEDB-4D23-B4BC-8D3A92A9248A}"/>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35</a:t>
            </a:r>
          </a:p>
        </p:txBody>
      </p:sp>
      <p:sp>
        <p:nvSpPr>
          <p:cNvPr id="3" name="">
            <a:extLst xmlns:a="http://schemas.openxmlformats.org/drawingml/2006/main">
              <a:ext uri="{FF2B5EF4-FFF2-40B4-BE49-F238E27FC236}">
                <a16:creationId xmlns:a16="http://schemas.microsoft.com/office/drawing/2014/main" id="{6E8B4B9D-42A6-401A-8033-151A135BEF13}"/>
              </a:ext>
            </a:extLst>
          </p:cNvPr>
          <p:cNvSpPr>
            <a:spLocks xmlns:a="http://schemas.openxmlformats.org/drawingml/2006/main" noGrp="1"/>
          </p:cNvSpPr>
          <p:nvPr/>
        </p:nvSpPr>
        <p:spPr>
          <a:xfrm xmlns:a="http://schemas.openxmlformats.org/drawingml/2006/main">
            <a:off x="609600" y="15811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263B31"/>
                </a:solidFill>
                <a:latin typeface="Arial"/>
                <a:ea typeface="Arial"/>
                <a:cs typeface="Arial"/>
              </a:defRPr>
            </a:pPr>
            <a:r>
              <a:rPr sz="2400" b="0">
                <a:solidFill>
                  <a:srgbClr val="263B31"/>
                </a:solidFill>
                <a:latin typeface="Arial"/>
                <a:ea typeface="Arial"/>
                <a:cs typeface="Arial"/>
              </a:rPr>
              <a:t>Считаем для одного дерева; все значения ниже — допущения.</a:t>
            </a:r>
          </a:p>
        </p:txBody>
      </p:sp>
      <p:sp>
        <p:nvSpPr>
          <p:cNvPr id="4" name="">
            <a:extLst xmlns:a="http://schemas.openxmlformats.org/drawingml/2006/main">
              <a:ext uri="{FF2B5EF4-FFF2-40B4-BE49-F238E27FC236}">
                <a16:creationId xmlns:a16="http://schemas.microsoft.com/office/drawing/2014/main" id="{D54A30B9-FA80-423A-83D7-4E32417C4FCC}"/>
              </a:ext>
            </a:extLst>
          </p:cNvPr>
          <p:cNvSpPr>
            <a:spLocks xmlns:a="http://schemas.openxmlformats.org/drawingml/2006/main" noGrp="1"/>
          </p:cNvSpPr>
          <p:nvPr/>
        </p:nvSpPr>
        <p:spPr>
          <a:xfrm xmlns:a="http://schemas.openxmlformats.org/drawingml/2006/main">
            <a:off x="609600" y="2771775"/>
            <a:ext cx="323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47705A"/>
                </a:solidFill>
                <a:latin typeface="Arial"/>
                <a:ea typeface="Arial"/>
                <a:cs typeface="Arial"/>
              </a:defRPr>
            </a:pPr>
            <a:r>
              <a:rPr sz="5850" b="1">
                <a:solidFill>
                  <a:srgbClr val="47705A"/>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DDA9942E-F6FB-488C-BD77-4A8376DB543F}"/>
              </a:ext>
            </a:extLst>
          </p:cNvPr>
          <p:cNvSpPr>
            <a:spLocks xmlns:a="http://schemas.openxmlformats.org/drawingml/2006/main" noGrp="1"/>
          </p:cNvSpPr>
          <p:nvPr/>
        </p:nvSpPr>
        <p:spPr>
          <a:xfrm xmlns:a="http://schemas.openxmlformats.org/drawingml/2006/main">
            <a:off x="609600" y="3886200"/>
            <a:ext cx="32480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звуковых узлов</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по 4 прицветника</a:t>
            </a:r>
          </a:p>
        </p:txBody>
      </p:sp>
      <p:sp>
        <p:nvSpPr>
          <p:cNvPr id="6" name="">
            <a:extLst xmlns:a="http://schemas.openxmlformats.org/drawingml/2006/main">
              <a:ext uri="{FF2B5EF4-FFF2-40B4-BE49-F238E27FC236}">
                <a16:creationId xmlns:a16="http://schemas.microsoft.com/office/drawing/2014/main" id="{31959963-5954-4E79-A356-A20F2218ED52}"/>
              </a:ext>
            </a:extLst>
          </p:cNvPr>
          <p:cNvSpPr>
            <a:spLocks xmlns:a="http://schemas.openxmlformats.org/drawingml/2006/main" noGrp="1"/>
          </p:cNvSpPr>
          <p:nvPr/>
        </p:nvSpPr>
        <p:spPr>
          <a:xfrm xmlns:a="http://schemas.openxmlformats.org/drawingml/2006/main">
            <a:off x="3886200" y="308610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63B31"/>
                </a:solidFill>
                <a:latin typeface="Arial"/>
                <a:ea typeface="Arial"/>
                <a:cs typeface="Arial"/>
              </a:defRPr>
            </a:pPr>
            <a:r>
              <a:rPr sz="3150" b="1">
                <a:solidFill>
                  <a:srgbClr val="263B31"/>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CBCFED48-0EED-4AB8-AB79-FE27FEE5BF0E}"/>
              </a:ext>
            </a:extLst>
          </p:cNvPr>
          <p:cNvSpPr>
            <a:spLocks xmlns:a="http://schemas.openxmlformats.org/drawingml/2006/main" noGrp="1"/>
          </p:cNvSpPr>
          <p:nvPr/>
        </p:nvSpPr>
        <p:spPr>
          <a:xfrm xmlns:a="http://schemas.openxmlformats.org/drawingml/2006/main">
            <a:off x="4476750" y="2771775"/>
            <a:ext cx="323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47705A"/>
                </a:solidFill>
                <a:latin typeface="Arial"/>
                <a:ea typeface="Arial"/>
                <a:cs typeface="Arial"/>
              </a:defRPr>
            </a:pPr>
            <a:r>
              <a:rPr sz="5850" b="1">
                <a:solidFill>
                  <a:srgbClr val="47705A"/>
                </a:solidFill>
                <a:latin typeface="Arial"/>
                <a:ea typeface="Arial"/>
                <a:cs typeface="Arial"/>
              </a:rPr>
              <a:t>100</a:t>
            </a:r>
          </a:p>
        </p:txBody>
      </p:sp>
      <p:sp>
        <p:nvSpPr>
          <p:cNvPr id="8" name="">
            <a:extLst xmlns:a="http://schemas.openxmlformats.org/drawingml/2006/main">
              <a:ext uri="{FF2B5EF4-FFF2-40B4-BE49-F238E27FC236}">
                <a16:creationId xmlns:a16="http://schemas.microsoft.com/office/drawing/2014/main" id="{A88553AA-A399-4A17-95CE-A219DD4F214E}"/>
              </a:ext>
            </a:extLst>
          </p:cNvPr>
          <p:cNvSpPr>
            <a:spLocks xmlns:a="http://schemas.openxmlformats.org/drawingml/2006/main" noGrp="1"/>
          </p:cNvSpPr>
          <p:nvPr/>
        </p:nvSpPr>
        <p:spPr>
          <a:xfrm xmlns:a="http://schemas.openxmlformats.org/drawingml/2006/main">
            <a:off x="4476750" y="3886200"/>
            <a:ext cx="32480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щелчков на узел</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в сутки</a:t>
            </a:r>
          </a:p>
        </p:txBody>
      </p:sp>
      <p:sp>
        <p:nvSpPr>
          <p:cNvPr id="9" name="">
            <a:extLst xmlns:a="http://schemas.openxmlformats.org/drawingml/2006/main">
              <a:ext uri="{FF2B5EF4-FFF2-40B4-BE49-F238E27FC236}">
                <a16:creationId xmlns:a16="http://schemas.microsoft.com/office/drawing/2014/main" id="{E618E6A3-44C5-45AF-80AA-70B6E420ED26}"/>
              </a:ext>
            </a:extLst>
          </p:cNvPr>
          <p:cNvSpPr>
            <a:spLocks xmlns:a="http://schemas.openxmlformats.org/drawingml/2006/main" noGrp="1"/>
          </p:cNvSpPr>
          <p:nvPr/>
        </p:nvSpPr>
        <p:spPr>
          <a:xfrm xmlns:a="http://schemas.openxmlformats.org/drawingml/2006/main">
            <a:off x="7753350" y="308610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63B31"/>
                </a:solidFill>
                <a:latin typeface="Arial"/>
                <a:ea typeface="Arial"/>
                <a:cs typeface="Arial"/>
              </a:defRPr>
            </a:pPr>
            <a:r>
              <a:rPr sz="3150" b="1">
                <a:solidFill>
                  <a:srgbClr val="263B31"/>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9946D818-6734-46B0-A859-C56E461EB031}"/>
              </a:ext>
            </a:extLst>
          </p:cNvPr>
          <p:cNvSpPr>
            <a:spLocks xmlns:a="http://schemas.openxmlformats.org/drawingml/2006/main" noGrp="1"/>
          </p:cNvSpPr>
          <p:nvPr/>
        </p:nvSpPr>
        <p:spPr>
          <a:xfrm xmlns:a="http://schemas.openxmlformats.org/drawingml/2006/main">
            <a:off x="8343900" y="2771775"/>
            <a:ext cx="323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47705A"/>
                </a:solidFill>
                <a:latin typeface="Arial"/>
                <a:ea typeface="Arial"/>
                <a:cs typeface="Arial"/>
              </a:defRPr>
            </a:pPr>
            <a:r>
              <a:rPr sz="5850" b="1">
                <a:solidFill>
                  <a:srgbClr val="47705A"/>
                </a:solidFill>
                <a:latin typeface="Arial"/>
                <a:ea typeface="Arial"/>
                <a:cs typeface="Arial"/>
              </a:rPr>
              <a:t>100</a:t>
            </a:r>
          </a:p>
        </p:txBody>
      </p:sp>
      <p:sp>
        <p:nvSpPr>
          <p:cNvPr id="11" name="">
            <a:extLst xmlns:a="http://schemas.openxmlformats.org/drawingml/2006/main">
              <a:ext uri="{FF2B5EF4-FFF2-40B4-BE49-F238E27FC236}">
                <a16:creationId xmlns:a16="http://schemas.microsoft.com/office/drawing/2014/main" id="{CC3BA33D-6469-4433-8A7C-79C363567CE5}"/>
              </a:ext>
            </a:extLst>
          </p:cNvPr>
          <p:cNvSpPr>
            <a:spLocks xmlns:a="http://schemas.openxmlformats.org/drawingml/2006/main" noGrp="1"/>
          </p:cNvSpPr>
          <p:nvPr/>
        </p:nvSpPr>
        <p:spPr>
          <a:xfrm xmlns:a="http://schemas.openxmlformats.org/drawingml/2006/main">
            <a:off x="8343900" y="3886200"/>
            <a:ext cx="32480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дней работы</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865f59790d6431b"/>
          <a:stretch xmlns:a="http://schemas.openxmlformats.org/drawingml/2006/main"/>
        </p:blipFill>
        <p:spPr>
          <a:xfrm xmlns:a="http://schemas.openxmlformats.org/drawingml/2006/main">
            <a:off x="859303" y="5685806"/>
            <a:ext cx="4863302" cy="306038"/>
          </a:xfrm>
          <a:prstGeom xmlns:a="http://schemas.openxmlformats.org/drawingml/2006/main" prst="rect">
            <a:avLst/>
          </a:prstGeom>
        </p:spPr>
      </p:pic>
    </p:spTree>
    <p:extLst>
      <p:ext uri="{BB962C8B-B14F-4D97-AF65-F5344CB8AC3E}">
        <p14:creationId xmlns:p14="http://schemas.microsoft.com/office/powerpoint/2010/main" val="139635176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0FFE84-677D-48B2-AE45-ECE183D1F3CE}"/>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2. От дальности к энергии звука</a:t>
            </a:r>
          </a:p>
        </p:txBody>
      </p:sp>
      <p:sp>
        <p:nvSpPr>
          <p:cNvPr id="2" name="">
            <a:extLst xmlns:a="http://schemas.openxmlformats.org/drawingml/2006/main">
              <a:ext uri="{FF2B5EF4-FFF2-40B4-BE49-F238E27FC236}">
                <a16:creationId xmlns:a16="http://schemas.microsoft.com/office/drawing/2014/main" id="{607A2F32-D4F3-4E02-A252-4401A22B4840}"/>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E2DADE2F-382C-4F02-8D41-E9B26C0F1D8A}"/>
              </a:ext>
            </a:extLst>
          </p:cNvPr>
          <p:cNvSpPr>
            <a:spLocks xmlns:a="http://schemas.openxmlformats.org/drawingml/2006/main" noGrp="1"/>
          </p:cNvSpPr>
          <p:nvPr/>
        </p:nvSpPr>
        <p:spPr>
          <a:xfrm xmlns:a="http://schemas.openxmlformats.org/drawingml/2006/main">
            <a:off x="609600" y="143827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3B31"/>
                </a:solidFill>
                <a:latin typeface="Arial"/>
                <a:ea typeface="Arial"/>
                <a:cs typeface="Arial"/>
              </a:defRPr>
            </a:pPr>
            <a:r>
              <a:rPr sz="2400" b="1">
                <a:solidFill>
                  <a:srgbClr val="263B31"/>
                </a:solidFill>
                <a:latin typeface="Arial"/>
                <a:ea typeface="Arial"/>
                <a:cs typeface="Arial"/>
              </a:rPr>
              <a:t>Задаём: 20 м; 33 дБ; около 20 кГц; щелчок 0,01 с.</a:t>
            </a:r>
          </a:p>
        </p:txBody>
      </p:sp>
      <p:sp>
        <p:nvSpPr>
          <p:cNvPr id="4" name="">
            <a:extLst xmlns:a="http://schemas.openxmlformats.org/drawingml/2006/main">
              <a:ext uri="{FF2B5EF4-FFF2-40B4-BE49-F238E27FC236}">
                <a16:creationId xmlns:a16="http://schemas.microsoft.com/office/drawing/2014/main" id="{5D3AE02B-D745-4AE4-9DA9-DECB28601918}"/>
              </a:ext>
            </a:extLst>
          </p:cNvPr>
          <p:cNvSpPr>
            <a:spLocks xmlns:a="http://schemas.openxmlformats.org/drawingml/2006/main" noGrp="1"/>
          </p:cNvSpPr>
          <p:nvPr/>
        </p:nvSpPr>
        <p:spPr>
          <a:xfrm xmlns:a="http://schemas.openxmlformats.org/drawingml/2006/main">
            <a:off x="609600" y="22669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1. Переводим уровень у адресата в интенсивность.</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95527d1b4784bfd"/>
          <a:stretch xmlns:a="http://schemas.openxmlformats.org/drawingml/2006/main"/>
        </p:blipFill>
        <p:spPr>
          <a:xfrm xmlns:a="http://schemas.openxmlformats.org/drawingml/2006/main">
            <a:off x="612134" y="2733675"/>
            <a:ext cx="4961136" cy="685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3AE0945-4767-4C36-971A-C0F897D5D9FA}"/>
              </a:ext>
            </a:extLst>
          </p:cNvPr>
          <p:cNvSpPr>
            <a:spLocks xmlns:a="http://schemas.openxmlformats.org/drawingml/2006/main" noGrp="1"/>
          </p:cNvSpPr>
          <p:nvPr/>
        </p:nvSpPr>
        <p:spPr>
          <a:xfrm xmlns:a="http://schemas.openxmlformats.org/drawingml/2006/main">
            <a:off x="609600" y="36385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2. Учитываем расхождение и принятые потери: 0,5 × 20 = 10 дБ.</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acad0dbf14841d4"/>
          <a:stretch xmlns:a="http://schemas.openxmlformats.org/drawingml/2006/main"/>
        </p:blipFill>
        <p:spPr>
          <a:xfrm xmlns:a="http://schemas.openxmlformats.org/drawingml/2006/main">
            <a:off x="616584" y="4287541"/>
            <a:ext cx="6025944" cy="35936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0EAC5C6-C4B7-4D63-B6EC-6184237E4F5F}"/>
              </a:ext>
            </a:extLst>
          </p:cNvPr>
          <p:cNvSpPr>
            <a:spLocks xmlns:a="http://schemas.openxmlformats.org/drawingml/2006/main" noGrp="1"/>
          </p:cNvSpPr>
          <p:nvPr/>
        </p:nvSpPr>
        <p:spPr>
          <a:xfrm xmlns:a="http://schemas.openxmlformats.org/drawingml/2006/main">
            <a:off x="609600" y="50101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3. Энергия щелчка = мощность × длительность.</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d6df0a1c3c84eaa"/>
          <a:stretch xmlns:a="http://schemas.openxmlformats.org/drawingml/2006/main"/>
        </p:blipFill>
        <p:spPr>
          <a:xfrm xmlns:a="http://schemas.openxmlformats.org/drawingml/2006/main">
            <a:off x="609600" y="5620345"/>
            <a:ext cx="6157187" cy="37981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193ADAA-7F66-4EDA-B06A-5EC1BEF94122}"/>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[5], [11], [16]</a:t>
            </a:r>
          </a:p>
        </p:txBody>
      </p:sp>
    </p:spTree>
    <p:extLst>
      <p:ext uri="{BB962C8B-B14F-4D97-AF65-F5344CB8AC3E}">
        <p14:creationId xmlns:p14="http://schemas.microsoft.com/office/powerpoint/2010/main" val="70188693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CF9EC01-6775-4627-BD38-8B6675E27301}"/>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3. Пиковое натяжение</a:t>
            </a:r>
          </a:p>
        </p:txBody>
      </p:sp>
      <p:sp>
        <p:nvSpPr>
          <p:cNvPr id="2" name="">
            <a:extLst xmlns:a="http://schemas.openxmlformats.org/drawingml/2006/main">
              <a:ext uri="{FF2B5EF4-FFF2-40B4-BE49-F238E27FC236}">
                <a16:creationId xmlns:a16="http://schemas.microsoft.com/office/drawing/2014/main" id="{19680A01-8036-4B7C-8B08-E69207AC6468}"/>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37</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56ae9718ebe4218"/>
          <a:stretch xmlns:a="http://schemas.openxmlformats.org/drawingml/2006/main"/>
        </p:blipFill>
        <p:spPr>
          <a:xfrm xmlns:a="http://schemas.openxmlformats.org/drawingml/2006/main">
            <a:off x="609600" y="1419924"/>
            <a:ext cx="5000974" cy="741552"/>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54836324d31499b"/>
          <a:stretch xmlns:a="http://schemas.openxmlformats.org/drawingml/2006/main"/>
        </p:blipFill>
        <p:spPr>
          <a:xfrm xmlns:a="http://schemas.openxmlformats.org/drawingml/2006/main">
            <a:off x="613188" y="2238375"/>
            <a:ext cx="6144792" cy="66675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e10aed3f3c34b67"/>
          <a:stretch xmlns:a="http://schemas.openxmlformats.org/drawingml/2006/main"/>
        </p:blipFill>
        <p:spPr>
          <a:xfrm xmlns:a="http://schemas.openxmlformats.org/drawingml/2006/main">
            <a:off x="609600" y="3029185"/>
            <a:ext cx="5131210" cy="66628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DFC8B92-69C2-465F-999D-3F0AB82583BB}"/>
              </a:ext>
            </a:extLst>
          </p:cNvPr>
          <p:cNvSpPr>
            <a:spLocks xmlns:a="http://schemas.openxmlformats.org/drawingml/2006/main" noGrp="1"/>
          </p:cNvSpPr>
          <p:nvPr/>
        </p:nvSpPr>
        <p:spPr>
          <a:xfrm xmlns:a="http://schemas.openxmlformats.org/drawingml/2006/main" flipV="0">
            <a:off x="1123950" y="5553075"/>
            <a:ext cx="4229100" cy="953"/>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7" name="">
            <a:extLst xmlns:a="http://schemas.openxmlformats.org/drawingml/2006/main">
              <a:ext uri="{FF2B5EF4-FFF2-40B4-BE49-F238E27FC236}">
                <a16:creationId xmlns:a16="http://schemas.microsoft.com/office/drawing/2014/main" id="{A2BD4CFD-2F7D-469E-8431-B8A8BAC12B16}"/>
              </a:ext>
            </a:extLst>
          </p:cNvPr>
          <p:cNvSpPr>
            <a:spLocks xmlns:a="http://schemas.openxmlformats.org/drawingml/2006/main" noGrp="1"/>
          </p:cNvSpPr>
          <p:nvPr/>
        </p:nvSpPr>
        <p:spPr>
          <a:xfrm xmlns:a="http://schemas.openxmlformats.org/drawingml/2006/main" flipV="0">
            <a:off x="1123950" y="3838575"/>
            <a:ext cx="953" cy="1714500"/>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8" name="">
            <a:extLst xmlns:a="http://schemas.openxmlformats.org/drawingml/2006/main">
              <a:ext uri="{FF2B5EF4-FFF2-40B4-BE49-F238E27FC236}">
                <a16:creationId xmlns:a16="http://schemas.microsoft.com/office/drawing/2014/main" id="{318453FA-0975-44BF-85AD-12C4E5051A39}"/>
              </a:ext>
            </a:extLst>
          </p:cNvPr>
          <p:cNvSpPr>
            <a:spLocks xmlns:a="http://schemas.openxmlformats.org/drawingml/2006/main" noGrp="1"/>
          </p:cNvSpPr>
          <p:nvPr/>
        </p:nvSpPr>
        <p:spPr>
          <a:xfrm xmlns:a="http://schemas.openxmlformats.org/drawingml/2006/main">
            <a:off x="1123950" y="4029075"/>
            <a:ext cx="3943350" cy="1524000"/>
          </a:xfrm>
          <a:custGeom xmlns:a="http://schemas.openxmlformats.org/drawingml/2006/main">
            <a:pathLst>
              <a:path w="3943350" h="1524000">
                <a:moveTo>
                  <a:pt x="0" y="1524000"/>
                </a:moveTo>
                <a:lnTo>
                  <a:pt x="3943350" y="0"/>
                </a:lnTo>
              </a:path>
            </a:pathLst>
          </a:custGeom>
          <a:noFill xmlns:a="http://schemas.openxmlformats.org/drawingml/2006/main"/>
          <a:ln xmlns:a="http://schemas.openxmlformats.org/drawingml/2006/main" w="47625">
            <a:solidFill>
              <a:srgbClr val="47705A"/>
            </a:solidFill>
          </a:ln>
        </p:spPr>
      </p:sp>
      <p:sp>
        <p:nvSpPr>
          <p:cNvPr id="9" name="">
            <a:extLst xmlns:a="http://schemas.openxmlformats.org/drawingml/2006/main">
              <a:ext uri="{FF2B5EF4-FFF2-40B4-BE49-F238E27FC236}">
                <a16:creationId xmlns:a16="http://schemas.microsoft.com/office/drawing/2014/main" id="{54075D81-DD01-4634-B0E0-C54A76C46D23}"/>
              </a:ext>
            </a:extLst>
          </p:cNvPr>
          <p:cNvSpPr>
            <a:spLocks xmlns:a="http://schemas.openxmlformats.org/drawingml/2006/main" noGrp="1"/>
          </p:cNvSpPr>
          <p:nvPr/>
        </p:nvSpPr>
        <p:spPr>
          <a:xfrm xmlns:a="http://schemas.openxmlformats.org/drawingml/2006/main" flipV="0">
            <a:off x="5067300" y="4029075"/>
            <a:ext cx="953" cy="1524000"/>
          </a:xfrm>
          <a:prstGeom xmlns:a="http://schemas.openxmlformats.org/drawingml/2006/main" prst="line">
            <a:avLst/>
          </a:prstGeom>
          <a:noFill xmlns:a="http://schemas.openxmlformats.org/drawingml/2006/main"/>
          <a:ln xmlns:a="http://schemas.openxmlformats.org/drawingml/2006/main" w="19050">
            <a:solidFill>
              <a:srgbClr val="DCE4DB"/>
            </a:solidFill>
          </a:ln>
        </p:spPr>
      </p:sp>
      <p:sp>
        <p:nvSpPr>
          <p:cNvPr id="10" name="">
            <a:extLst xmlns:a="http://schemas.openxmlformats.org/drawingml/2006/main">
              <a:ext uri="{FF2B5EF4-FFF2-40B4-BE49-F238E27FC236}">
                <a16:creationId xmlns:a16="http://schemas.microsoft.com/office/drawing/2014/main" id="{D764CC13-66AB-4093-B61C-C2B576A737D2}"/>
              </a:ext>
            </a:extLst>
          </p:cNvPr>
          <p:cNvSpPr>
            <a:spLocks xmlns:a="http://schemas.openxmlformats.org/drawingml/2006/main" noGrp="1"/>
          </p:cNvSpPr>
          <p:nvPr/>
        </p:nvSpPr>
        <p:spPr>
          <a:xfrm xmlns:a="http://schemas.openxmlformats.org/drawingml/2006/main">
            <a:off x="647700" y="3676650"/>
            <a:ext cx="1057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63B31"/>
                </a:solidFill>
                <a:latin typeface="Arial"/>
                <a:ea typeface="Arial"/>
                <a:cs typeface="Arial"/>
              </a:defRPr>
            </a:pPr>
            <a:r>
              <a:rPr sz="2025" b="1">
                <a:solidFill>
                  <a:srgbClr val="263B31"/>
                </a:solidFill>
                <a:latin typeface="Arial"/>
                <a:ea typeface="Arial"/>
                <a:cs typeface="Arial"/>
              </a:rPr>
              <a:t>F, Н</a:t>
            </a:r>
          </a:p>
        </p:txBody>
      </p:sp>
      <p:sp>
        <p:nvSpPr>
          <p:cNvPr id="11" name="">
            <a:extLst xmlns:a="http://schemas.openxmlformats.org/drawingml/2006/main">
              <a:ext uri="{FF2B5EF4-FFF2-40B4-BE49-F238E27FC236}">
                <a16:creationId xmlns:a16="http://schemas.microsoft.com/office/drawing/2014/main" id="{9E7A0E1A-7A9C-42F7-BCD7-F5EF8704FD7A}"/>
              </a:ext>
            </a:extLst>
          </p:cNvPr>
          <p:cNvSpPr>
            <a:spLocks xmlns:a="http://schemas.openxmlformats.org/drawingml/2006/main" noGrp="1"/>
          </p:cNvSpPr>
          <p:nvPr/>
        </p:nvSpPr>
        <p:spPr>
          <a:xfrm xmlns:a="http://schemas.openxmlformats.org/drawingml/2006/main" flipV="0">
            <a:off x="1047750" y="4029075"/>
            <a:ext cx="76200" cy="953"/>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12" name="">
            <a:extLst xmlns:a="http://schemas.openxmlformats.org/drawingml/2006/main">
              <a:ext uri="{FF2B5EF4-FFF2-40B4-BE49-F238E27FC236}">
                <a16:creationId xmlns:a16="http://schemas.microsoft.com/office/drawing/2014/main" id="{67ABAFAC-273D-4D7C-8785-0F3781147A2D}"/>
              </a:ext>
            </a:extLst>
          </p:cNvPr>
          <p:cNvSpPr>
            <a:spLocks xmlns:a="http://schemas.openxmlformats.org/drawingml/2006/main" noGrp="1"/>
          </p:cNvSpPr>
          <p:nvPr/>
        </p:nvSpPr>
        <p:spPr>
          <a:xfrm xmlns:a="http://schemas.openxmlformats.org/drawingml/2006/main">
            <a:off x="600075" y="3886200"/>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1,7</a:t>
            </a:r>
          </a:p>
        </p:txBody>
      </p:sp>
      <p:sp>
        <p:nvSpPr>
          <p:cNvPr id="13" name="">
            <a:extLst xmlns:a="http://schemas.openxmlformats.org/drawingml/2006/main">
              <a:ext uri="{FF2B5EF4-FFF2-40B4-BE49-F238E27FC236}">
                <a16:creationId xmlns:a16="http://schemas.microsoft.com/office/drawing/2014/main" id="{8099F7F8-318E-4036-925B-2C1EDC4273C5}"/>
              </a:ext>
            </a:extLst>
          </p:cNvPr>
          <p:cNvSpPr>
            <a:spLocks xmlns:a="http://schemas.openxmlformats.org/drawingml/2006/main" noGrp="1"/>
          </p:cNvSpPr>
          <p:nvPr/>
        </p:nvSpPr>
        <p:spPr>
          <a:xfrm xmlns:a="http://schemas.openxmlformats.org/drawingml/2006/main">
            <a:off x="762000" y="5476875"/>
            <a:ext cx="295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263B31"/>
                </a:solidFill>
                <a:latin typeface="Arial"/>
                <a:ea typeface="Arial"/>
                <a:cs typeface="Arial"/>
              </a:defRPr>
            </a:pPr>
            <a:r>
              <a:rPr sz="1725" b="0">
                <a:solidFill>
                  <a:srgbClr val="263B31"/>
                </a:solidFill>
                <a:latin typeface="Arial"/>
                <a:ea typeface="Arial"/>
                <a:cs typeface="Arial"/>
              </a:rPr>
              <a:t>0</a:t>
            </a:r>
          </a:p>
        </p:txBody>
      </p:sp>
      <p:sp>
        <p:nvSpPr>
          <p:cNvPr id="14" name="">
            <a:extLst xmlns:a="http://schemas.openxmlformats.org/drawingml/2006/main">
              <a:ext uri="{FF2B5EF4-FFF2-40B4-BE49-F238E27FC236}">
                <a16:creationId xmlns:a16="http://schemas.microsoft.com/office/drawing/2014/main" id="{47F81141-2A68-40E7-8CEF-25BA8490D653}"/>
              </a:ext>
            </a:extLst>
          </p:cNvPr>
          <p:cNvSpPr>
            <a:spLocks xmlns:a="http://schemas.openxmlformats.org/drawingml/2006/main" noGrp="1"/>
          </p:cNvSpPr>
          <p:nvPr/>
        </p:nvSpPr>
        <p:spPr>
          <a:xfrm xmlns:a="http://schemas.openxmlformats.org/drawingml/2006/main">
            <a:off x="4733925" y="5619750"/>
            <a:ext cx="800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0,12</a:t>
            </a:r>
          </a:p>
        </p:txBody>
      </p:sp>
      <p:sp>
        <p:nvSpPr>
          <p:cNvPr id="15" name="">
            <a:extLst xmlns:a="http://schemas.openxmlformats.org/drawingml/2006/main">
              <a:ext uri="{FF2B5EF4-FFF2-40B4-BE49-F238E27FC236}">
                <a16:creationId xmlns:a16="http://schemas.microsoft.com/office/drawing/2014/main" id="{E1C75F33-9399-46DD-BEEA-8F136C581395}"/>
              </a:ext>
            </a:extLst>
          </p:cNvPr>
          <p:cNvSpPr>
            <a:spLocks xmlns:a="http://schemas.openxmlformats.org/drawingml/2006/main" noGrp="1"/>
          </p:cNvSpPr>
          <p:nvPr/>
        </p:nvSpPr>
        <p:spPr>
          <a:xfrm xmlns:a="http://schemas.openxmlformats.org/drawingml/2006/main">
            <a:off x="1609725" y="5981700"/>
            <a:ext cx="3581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63B31"/>
                </a:solidFill>
                <a:latin typeface="Arial"/>
                <a:ea typeface="Arial"/>
                <a:cs typeface="Arial"/>
              </a:defRPr>
            </a:pPr>
            <a:r>
              <a:rPr sz="2025" b="1">
                <a:solidFill>
                  <a:srgbClr val="263B31"/>
                </a:solidFill>
                <a:latin typeface="Arial"/>
                <a:ea typeface="Arial"/>
                <a:cs typeface="Arial"/>
              </a:rPr>
              <a:t>Ход центра δ, мм</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56eefa9d08bb435e"/>
          <a:stretch xmlns:a="http://schemas.openxmlformats.org/drawingml/2006/main"/>
        </p:blipFill>
        <p:spPr>
          <a:xfrm xmlns:a="http://schemas.openxmlformats.org/drawingml/2006/main">
            <a:off x="6191250" y="4098096"/>
            <a:ext cx="2744298" cy="376308"/>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EB74E739-6766-495D-AA42-333A5BE5F608}"/>
              </a:ext>
            </a:extLst>
          </p:cNvPr>
          <p:cNvSpPr>
            <a:spLocks xmlns:a="http://schemas.openxmlformats.org/drawingml/2006/main" noGrp="1"/>
          </p:cNvSpPr>
          <p:nvPr/>
        </p:nvSpPr>
        <p:spPr>
          <a:xfrm xmlns:a="http://schemas.openxmlformats.org/drawingml/2006/main">
            <a:off x="6191250" y="4914900"/>
            <a:ext cx="53911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Принимаем линейный рост силы.</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Работа — площадь под прямой.</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Средняя сила вдвое меньше пика.</a:t>
            </a:r>
          </a:p>
        </p:txBody>
      </p:sp>
      <p:sp>
        <p:nvSpPr>
          <p:cNvPr id="18" name="">
            <a:extLst xmlns:a="http://schemas.openxmlformats.org/drawingml/2006/main">
              <a:ext uri="{FF2B5EF4-FFF2-40B4-BE49-F238E27FC236}">
                <a16:creationId xmlns:a16="http://schemas.microsoft.com/office/drawing/2014/main" id="{F75B3959-A604-40EF-B34D-8C42AC2B5904}"/>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[14]</a:t>
            </a:r>
          </a:p>
        </p:txBody>
      </p:sp>
    </p:spTree>
    <p:extLst>
      <p:ext uri="{BB962C8B-B14F-4D97-AF65-F5344CB8AC3E}">
        <p14:creationId xmlns:p14="http://schemas.microsoft.com/office/powerpoint/2010/main" val="49660359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A5E8CF-083E-43D9-A133-41599A4CE8A6}"/>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4. Пиковая скорость центра</a:t>
            </a:r>
          </a:p>
        </p:txBody>
      </p:sp>
      <p:sp>
        <p:nvSpPr>
          <p:cNvPr id="2" name="">
            <a:extLst xmlns:a="http://schemas.openxmlformats.org/drawingml/2006/main">
              <a:ext uri="{FF2B5EF4-FFF2-40B4-BE49-F238E27FC236}">
                <a16:creationId xmlns:a16="http://schemas.microsoft.com/office/drawing/2014/main" id="{7CA82CEE-CE5A-42C3-B5E7-060A6C445F44}"/>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38</a:t>
            </a:r>
          </a:p>
        </p:txBody>
      </p:sp>
      <p:sp>
        <p:nvSpPr>
          <p:cNvPr id="3" name="">
            <a:extLst xmlns:a="http://schemas.openxmlformats.org/drawingml/2006/main">
              <a:ext uri="{FF2B5EF4-FFF2-40B4-BE49-F238E27FC236}">
                <a16:creationId xmlns:a16="http://schemas.microsoft.com/office/drawing/2014/main" id="{47E99F98-449B-4162-82AC-75E17D66C013}"/>
              </a:ext>
            </a:extLst>
          </p:cNvPr>
          <p:cNvSpPr>
            <a:spLocks xmlns:a="http://schemas.openxmlformats.org/drawingml/2006/main" noGrp="1"/>
          </p:cNvSpPr>
          <p:nvPr/>
        </p:nvSpPr>
        <p:spPr>
          <a:xfrm xmlns:a="http://schemas.openxmlformats.org/drawingml/2006/main">
            <a:off x="609600" y="14573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1. Средняя скорость из мощности звука</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acdfa63258a43a4"/>
          <a:stretch xmlns:a="http://schemas.openxmlformats.org/drawingml/2006/main"/>
        </p:blipFill>
        <p:spPr>
          <a:xfrm xmlns:a="http://schemas.openxmlformats.org/drawingml/2006/main">
            <a:off x="610845" y="1933575"/>
            <a:ext cx="2926751" cy="714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D81FF5E-CFCB-4B9F-B143-E8B9E1BF3FEF}"/>
              </a:ext>
            </a:extLst>
          </p:cNvPr>
          <p:cNvSpPr>
            <a:spLocks xmlns:a="http://schemas.openxmlformats.org/drawingml/2006/main" noGrp="1"/>
          </p:cNvSpPr>
          <p:nvPr/>
        </p:nvSpPr>
        <p:spPr>
          <a:xfrm xmlns:a="http://schemas.openxmlformats.org/drawingml/2006/main">
            <a:off x="609600" y="2619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P ≈0,0001 Вт; σ = 0,1 задаём; ρc ≈412 Па·с/м; S ≈32 мм².</a:t>
            </a:r>
          </a:p>
        </p:txBody>
      </p:sp>
      <p:sp>
        <p:nvSpPr>
          <p:cNvPr id="6" name="">
            <a:extLst xmlns:a="http://schemas.openxmlformats.org/drawingml/2006/main">
              <a:ext uri="{FF2B5EF4-FFF2-40B4-BE49-F238E27FC236}">
                <a16:creationId xmlns:a16="http://schemas.microsoft.com/office/drawing/2014/main" id="{DFA25803-9387-4B15-9176-70C873CFA983}"/>
              </a:ext>
            </a:extLst>
          </p:cNvPr>
          <p:cNvSpPr>
            <a:spLocks xmlns:a="http://schemas.openxmlformats.org/drawingml/2006/main" noGrp="1"/>
          </p:cNvSpPr>
          <p:nvPr/>
        </p:nvSpPr>
        <p:spPr>
          <a:xfrm xmlns:a="http://schemas.openxmlformats.org/drawingml/2006/main">
            <a:off x="609600" y="33528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2. Задаём затухание и форму движения</a:t>
            </a:r>
          </a:p>
        </p:txBody>
      </p:sp>
      <p:sp>
        <p:nvSpPr>
          <p:cNvPr id="7" name="">
            <a:extLst xmlns:a="http://schemas.openxmlformats.org/drawingml/2006/main">
              <a:ext uri="{FF2B5EF4-FFF2-40B4-BE49-F238E27FC236}">
                <a16:creationId xmlns:a16="http://schemas.microsoft.com/office/drawing/2014/main" id="{7FF2AE99-0D10-4D1A-AC65-CD25E7D16C54}"/>
              </a:ext>
            </a:extLst>
          </p:cNvPr>
          <p:cNvSpPr>
            <a:spLocks xmlns:a="http://schemas.openxmlformats.org/drawingml/2006/main" noGrp="1"/>
          </p:cNvSpPr>
          <p:nvPr/>
        </p:nvSpPr>
        <p:spPr>
          <a:xfrm xmlns:a="http://schemas.openxmlformats.org/drawingml/2006/main">
            <a:off x="609600" y="387667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Окно T = 10 мс; спад амплитуды τ = 1 мс.</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Среднее v² по площади — 1/5 от значения в центре.</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71cb6c702534643"/>
          <a:stretch xmlns:a="http://schemas.openxmlformats.org/drawingml/2006/main"/>
        </p:blipFill>
        <p:spPr>
          <a:xfrm xmlns:a="http://schemas.openxmlformats.org/drawingml/2006/main">
            <a:off x="611194" y="4905375"/>
            <a:ext cx="3896665" cy="809625"/>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2d21ac1a13a42de"/>
          <a:stretch xmlns:a="http://schemas.openxmlformats.org/drawingml/2006/main"/>
        </p:blipFill>
        <p:spPr>
          <a:xfrm xmlns:a="http://schemas.openxmlformats.org/drawingml/2006/main">
            <a:off x="612066" y="5790526"/>
            <a:ext cx="4399753" cy="56332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AAF1A5F-4F45-4B6B-998A-8FD918EC7F1C}"/>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[17]</a:t>
            </a:r>
          </a:p>
        </p:txBody>
      </p:sp>
    </p:spTree>
    <p:extLst>
      <p:ext uri="{BB962C8B-B14F-4D97-AF65-F5344CB8AC3E}">
        <p14:creationId xmlns:p14="http://schemas.microsoft.com/office/powerpoint/2010/main" val="51813205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06BE30-F0FB-4DB5-8699-6648F4ECF1DA}"/>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Хватит ли тургора для натяжения?</a:t>
            </a:r>
          </a:p>
        </p:txBody>
      </p:sp>
      <p:sp>
        <p:nvSpPr>
          <p:cNvPr id="2" name="">
            <a:extLst xmlns:a="http://schemas.openxmlformats.org/drawingml/2006/main">
              <a:ext uri="{FF2B5EF4-FFF2-40B4-BE49-F238E27FC236}">
                <a16:creationId xmlns:a16="http://schemas.microsoft.com/office/drawing/2014/main" id="{586DF513-3986-437E-A111-F013B900BCA9}"/>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39</a:t>
            </a:r>
          </a:p>
        </p:txBody>
      </p:sp>
      <p:sp>
        <p:nvSpPr>
          <p:cNvPr id="3" name="">
            <a:extLst xmlns:a="http://schemas.openxmlformats.org/drawingml/2006/main">
              <a:ext uri="{FF2B5EF4-FFF2-40B4-BE49-F238E27FC236}">
                <a16:creationId xmlns:a16="http://schemas.microsoft.com/office/drawing/2014/main" id="{155DE2F2-8CAC-43BF-A1BE-F2E232C9ED4D}"/>
              </a:ext>
            </a:extLst>
          </p:cNvPr>
          <p:cNvSpPr>
            <a:spLocks xmlns:a="http://schemas.openxmlformats.org/drawingml/2006/main" noGrp="1"/>
          </p:cNvSpPr>
          <p:nvPr/>
        </p:nvSpPr>
        <p:spPr>
          <a:xfrm xmlns:a="http://schemas.openxmlformats.org/drawingml/2006/main">
            <a:off x="609600" y="149542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3B31"/>
                </a:solidFill>
                <a:latin typeface="Arial"/>
                <a:ea typeface="Arial"/>
                <a:cs typeface="Arial"/>
              </a:defRPr>
            </a:pPr>
            <a:r>
              <a:rPr sz="2475" b="1">
                <a:solidFill>
                  <a:srgbClr val="263B31"/>
                </a:solidFill>
                <a:latin typeface="Arial"/>
                <a:ea typeface="Arial"/>
                <a:cs typeface="Arial"/>
              </a:rPr>
              <a:t>Задаём привод: давление 0,3 МПа; площадь 16 мм².</a:t>
            </a:r>
          </a:p>
        </p:txBody>
      </p:sp>
      <p:sp>
        <p:nvSpPr>
          <p:cNvPr id="4" name="">
            <a:extLst xmlns:a="http://schemas.openxmlformats.org/drawingml/2006/main">
              <a:ext uri="{FF2B5EF4-FFF2-40B4-BE49-F238E27FC236}">
                <a16:creationId xmlns:a16="http://schemas.microsoft.com/office/drawing/2014/main" id="{B378EFA2-78BC-41BD-89CE-72E346FC2ACA}"/>
              </a:ext>
            </a:extLst>
          </p:cNvPr>
          <p:cNvSpPr>
            <a:spLocks xmlns:a="http://schemas.openxmlformats.org/drawingml/2006/main" noGrp="1"/>
          </p:cNvSpPr>
          <p:nvPr/>
        </p:nvSpPr>
        <p:spPr>
          <a:xfrm xmlns:a="http://schemas.openxmlformats.org/drawingml/2006/main">
            <a:off x="609600" y="21621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Рычаг вдвое увеличивает ход и вдвое уменьшает силу.</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c958ee68a6d4434"/>
          <a:stretch xmlns:a="http://schemas.openxmlformats.org/drawingml/2006/main"/>
        </p:blipFill>
        <p:spPr>
          <a:xfrm xmlns:a="http://schemas.openxmlformats.org/drawingml/2006/main">
            <a:off x="809625" y="3266502"/>
            <a:ext cx="5212309" cy="36309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165E4E7-3E52-4B78-A770-078873BD5E22}"/>
              </a:ext>
            </a:extLst>
          </p:cNvPr>
          <p:cNvSpPr>
            <a:spLocks xmlns:a="http://schemas.openxmlformats.org/drawingml/2006/main" noGrp="1"/>
          </p:cNvSpPr>
          <p:nvPr/>
        </p:nvSpPr>
        <p:spPr>
          <a:xfrm xmlns:a="http://schemas.openxmlformats.org/drawingml/2006/main">
            <a:off x="609600" y="43148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47705A"/>
                </a:solidFill>
                <a:latin typeface="Arial"/>
                <a:ea typeface="Arial"/>
                <a:cs typeface="Arial"/>
              </a:defRPr>
            </a:pPr>
            <a:r>
              <a:rPr sz="2475" b="1">
                <a:solidFill>
                  <a:srgbClr val="47705A"/>
                </a:solidFill>
                <a:latin typeface="Arial"/>
                <a:ea typeface="Arial"/>
                <a:cs typeface="Arial"/>
              </a:rPr>
              <a:t>Нужно ≈1,7 Н → по силе есть запас около 1,4 раза.</a:t>
            </a:r>
          </a:p>
        </p:txBody>
      </p:sp>
      <p:sp>
        <p:nvSpPr>
          <p:cNvPr id="7" name="">
            <a:extLst xmlns:a="http://schemas.openxmlformats.org/drawingml/2006/main">
              <a:ext uri="{FF2B5EF4-FFF2-40B4-BE49-F238E27FC236}">
                <a16:creationId xmlns:a16="http://schemas.microsoft.com/office/drawing/2014/main" id="{38DE7776-337D-40AF-8B1B-12789431A8E2}"/>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[18]</a:t>
            </a:r>
          </a:p>
        </p:txBody>
      </p:sp>
    </p:spTree>
    <p:extLst>
      <p:ext uri="{BB962C8B-B14F-4D97-AF65-F5344CB8AC3E}">
        <p14:creationId xmlns:p14="http://schemas.microsoft.com/office/powerpoint/2010/main" val="93070909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8C51C6-A5C1-4ED0-82B0-09350D641E22}"/>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5. Давление и ход привода</a:t>
            </a:r>
          </a:p>
        </p:txBody>
      </p:sp>
      <p:sp>
        <p:nvSpPr>
          <p:cNvPr id="2" name="">
            <a:extLst xmlns:a="http://schemas.openxmlformats.org/drawingml/2006/main">
              <a:ext uri="{FF2B5EF4-FFF2-40B4-BE49-F238E27FC236}">
                <a16:creationId xmlns:a16="http://schemas.microsoft.com/office/drawing/2014/main" id="{D02BFCFA-3460-4BB7-8CBD-5F86012531D2}"/>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40</a:t>
            </a:r>
          </a:p>
        </p:txBody>
      </p:sp>
      <p:sp>
        <p:nvSpPr>
          <p:cNvPr id="3" name="">
            <a:extLst xmlns:a="http://schemas.openxmlformats.org/drawingml/2006/main">
              <a:ext uri="{FF2B5EF4-FFF2-40B4-BE49-F238E27FC236}">
                <a16:creationId xmlns:a16="http://schemas.microsoft.com/office/drawing/2014/main" id="{924CDA28-8797-47B5-A3E7-A1E687DF55F4}"/>
              </a:ext>
            </a:extLst>
          </p:cNvPr>
          <p:cNvSpPr>
            <a:spLocks xmlns:a="http://schemas.openxmlformats.org/drawingml/2006/main" noGrp="1"/>
          </p:cNvSpPr>
          <p:nvPr/>
        </p:nvSpPr>
        <p:spPr>
          <a:xfrm xmlns:a="http://schemas.openxmlformats.org/drawingml/2006/main">
            <a:off x="609600" y="14573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1. Площадь подушки 16 мм²; рычаг уменьшает силу вдвое.</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f4aad2e08943ec"/>
          <a:stretch xmlns:a="http://schemas.openxmlformats.org/drawingml/2006/main"/>
        </p:blipFill>
        <p:spPr>
          <a:xfrm xmlns:a="http://schemas.openxmlformats.org/drawingml/2006/main">
            <a:off x="610539" y="2058168"/>
            <a:ext cx="5323252" cy="76046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B961D6-DEB8-4B97-83DD-CEE36354858E}"/>
              </a:ext>
            </a:extLst>
          </p:cNvPr>
          <p:cNvSpPr>
            <a:spLocks xmlns:a="http://schemas.openxmlformats.org/drawingml/2006/main" noGrp="1"/>
          </p:cNvSpPr>
          <p:nvPr/>
        </p:nvSpPr>
        <p:spPr>
          <a:xfrm xmlns:a="http://schemas.openxmlformats.org/drawingml/2006/main">
            <a:off x="609600" y="31146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2. Принимаем полезное давление 0,3 МПа.</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470228052ab42a7"/>
          <a:stretch xmlns:a="http://schemas.openxmlformats.org/drawingml/2006/main"/>
        </p:blipFill>
        <p:spPr>
          <a:xfrm xmlns:a="http://schemas.openxmlformats.org/drawingml/2006/main">
            <a:off x="609600" y="3789494"/>
            <a:ext cx="4515797" cy="34581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8031FAD-2440-4F2C-B2DD-C8D5E86BA6E8}"/>
              </a:ext>
            </a:extLst>
          </p:cNvPr>
          <p:cNvSpPr>
            <a:spLocks xmlns:a="http://schemas.openxmlformats.org/drawingml/2006/main" noGrp="1"/>
          </p:cNvSpPr>
          <p:nvPr/>
        </p:nvSpPr>
        <p:spPr>
          <a:xfrm xmlns:a="http://schemas.openxmlformats.org/drawingml/2006/main">
            <a:off x="609600" y="4495800"/>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3. Рычаг увеличивает ход вдвое.</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fdf7792c0c8450f"/>
          <a:stretch xmlns:a="http://schemas.openxmlformats.org/drawingml/2006/main"/>
        </p:blipFill>
        <p:spPr>
          <a:xfrm xmlns:a="http://schemas.openxmlformats.org/drawingml/2006/main">
            <a:off x="6858000" y="4446119"/>
            <a:ext cx="2442544" cy="61371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07018AD-8DF1-4955-A08D-0713B58413F1}"/>
              </a:ext>
            </a:extLst>
          </p:cNvPr>
          <p:cNvSpPr>
            <a:spLocks xmlns:a="http://schemas.openxmlformats.org/drawingml/2006/main" noGrp="1"/>
          </p:cNvSpPr>
          <p:nvPr/>
        </p:nvSpPr>
        <p:spPr>
          <a:xfrm xmlns:a="http://schemas.openxmlformats.org/drawingml/2006/main">
            <a:off x="609600" y="55530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Ход 0,06 мм при высоте подушки 0,6 мм — около 10% объёма.</a:t>
            </a:r>
          </a:p>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Нужно примерно 1 мкл воды. Рычаг считаем идеальным, без потерь.</a:t>
            </a:r>
          </a:p>
        </p:txBody>
      </p:sp>
      <p:sp>
        <p:nvSpPr>
          <p:cNvPr id="10" name="">
            <a:extLst xmlns:a="http://schemas.openxmlformats.org/drawingml/2006/main">
              <a:ext uri="{FF2B5EF4-FFF2-40B4-BE49-F238E27FC236}">
                <a16:creationId xmlns:a16="http://schemas.microsoft.com/office/drawing/2014/main" id="{0CD91A6C-5ACD-46F6-9EC3-8DBD9CC30271}"/>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[18]</a:t>
            </a:r>
          </a:p>
        </p:txBody>
      </p:sp>
    </p:spTree>
    <p:extLst>
      <p:ext uri="{BB962C8B-B14F-4D97-AF65-F5344CB8AC3E}">
        <p14:creationId xmlns:p14="http://schemas.microsoft.com/office/powerpoint/2010/main" val="10240803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3114FC-C7A5-461B-9FBD-77EE294FF6D2}"/>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6. Скорость осмотической зарядки</a:t>
            </a:r>
          </a:p>
        </p:txBody>
      </p:sp>
      <p:sp>
        <p:nvSpPr>
          <p:cNvPr id="2" name="">
            <a:extLst xmlns:a="http://schemas.openxmlformats.org/drawingml/2006/main">
              <a:ext uri="{FF2B5EF4-FFF2-40B4-BE49-F238E27FC236}">
                <a16:creationId xmlns:a16="http://schemas.microsoft.com/office/drawing/2014/main" id="{5160AFFC-77D7-4ED9-8DE2-0E00A1008260}"/>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41</a:t>
            </a:r>
          </a:p>
        </p:txBody>
      </p:sp>
      <p:sp>
        <p:nvSpPr>
          <p:cNvPr id="3" name="">
            <a:extLst xmlns:a="http://schemas.openxmlformats.org/drawingml/2006/main">
              <a:ext uri="{FF2B5EF4-FFF2-40B4-BE49-F238E27FC236}">
                <a16:creationId xmlns:a16="http://schemas.microsoft.com/office/drawing/2014/main" id="{17BA6C1D-9717-4662-923F-FF0D0CDBCACB}"/>
              </a:ext>
            </a:extLst>
          </p:cNvPr>
          <p:cNvSpPr>
            <a:spLocks xmlns:a="http://schemas.openxmlformats.org/drawingml/2006/main" noGrp="1"/>
          </p:cNvSpPr>
          <p:nvPr/>
        </p:nvSpPr>
        <p:spPr>
          <a:xfrm xmlns:a="http://schemas.openxmlformats.org/drawingml/2006/main">
            <a:off x="609600" y="14382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1. Задаём увеличение объёма двигательных клеток на 10%.</a:t>
            </a:r>
          </a:p>
        </p:txBody>
      </p:sp>
      <p:sp>
        <p:nvSpPr>
          <p:cNvPr id="4" name="">
            <a:extLst xmlns:a="http://schemas.openxmlformats.org/drawingml/2006/main">
              <a:ext uri="{FF2B5EF4-FFF2-40B4-BE49-F238E27FC236}">
                <a16:creationId xmlns:a16="http://schemas.microsoft.com/office/drawing/2014/main" id="{19BC68EC-24F0-4814-A423-ACDF96864EC1}"/>
              </a:ext>
            </a:extLst>
          </p:cNvPr>
          <p:cNvSpPr>
            <a:spLocks xmlns:a="http://schemas.openxmlformats.org/drawingml/2006/main" noGrp="1"/>
          </p:cNvSpPr>
          <p:nvPr/>
        </p:nvSpPr>
        <p:spPr>
          <a:xfrm xmlns:a="http://schemas.openxmlformats.org/drawingml/2006/main">
            <a:off x="609600" y="1924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Радиус r = 10 мкм; проницаемость Pf ≈5 мкм/с — из опыта.</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affd36c1a1e4d1b"/>
          <a:stretch xmlns:a="http://schemas.openxmlformats.org/drawingml/2006/main"/>
        </p:blipFill>
        <p:spPr>
          <a:xfrm xmlns:a="http://schemas.openxmlformats.org/drawingml/2006/main">
            <a:off x="609600" y="2381281"/>
            <a:ext cx="3601598" cy="61906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C1187E3-5DFD-4B70-A0CF-64CAE8CC60EE}"/>
              </a:ext>
            </a:extLst>
          </p:cNvPr>
          <p:cNvSpPr>
            <a:spLocks xmlns:a="http://schemas.openxmlformats.org/drawingml/2006/main" noGrp="1"/>
          </p:cNvSpPr>
          <p:nvPr/>
        </p:nvSpPr>
        <p:spPr>
          <a:xfrm xmlns:a="http://schemas.openxmlformats.org/drawingml/2006/main">
            <a:off x="6191250" y="2381250"/>
            <a:ext cx="5391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Lp — гидравлическая</a:t>
            </a:r>
          </a:p>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проницаемость мембраны.</a:t>
            </a:r>
          </a:p>
        </p:txBody>
      </p:sp>
      <p:sp>
        <p:nvSpPr>
          <p:cNvPr id="7" name="">
            <a:extLst xmlns:a="http://schemas.openxmlformats.org/drawingml/2006/main">
              <a:ext uri="{FF2B5EF4-FFF2-40B4-BE49-F238E27FC236}">
                <a16:creationId xmlns:a16="http://schemas.microsoft.com/office/drawing/2014/main" id="{6E6BC31E-04B4-4845-B1C8-DD264AD339FA}"/>
              </a:ext>
            </a:extLst>
          </p:cNvPr>
          <p:cNvSpPr>
            <a:spLocks xmlns:a="http://schemas.openxmlformats.org/drawingml/2006/main" noGrp="1"/>
          </p:cNvSpPr>
          <p:nvPr/>
        </p:nvSpPr>
        <p:spPr>
          <a:xfrm xmlns:a="http://schemas.openxmlformats.org/drawingml/2006/main">
            <a:off x="609600" y="3086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63B31"/>
                </a:solidFill>
                <a:latin typeface="Arial"/>
                <a:ea typeface="Arial"/>
                <a:cs typeface="Arial"/>
              </a:defRPr>
            </a:pPr>
            <a:r>
              <a:rPr sz="1875" b="0">
                <a:solidFill>
                  <a:srgbClr val="263B31"/>
                </a:solidFill>
                <a:latin typeface="Arial"/>
                <a:ea typeface="Arial"/>
                <a:cs typeface="Arial"/>
              </a:rPr>
              <a:t>Vводы = 18 × 10⁻⁶ м³/моль; T = 298 К; R = 8,314 Дж/(моль·К).</a:t>
            </a:r>
          </a:p>
        </p:txBody>
      </p:sp>
      <p:sp>
        <p:nvSpPr>
          <p:cNvPr id="8" name="">
            <a:extLst xmlns:a="http://schemas.openxmlformats.org/drawingml/2006/main">
              <a:ext uri="{FF2B5EF4-FFF2-40B4-BE49-F238E27FC236}">
                <a16:creationId xmlns:a16="http://schemas.microsoft.com/office/drawing/2014/main" id="{B1F2B1E8-8632-40A0-8641-458C5E7F6F27}"/>
              </a:ext>
            </a:extLst>
          </p:cNvPr>
          <p:cNvSpPr>
            <a:spLocks xmlns:a="http://schemas.openxmlformats.org/drawingml/2006/main" noGrp="1"/>
          </p:cNvSpPr>
          <p:nvPr/>
        </p:nvSpPr>
        <p:spPr>
          <a:xfrm xmlns:a="http://schemas.openxmlformats.org/drawingml/2006/main">
            <a:off x="609600" y="3581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2. Задаём перепад водного потенциала ΔΨ = 0,1 МПа.</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cb27885717f4dfc"/>
          <a:stretch xmlns:a="http://schemas.openxmlformats.org/drawingml/2006/main"/>
        </p:blipFill>
        <p:spPr>
          <a:xfrm xmlns:a="http://schemas.openxmlformats.org/drawingml/2006/main">
            <a:off x="611192" y="4048125"/>
            <a:ext cx="2852027" cy="6000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7F7BAC5-5069-4008-8A03-E3CB76E742CE}"/>
              </a:ext>
            </a:extLst>
          </p:cNvPr>
          <p:cNvSpPr>
            <a:spLocks xmlns:a="http://schemas.openxmlformats.org/drawingml/2006/main" noGrp="1"/>
          </p:cNvSpPr>
          <p:nvPr/>
        </p:nvSpPr>
        <p:spPr>
          <a:xfrm xmlns:a="http://schemas.openxmlformats.org/drawingml/2006/main">
            <a:off x="6191250" y="4010025"/>
            <a:ext cx="5391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j — объём воды за секунду</a:t>
            </a:r>
          </a:p>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на единицу площади мембраны.</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2254e3830994004"/>
          <a:stretch xmlns:a="http://schemas.openxmlformats.org/drawingml/2006/main"/>
        </p:blipFill>
        <p:spPr>
          <a:xfrm xmlns:a="http://schemas.openxmlformats.org/drawingml/2006/main">
            <a:off x="610705" y="4791075"/>
            <a:ext cx="3755099" cy="6667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A1BDBC0-DEFD-40C3-8151-DC58688E8B01}"/>
              </a:ext>
            </a:extLst>
          </p:cNvPr>
          <p:cNvSpPr>
            <a:spLocks xmlns:a="http://schemas.openxmlformats.org/drawingml/2006/main" noGrp="1"/>
          </p:cNvSpPr>
          <p:nvPr/>
        </p:nvSpPr>
        <p:spPr>
          <a:xfrm xmlns:a="http://schemas.openxmlformats.org/drawingml/2006/main">
            <a:off x="6191250" y="4791075"/>
            <a:ext cx="5391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V и S — объём и площадь клетки.</a:t>
            </a:r>
          </a:p>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Для сферической клетки V/S = r/3.</a:t>
            </a:r>
          </a:p>
        </p:txBody>
      </p:sp>
      <p:sp>
        <p:nvSpPr>
          <p:cNvPr id="13" name="">
            <a:extLst xmlns:a="http://schemas.openxmlformats.org/drawingml/2006/main">
              <a:ext uri="{FF2B5EF4-FFF2-40B4-BE49-F238E27FC236}">
                <a16:creationId xmlns:a16="http://schemas.microsoft.com/office/drawing/2014/main" id="{52553BE4-70B0-43F6-9C47-47DF5EBD1646}"/>
              </a:ext>
            </a:extLst>
          </p:cNvPr>
          <p:cNvSpPr>
            <a:spLocks xmlns:a="http://schemas.openxmlformats.org/drawingml/2006/main" noGrp="1"/>
          </p:cNvSpPr>
          <p:nvPr/>
        </p:nvSpPr>
        <p:spPr>
          <a:xfrm xmlns:a="http://schemas.openxmlformats.org/drawingml/2006/main">
            <a:off x="609600" y="56197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96743"/>
                </a:solidFill>
                <a:latin typeface="Arial"/>
                <a:ea typeface="Arial"/>
                <a:cs typeface="Arial"/>
              </a:defRPr>
            </a:pPr>
            <a:r>
              <a:rPr sz="2250" b="1">
                <a:solidFill>
                  <a:srgbClr val="A96743"/>
                </a:solidFill>
                <a:latin typeface="Arial"/>
                <a:ea typeface="Arial"/>
                <a:cs typeface="Arial"/>
              </a:rPr>
              <a:t>≈90 с на зарядку при паузе 0,5 с между щелчками.</a:t>
            </a:r>
          </a:p>
          <a:p xmlns:a="http://schemas.openxmlformats.org/drawingml/2006/main">
            <a:pPr algn="l">
              <a:defRPr sz="2250" b="1">
                <a:solidFill>
                  <a:srgbClr val="A96743"/>
                </a:solidFill>
                <a:latin typeface="Arial"/>
                <a:ea typeface="Arial"/>
                <a:cs typeface="Arial"/>
              </a:defRPr>
            </a:pPr>
            <a:r>
              <a:rPr sz="2250" b="1">
                <a:solidFill>
                  <a:srgbClr val="A96743"/>
                </a:solidFill>
                <a:latin typeface="Arial"/>
                <a:ea typeface="Arial"/>
                <a:cs typeface="Arial"/>
              </a:rPr>
              <a:t>Для серии нужны четыре заранее натянутых прицветника.</a:t>
            </a:r>
          </a:p>
        </p:txBody>
      </p:sp>
      <p:sp>
        <p:nvSpPr>
          <p:cNvPr id="14" name="">
            <a:extLst xmlns:a="http://schemas.openxmlformats.org/drawingml/2006/main">
              <a:ext uri="{FF2B5EF4-FFF2-40B4-BE49-F238E27FC236}">
                <a16:creationId xmlns:a16="http://schemas.microsoft.com/office/drawing/2014/main" id="{2517988A-2401-420A-A0DE-34FCC4B0E3A2}"/>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[19], [22]</a:t>
            </a:r>
          </a:p>
        </p:txBody>
      </p:sp>
    </p:spTree>
    <p:extLst>
      <p:ext uri="{BB962C8B-B14F-4D97-AF65-F5344CB8AC3E}">
        <p14:creationId xmlns:p14="http://schemas.microsoft.com/office/powerpoint/2010/main" val="49265468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B0A989-3D3B-4137-8D53-0E710D388A33}"/>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7. Откуда берётся пауза 0,5 с</a:t>
            </a:r>
          </a:p>
        </p:txBody>
      </p:sp>
      <p:sp>
        <p:nvSpPr>
          <p:cNvPr id="2" name="">
            <a:extLst xmlns:a="http://schemas.openxmlformats.org/drawingml/2006/main">
              <a:ext uri="{FF2B5EF4-FFF2-40B4-BE49-F238E27FC236}">
                <a16:creationId xmlns:a16="http://schemas.microsoft.com/office/drawing/2014/main" id="{58013D42-B8AB-4979-8491-5FD49C741060}"/>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42</a:t>
            </a:r>
          </a:p>
        </p:txBody>
      </p:sp>
      <p:sp>
        <p:nvSpPr>
          <p:cNvPr id="3" name="">
            <a:extLst xmlns:a="http://schemas.openxmlformats.org/drawingml/2006/main">
              <a:ext uri="{FF2B5EF4-FFF2-40B4-BE49-F238E27FC236}">
                <a16:creationId xmlns:a16="http://schemas.microsoft.com/office/drawing/2014/main" id="{B53BC785-2A05-4302-8D8D-8D650EEDBA34}"/>
              </a:ext>
            </a:extLst>
          </p:cNvPr>
          <p:cNvSpPr>
            <a:spLocks xmlns:a="http://schemas.openxmlformats.org/drawingml/2006/main" noGrp="1"/>
          </p:cNvSpPr>
          <p:nvPr/>
        </p:nvSpPr>
        <p:spPr>
          <a:xfrm xmlns:a="http://schemas.openxmlformats.org/drawingml/2006/main">
            <a:off x="609600" y="144780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У мимозы волна сигнала вызывает движения листочков.</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Скорость v ≈5 мм/с берём как ориентир для модели.</a:t>
            </a:r>
          </a:p>
        </p:txBody>
      </p:sp>
      <p:sp>
        <p:nvSpPr>
          <p:cNvPr id="4" name="">
            <a:extLst xmlns:a="http://schemas.openxmlformats.org/drawingml/2006/main">
              <a:ext uri="{FF2B5EF4-FFF2-40B4-BE49-F238E27FC236}">
                <a16:creationId xmlns:a16="http://schemas.microsoft.com/office/drawing/2014/main" id="{87997D32-075F-4111-ACC9-FF079868500D}"/>
              </a:ext>
            </a:extLst>
          </p:cNvPr>
          <p:cNvSpPr>
            <a:spLocks xmlns:a="http://schemas.openxmlformats.org/drawingml/2006/main" noGrp="1"/>
          </p:cNvSpPr>
          <p:nvPr/>
        </p:nvSpPr>
        <p:spPr>
          <a:xfrm xmlns:a="http://schemas.openxmlformats.org/drawingml/2006/main">
            <a:off x="609600" y="26860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1. Между ответвлениями к спускам задаём 2,55 мм общего пути.</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65190171370464b"/>
          <a:stretch xmlns:a="http://schemas.openxmlformats.org/drawingml/2006/main"/>
        </p:blipFill>
        <p:spPr>
          <a:xfrm xmlns:a="http://schemas.openxmlformats.org/drawingml/2006/main">
            <a:off x="609600" y="3367662"/>
            <a:ext cx="4629390" cy="81800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469150-76C6-438E-88CE-4F9194E48ACF}"/>
              </a:ext>
            </a:extLst>
          </p:cNvPr>
          <p:cNvSpPr>
            <a:spLocks xmlns:a="http://schemas.openxmlformats.org/drawingml/2006/main" noGrp="1"/>
          </p:cNvSpPr>
          <p:nvPr/>
        </p:nvSpPr>
        <p:spPr>
          <a:xfrm xmlns:a="http://schemas.openxmlformats.org/drawingml/2006/main">
            <a:off x="609600" y="44672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2. Щелчок длится около 0,01 с.</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8f94992081546d9"/>
          <a:stretch xmlns:a="http://schemas.openxmlformats.org/drawingml/2006/main"/>
        </p:blipFill>
        <p:spPr>
          <a:xfrm xmlns:a="http://schemas.openxmlformats.org/drawingml/2006/main">
            <a:off x="609600" y="5194115"/>
            <a:ext cx="5707680" cy="35597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E3B648D-8B22-4C83-89FB-FE44F3F1FA1E}"/>
              </a:ext>
            </a:extLst>
          </p:cNvPr>
          <p:cNvSpPr>
            <a:spLocks xmlns:a="http://schemas.openxmlformats.org/drawingml/2006/main" noGrp="1"/>
          </p:cNvSpPr>
          <p:nvPr/>
        </p:nvSpPr>
        <p:spPr>
          <a:xfrm xmlns:a="http://schemas.openxmlformats.org/drawingml/2006/main">
            <a:off x="609600" y="59055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39667D"/>
                </a:solidFill>
                <a:latin typeface="Arial"/>
                <a:ea typeface="Arial"/>
                <a:cs typeface="Arial"/>
              </a:defRPr>
            </a:pPr>
            <a:r>
              <a:rPr sz="2325" b="1">
                <a:solidFill>
                  <a:srgbClr val="39667D"/>
                </a:solidFill>
                <a:latin typeface="Arial"/>
                <a:ea typeface="Arial"/>
                <a:cs typeface="Arial"/>
              </a:rPr>
              <a:t>Соединим четыре спуска общим путём сигнала.</a:t>
            </a:r>
          </a:p>
        </p:txBody>
      </p:sp>
      <p:sp>
        <p:nvSpPr>
          <p:cNvPr id="9" name="">
            <a:extLst xmlns:a="http://schemas.openxmlformats.org/drawingml/2006/main">
              <a:ext uri="{FF2B5EF4-FFF2-40B4-BE49-F238E27FC236}">
                <a16:creationId xmlns:a16="http://schemas.microsoft.com/office/drawing/2014/main" id="{FEA0DC8D-F560-41F3-A142-A30447622EB2}"/>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[23], [24]</a:t>
            </a:r>
          </a:p>
        </p:txBody>
      </p:sp>
    </p:spTree>
    <p:extLst>
      <p:ext uri="{BB962C8B-B14F-4D97-AF65-F5344CB8AC3E}">
        <p14:creationId xmlns:p14="http://schemas.microsoft.com/office/powerpoint/2010/main" val="14546051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26C5C9-0B28-4C60-AC64-87A81F36FADD}"/>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Согласованы ли энергия и быстрый щелчок?</a:t>
            </a:r>
          </a:p>
        </p:txBody>
      </p:sp>
      <p:sp>
        <p:nvSpPr>
          <p:cNvPr id="2" name="">
            <a:extLst xmlns:a="http://schemas.openxmlformats.org/drawingml/2006/main">
              <a:ext uri="{FF2B5EF4-FFF2-40B4-BE49-F238E27FC236}">
                <a16:creationId xmlns:a16="http://schemas.microsoft.com/office/drawing/2014/main" id="{E64AC209-235E-4CBB-9107-DF5F1C38F5E2}"/>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43</a:t>
            </a:r>
          </a:p>
        </p:txBody>
      </p:sp>
      <p:sp>
        <p:nvSpPr>
          <p:cNvPr id="3" name="">
            <a:extLst xmlns:a="http://schemas.openxmlformats.org/drawingml/2006/main">
              <a:ext uri="{FF2B5EF4-FFF2-40B4-BE49-F238E27FC236}">
                <a16:creationId xmlns:a16="http://schemas.microsoft.com/office/drawing/2014/main" id="{B047D8C3-4B00-4D54-BD9D-FECE85F227C0}"/>
              </a:ext>
            </a:extLst>
          </p:cNvPr>
          <p:cNvSpPr>
            <a:spLocks xmlns:a="http://schemas.openxmlformats.org/drawingml/2006/main" noGrp="1"/>
          </p:cNvSpPr>
          <p:nvPr/>
        </p:nvSpPr>
        <p:spPr>
          <a:xfrm xmlns:a="http://schemas.openxmlformats.org/drawingml/2006/main">
            <a:off x="609600" y="14382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Пластинка: радиус 3,2 мм; толщина 0,2 мм; плотность 700 кг/м³.</a:t>
            </a:r>
          </a:p>
        </p:txBody>
      </p:sp>
      <p:sp>
        <p:nvSpPr>
          <p:cNvPr id="4" name="">
            <a:extLst xmlns:a="http://schemas.openxmlformats.org/drawingml/2006/main">
              <a:ext uri="{FF2B5EF4-FFF2-40B4-BE49-F238E27FC236}">
                <a16:creationId xmlns:a16="http://schemas.microsoft.com/office/drawing/2014/main" id="{47604D65-0BBE-44F0-AC37-D61441A55E27}"/>
              </a:ext>
            </a:extLst>
          </p:cNvPr>
          <p:cNvSpPr>
            <a:spLocks xmlns:a="http://schemas.openxmlformats.org/drawingml/2006/main" noGrp="1"/>
          </p:cNvSpPr>
          <p:nvPr/>
        </p:nvSpPr>
        <p:spPr>
          <a:xfrm xmlns:a="http://schemas.openxmlformats.org/drawingml/2006/main">
            <a:off x="609600" y="23622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Масса ≈4,5 мг. Для выбранной моды mэфф = масса / 5 ≈0,90 мг.</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ae444addd874c52"/>
          <a:stretch xmlns:a="http://schemas.openxmlformats.org/drawingml/2006/main"/>
        </p:blipFill>
        <p:spPr>
          <a:xfrm xmlns:a="http://schemas.openxmlformats.org/drawingml/2006/main">
            <a:off x="609600" y="3152780"/>
            <a:ext cx="4267749" cy="77151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81D144C-548A-4EAF-B4F1-EA0B9826B9D2}"/>
              </a:ext>
            </a:extLst>
          </p:cNvPr>
          <p:cNvSpPr>
            <a:spLocks xmlns:a="http://schemas.openxmlformats.org/drawingml/2006/main" noGrp="1"/>
          </p:cNvSpPr>
          <p:nvPr/>
        </p:nvSpPr>
        <p:spPr>
          <a:xfrm xmlns:a="http://schemas.openxmlformats.org/drawingml/2006/main">
            <a:off x="609600" y="417195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Если все 100 мкДж перейдут в движение этой моды:</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c55daba5514c5e"/>
          <a:stretch xmlns:a="http://schemas.openxmlformats.org/drawingml/2006/main"/>
        </p:blipFill>
        <p:spPr>
          <a:xfrm xmlns:a="http://schemas.openxmlformats.org/drawingml/2006/main">
            <a:off x="611825" y="4629150"/>
            <a:ext cx="5390615" cy="8096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266C1AF-A2B0-4066-B266-D476BCEFF1AB}"/>
              </a:ext>
            </a:extLst>
          </p:cNvPr>
          <p:cNvSpPr>
            <a:spLocks xmlns:a="http://schemas.openxmlformats.org/drawingml/2006/main" noGrp="1"/>
          </p:cNvSpPr>
          <p:nvPr/>
        </p:nvSpPr>
        <p:spPr>
          <a:xfrm xmlns:a="http://schemas.openxmlformats.org/drawingml/2006/main">
            <a:off x="609600" y="57054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63B31"/>
                </a:solidFill>
                <a:latin typeface="Arial"/>
                <a:ea typeface="Arial"/>
                <a:cs typeface="Arial"/>
              </a:defRPr>
            </a:pPr>
            <a:r>
              <a:rPr sz="2100" b="1">
                <a:solidFill>
                  <a:srgbClr val="263B31"/>
                </a:solidFill>
                <a:latin typeface="Arial"/>
                <a:ea typeface="Arial"/>
                <a:cs typeface="Arial"/>
              </a:rPr>
              <a:t>4 м/с — требование к звуковой моде; 15 м/с — предел по энергии.</a:t>
            </a:r>
          </a:p>
          <a:p xmlns:a="http://schemas.openxmlformats.org/drawingml/2006/main">
            <a:pPr algn="l">
              <a:defRPr sz="2100" b="1">
                <a:solidFill>
                  <a:srgbClr val="263B31"/>
                </a:solidFill>
                <a:latin typeface="Arial"/>
                <a:ea typeface="Arial"/>
                <a:cs typeface="Arial"/>
              </a:defRPr>
            </a:pPr>
            <a:r>
              <a:rPr sz="2100" b="1">
                <a:solidFill>
                  <a:srgbClr val="263B31"/>
                </a:solidFill>
                <a:latin typeface="Arial"/>
                <a:ea typeface="Arial"/>
                <a:cs typeface="Arial"/>
              </a:rPr>
              <a:t>Распределение энергии при спуске определяет фактическую скорость.</a:t>
            </a:r>
          </a:p>
        </p:txBody>
      </p:sp>
    </p:spTree>
    <p:extLst>
      <p:ext uri="{BB962C8B-B14F-4D97-AF65-F5344CB8AC3E}">
        <p14:creationId xmlns:p14="http://schemas.microsoft.com/office/powerpoint/2010/main" val="197840940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F62B04-BD74-49E0-B3D2-1E42E3053EBB}"/>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8. Создание органов</a:t>
            </a:r>
          </a:p>
        </p:txBody>
      </p:sp>
      <p:sp>
        <p:nvSpPr>
          <p:cNvPr id="2" name="">
            <a:extLst xmlns:a="http://schemas.openxmlformats.org/drawingml/2006/main">
              <a:ext uri="{FF2B5EF4-FFF2-40B4-BE49-F238E27FC236}">
                <a16:creationId xmlns:a16="http://schemas.microsoft.com/office/drawing/2014/main" id="{BCF22B61-38EF-4C1C-8675-CFFD15166127}"/>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44</a:t>
            </a:r>
          </a:p>
        </p:txBody>
      </p:sp>
      <p:graphicFrame>
        <p:nvGraphicFramePr>
          <p:cNvPr id="9" name=""/>
          <p:cNvGraphicFramePr/>
          <p:nvPr/>
        </p:nvGraphicFramePr>
        <p:xfrm>
          <a:off xmlns:a="http://schemas.openxmlformats.org/drawingml/2006/main" x="609600" y="1524000"/>
          <a:ext xmlns:a="http://schemas.openxmlformats.org/drawingml/2006/main" cx="10972800" cy="3086100"/>
        </p:xfrm>
        <a:graphic xmlns:a="http://schemas.openxmlformats.org/drawingml/2006/main">
          <a:graphicData uri="http://schemas.openxmlformats.org/drawingml/2006/table">
            <a:tbl>
              <a:tblPr/>
              <a:tblGrid>
                <a:gridCol w="4229100"/>
                <a:gridCol w="6743700"/>
              </a:tblGrid>
              <a:tr h="628650">
                <a:tc>
                  <a:txBody>
                    <a:bodyPr lIns="142875" tIns="76200" rIns="114300" bIns="76200">
                      <a:noAutofit/>
                    </a:bodyPr>
                    <a:lstStyle/>
                    <a:p>
                      <a:r>
                        <a:rPr sz="2250" b="1">
                          <a:solidFill>
                            <a:srgbClr val="FFFFFF"/>
                          </a:solidFill>
                          <a:latin typeface="Arial"/>
                          <a:ea typeface="Arial"/>
                          <a:cs typeface="Arial"/>
                        </a:rPr>
                        <a:t>Что задаём</a:t>
                      </a:r>
                    </a:p>
                  </a:txBody>
                  <a:tcPr marL="91440" marR="91440" marT="45720" marB="45720" anchor="ctr">
                    <a:solidFill>
                      <a:srgbClr val="263B31"/>
                    </a:solidFill>
                  </a:tcPr>
                </a:tc>
                <a:tc>
                  <a:txBody>
                    <a:bodyPr lIns="142875" tIns="76200" rIns="114300" bIns="76200">
                      <a:noAutofit/>
                    </a:bodyPr>
                    <a:lstStyle/>
                    <a:p>
                      <a:r>
                        <a:rPr sz="2250" b="1">
                          <a:solidFill>
                            <a:srgbClr val="FFFFFF"/>
                          </a:solidFill>
                          <a:latin typeface="Arial"/>
                          <a:ea typeface="Arial"/>
                          <a:cs typeface="Arial"/>
                        </a:rPr>
                        <a:t>Приблизительное значение</a:t>
                      </a:r>
                    </a:p>
                  </a:txBody>
                  <a:tcPr marL="91440" marR="91440" marT="45720" marB="45720" anchor="ctr">
                    <a:solidFill>
                      <a:srgbClr val="263B31"/>
                    </a:solidFill>
                  </a:tcPr>
                </a:tc>
              </a:tr>
              <a:tr h="819150">
                <a:tc>
                  <a:txBody>
                    <a:bodyPr lIns="142875" tIns="76200" rIns="114300" bIns="76200">
                      <a:noAutofit/>
                    </a:bodyPr>
                    <a:lstStyle/>
                    <a:p>
                      <a:r>
                        <a:rPr sz="2250" b="1">
                          <a:solidFill>
                            <a:srgbClr val="263B31"/>
                          </a:solidFill>
                          <a:latin typeface="Arial"/>
                          <a:ea typeface="Arial"/>
                          <a:cs typeface="Arial"/>
                        </a:rPr>
                        <a:t>Сухая масса одного узла</a:t>
                      </a:r>
                    </a:p>
                  </a:txBody>
                  <a:tcPr marL="91440" marR="91440" marT="45720" marB="45720" anchor="ctr">
                    <a:solidFill>
                      <a:srgbClr val="EDF3EB"/>
                    </a:solidFill>
                  </a:tcPr>
                </a:tc>
                <a:tc>
                  <a:txBody>
                    <a:bodyPr lIns="142875" tIns="76200" rIns="114300" bIns="76200">
                      <a:noAutofit/>
                    </a:bodyPr>
                    <a:lstStyle/>
                    <a:p>
                      <a:r>
                        <a:rPr sz="2250" b="0">
                          <a:solidFill>
                            <a:srgbClr val="263B31"/>
                          </a:solidFill>
                          <a:latin typeface="Arial"/>
                          <a:ea typeface="Arial"/>
                          <a:cs typeface="Arial"/>
                        </a:rPr>
                        <a:t>0,5 г на все 4 прицветника и опору</a:t>
                      </a:r>
                    </a:p>
                  </a:txBody>
                  <a:tcPr marL="91440" marR="91440" marT="45720" marB="45720" anchor="ctr">
                    <a:solidFill>
                      <a:srgbClr val="FFFFFF"/>
                    </a:solidFill>
                  </a:tcPr>
                </a:tc>
              </a:tr>
              <a:tr h="819150">
                <a:tc>
                  <a:txBody>
                    <a:bodyPr lIns="142875" tIns="76200" rIns="114300" bIns="76200">
                      <a:noAutofit/>
                    </a:bodyPr>
                    <a:lstStyle/>
                    <a:p>
                      <a:r>
                        <a:rPr sz="2250" b="1">
                          <a:solidFill>
                            <a:srgbClr val="263B31"/>
                          </a:solidFill>
                          <a:latin typeface="Arial"/>
                          <a:ea typeface="Arial"/>
                          <a:cs typeface="Arial"/>
                        </a:rPr>
                        <a:t>Число узлов</a:t>
                      </a:r>
                    </a:p>
                  </a:txBody>
                  <a:tcPr marL="91440" marR="91440" marT="45720" marB="45720" anchor="ctr">
                    <a:solidFill>
                      <a:srgbClr val="EDF3EB"/>
                    </a:solidFill>
                  </a:tcPr>
                </a:tc>
                <a:tc>
                  <a:txBody>
                    <a:bodyPr lIns="142875" tIns="76200" rIns="114300" bIns="76200">
                      <a:noAutofit/>
                    </a:bodyPr>
                    <a:lstStyle/>
                    <a:p>
                      <a:r>
                        <a:rPr sz="2250" b="0">
                          <a:solidFill>
                            <a:srgbClr val="263B31"/>
                          </a:solidFill>
                          <a:latin typeface="Arial"/>
                          <a:ea typeface="Arial"/>
                          <a:cs typeface="Arial"/>
                        </a:rPr>
                        <a:t>10 на дереве → всего 5 г сухой массы</a:t>
                      </a:r>
                    </a:p>
                  </a:txBody>
                  <a:tcPr marL="91440" marR="91440" marT="45720" marB="45720" anchor="ctr">
                    <a:solidFill>
                      <a:srgbClr val="FFFFFF"/>
                    </a:solidFill>
                  </a:tcPr>
                </a:tc>
              </a:tr>
              <a:tr h="819150">
                <a:tc>
                  <a:txBody>
                    <a:bodyPr lIns="142875" tIns="76200" rIns="114300" bIns="76200">
                      <a:noAutofit/>
                    </a:bodyPr>
                    <a:lstStyle/>
                    <a:p>
                      <a:r>
                        <a:rPr sz="2250" b="1">
                          <a:solidFill>
                            <a:srgbClr val="263B31"/>
                          </a:solidFill>
                          <a:latin typeface="Arial"/>
                          <a:ea typeface="Arial"/>
                          <a:cs typeface="Arial"/>
                        </a:rPr>
                        <a:t>Цена создания 1 г ткани</a:t>
                      </a:r>
                    </a:p>
                  </a:txBody>
                  <a:tcPr marL="91440" marR="91440" marT="45720" marB="45720" anchor="ctr">
                    <a:solidFill>
                      <a:srgbClr val="EDF3EB"/>
                    </a:solidFill>
                  </a:tcPr>
                </a:tc>
                <a:tc>
                  <a:txBody>
                    <a:bodyPr lIns="142875" tIns="76200" rIns="114300" bIns="76200">
                      <a:noAutofit/>
                    </a:bodyPr>
                    <a:lstStyle/>
                    <a:p>
                      <a:r>
                        <a:rPr sz="2250" b="0">
                          <a:solidFill>
                            <a:srgbClr val="263B31"/>
                          </a:solidFill>
                          <a:latin typeface="Arial"/>
                          <a:ea typeface="Arial"/>
                          <a:cs typeface="Arial"/>
                        </a:rPr>
                        <a:t>1,5 г глюкозы на 1 г сухой массы</a:t>
                      </a:r>
                    </a:p>
                  </a:txBody>
                  <a:tcPr marL="91440" marR="91440" marT="45720" marB="45720" anchor="ctr">
                    <a:solidFill>
                      <a:srgbClr val="FFFFFF"/>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b90d267a3334b4b"/>
          <a:stretch xmlns:a="http://schemas.openxmlformats.org/drawingml/2006/main"/>
        </p:blipFill>
        <p:spPr>
          <a:xfrm xmlns:a="http://schemas.openxmlformats.org/drawingml/2006/main">
            <a:off x="609600" y="5050620"/>
            <a:ext cx="3966332" cy="37626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c93b6960ea94473"/>
          <a:stretch xmlns:a="http://schemas.openxmlformats.org/drawingml/2006/main"/>
        </p:blipFill>
        <p:spPr>
          <a:xfrm xmlns:a="http://schemas.openxmlformats.org/drawingml/2006/main">
            <a:off x="609600" y="5813262"/>
            <a:ext cx="4746827" cy="3559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B0C717-9A04-47EB-AC23-6B36E92E69E6}"/>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[9], [12]</a:t>
            </a:r>
          </a:p>
        </p:txBody>
      </p:sp>
    </p:spTree>
    <p:extLst>
      <p:ext uri="{BB962C8B-B14F-4D97-AF65-F5344CB8AC3E}">
        <p14:creationId xmlns:p14="http://schemas.microsoft.com/office/powerpoint/2010/main" val="12380414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24AE7C-DE93-41A2-B153-77C832A3F384}"/>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9. Обслуживание и работа</a:t>
            </a:r>
          </a:p>
        </p:txBody>
      </p:sp>
      <p:sp>
        <p:nvSpPr>
          <p:cNvPr id="2" name="">
            <a:extLst xmlns:a="http://schemas.openxmlformats.org/drawingml/2006/main">
              <a:ext uri="{FF2B5EF4-FFF2-40B4-BE49-F238E27FC236}">
                <a16:creationId xmlns:a16="http://schemas.microsoft.com/office/drawing/2014/main" id="{1D856CFE-2BA9-46E8-9FAE-BC26596E190B}"/>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45</a:t>
            </a:r>
          </a:p>
        </p:txBody>
      </p:sp>
      <p:sp>
        <p:nvSpPr>
          <p:cNvPr id="3" name="">
            <a:extLst xmlns:a="http://schemas.openxmlformats.org/drawingml/2006/main">
              <a:ext uri="{FF2B5EF4-FFF2-40B4-BE49-F238E27FC236}">
                <a16:creationId xmlns:a16="http://schemas.microsoft.com/office/drawing/2014/main" id="{72CF391B-AC52-41A5-8665-1477DF5309D6}"/>
              </a:ext>
            </a:extLst>
          </p:cNvPr>
          <p:cNvSpPr>
            <a:spLocks xmlns:a="http://schemas.openxmlformats.org/drawingml/2006/main" noGrp="1"/>
          </p:cNvSpPr>
          <p:nvPr/>
        </p:nvSpPr>
        <p:spPr>
          <a:xfrm xmlns:a="http://schemas.openxmlformats.org/drawingml/2006/main">
            <a:off x="609600" y="15335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Обслуживание живых клеток</a:t>
            </a:r>
          </a:p>
        </p:txBody>
      </p:sp>
      <p:sp>
        <p:nvSpPr>
          <p:cNvPr id="4" name="">
            <a:extLst xmlns:a="http://schemas.openxmlformats.org/drawingml/2006/main">
              <a:ext uri="{FF2B5EF4-FFF2-40B4-BE49-F238E27FC236}">
                <a16:creationId xmlns:a16="http://schemas.microsoft.com/office/drawing/2014/main" id="{A7127D97-5B9E-4B50-AD5D-A581047BDCFD}"/>
              </a:ext>
            </a:extLst>
          </p:cNvPr>
          <p:cNvSpPr>
            <a:spLocks xmlns:a="http://schemas.openxmlformats.org/drawingml/2006/main" noGrp="1"/>
          </p:cNvSpPr>
          <p:nvPr/>
        </p:nvSpPr>
        <p:spPr>
          <a:xfrm xmlns:a="http://schemas.openxmlformats.org/drawingml/2006/main">
            <a:off x="609600" y="21336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Живые ткани: 10% от 5 г = 0,5 г. Сезон: 100 дней.</a:t>
            </a:r>
          </a:p>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Примем расход 0,01 г глюкозы на 1 г живой сухой ткани в день.</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fa4a7c5cbe4816"/>
          <a:stretch xmlns:a="http://schemas.openxmlformats.org/drawingml/2006/main"/>
        </p:blipFill>
        <p:spPr>
          <a:xfrm xmlns:a="http://schemas.openxmlformats.org/drawingml/2006/main">
            <a:off x="609600" y="3404697"/>
            <a:ext cx="5804693" cy="31530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25B602-E7CE-4A5C-9E1D-080C500117EB}"/>
              </a:ext>
            </a:extLst>
          </p:cNvPr>
          <p:cNvSpPr>
            <a:spLocks xmlns:a="http://schemas.openxmlformats.org/drawingml/2006/main" noGrp="1"/>
          </p:cNvSpPr>
          <p:nvPr/>
        </p:nvSpPr>
        <p:spPr>
          <a:xfrm xmlns:a="http://schemas.openxmlformats.org/drawingml/2006/main" flipV="0">
            <a:off x="609600" y="4229100"/>
            <a:ext cx="10972800" cy="953"/>
          </a:xfrm>
          <a:prstGeom xmlns:a="http://schemas.openxmlformats.org/drawingml/2006/main" prst="line">
            <a:avLst/>
          </a:prstGeom>
          <a:noFill xmlns:a="http://schemas.openxmlformats.org/drawingml/2006/main"/>
          <a:ln xmlns:a="http://schemas.openxmlformats.org/drawingml/2006/main" w="19050">
            <a:solidFill>
              <a:srgbClr val="DCE4DB"/>
            </a:solidFill>
          </a:ln>
        </p:spPr>
      </p:sp>
      <p:sp>
        <p:nvSpPr>
          <p:cNvPr id="7" name="">
            <a:extLst xmlns:a="http://schemas.openxmlformats.org/drawingml/2006/main">
              <a:ext uri="{FF2B5EF4-FFF2-40B4-BE49-F238E27FC236}">
                <a16:creationId xmlns:a16="http://schemas.microsoft.com/office/drawing/2014/main" id="{51F53EFF-43E8-4284-9B7D-83288EA93C82}"/>
              </a:ext>
            </a:extLst>
          </p:cNvPr>
          <p:cNvSpPr>
            <a:spLocks xmlns:a="http://schemas.openxmlformats.org/drawingml/2006/main" noGrp="1"/>
          </p:cNvSpPr>
          <p:nvPr/>
        </p:nvSpPr>
        <p:spPr>
          <a:xfrm xmlns:a="http://schemas.openxmlformats.org/drawingml/2006/main">
            <a:off x="609600" y="45148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Работа привода</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df9c500015f4ea2"/>
          <a:stretch xmlns:a="http://schemas.openxmlformats.org/drawingml/2006/main"/>
        </p:blipFill>
        <p:spPr>
          <a:xfrm xmlns:a="http://schemas.openxmlformats.org/drawingml/2006/main">
            <a:off x="609600" y="5047094"/>
            <a:ext cx="6923874" cy="71668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947EA0D-6C53-4970-BBDC-2680030230C5}"/>
              </a:ext>
            </a:extLst>
          </p:cNvPr>
          <p:cNvSpPr>
            <a:spLocks xmlns:a="http://schemas.openxmlformats.org/drawingml/2006/main" noGrp="1"/>
          </p:cNvSpPr>
          <p:nvPr/>
        </p:nvSpPr>
        <p:spPr>
          <a:xfrm xmlns:a="http://schemas.openxmlformats.org/drawingml/2006/main">
            <a:off x="609600" y="58388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0,01 — принятый КПД: 1% химической энергии превращается в работу.</a:t>
            </a:r>
          </a:p>
        </p:txBody>
      </p:sp>
      <p:sp>
        <p:nvSpPr>
          <p:cNvPr id="10" name="">
            <a:extLst xmlns:a="http://schemas.openxmlformats.org/drawingml/2006/main">
              <a:ext uri="{FF2B5EF4-FFF2-40B4-BE49-F238E27FC236}">
                <a16:creationId xmlns:a16="http://schemas.microsoft.com/office/drawing/2014/main" id="{F3FC9B68-7922-49E1-8DE9-218FE8CF6037}"/>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[10]</a:t>
            </a:r>
          </a:p>
        </p:txBody>
      </p:sp>
    </p:spTree>
    <p:extLst>
      <p:ext uri="{BB962C8B-B14F-4D97-AF65-F5344CB8AC3E}">
        <p14:creationId xmlns:p14="http://schemas.microsoft.com/office/powerpoint/2010/main" val="116974474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260939-49D4-49F3-8E05-4D945CBA0565}"/>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Расчёт 10. Сезонный итог</a:t>
            </a:r>
          </a:p>
        </p:txBody>
      </p:sp>
      <p:sp>
        <p:nvSpPr>
          <p:cNvPr id="2" name="">
            <a:extLst xmlns:a="http://schemas.openxmlformats.org/drawingml/2006/main">
              <a:ext uri="{FF2B5EF4-FFF2-40B4-BE49-F238E27FC236}">
                <a16:creationId xmlns:a16="http://schemas.microsoft.com/office/drawing/2014/main" id="{E9CF77C5-F4E5-4D99-98A8-33B6AA8DBAB9}"/>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46</a:t>
            </a:r>
          </a:p>
        </p:txBody>
      </p:sp>
      <p:graphicFrame>
        <p:nvGraphicFramePr>
          <p:cNvPr id="14" name="Chart"/>
          <p:cNvGraphicFramePr/>
          <p:nvPr/>
        </p:nvGraphicFramePr>
        <p:xfrm>
          <a:off xmlns:a="http://schemas.openxmlformats.org/drawingml/2006/main" x="609600" y="1724025"/>
          <a:ext xmlns:a="http://schemas.openxmlformats.org/drawingml/2006/main" cx="10972800" cy="1076325"/>
        </p:xfrm>
        <a:graphic xmlns:a="http://schemas.openxmlformats.org/drawingml/2006/main">
          <a:graphicData uri="http://schemas.openxmlformats.org/drawingml/2006/chart">
            <c:chart xmlns:r="http://schemas.openxmlformats.org/officeDocument/2006/relationships" xmlns:c="http://schemas.openxmlformats.org/drawingml/2006/chart" r:id="R06d95717a4744ed1"/>
          </a:graphicData>
        </a:graphic>
      </p:graphicFrame>
      <p:sp>
        <p:nvSpPr>
          <p:cNvPr id="4" name="">
            <a:extLst xmlns:a="http://schemas.openxmlformats.org/drawingml/2006/main">
              <a:ext uri="{FF2B5EF4-FFF2-40B4-BE49-F238E27FC236}">
                <a16:creationId xmlns:a16="http://schemas.microsoft.com/office/drawing/2014/main" id="{91111FC9-7A51-4663-B73B-28C402EF2CE3}"/>
              </a:ext>
            </a:extLst>
          </p:cNvPr>
          <p:cNvSpPr>
            <a:spLocks xmlns:a="http://schemas.openxmlformats.org/drawingml/2006/main" noGrp="1"/>
          </p:cNvSpPr>
          <p:nvPr/>
        </p:nvSpPr>
        <p:spPr>
          <a:xfrm xmlns:a="http://schemas.openxmlformats.org/drawingml/2006/main">
            <a:off x="609600" y="3067050"/>
            <a:ext cx="219075" cy="219075"/>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1FBC023-E31B-45AB-BE54-1C12708E7B18}"/>
              </a:ext>
            </a:extLst>
          </p:cNvPr>
          <p:cNvSpPr>
            <a:spLocks xmlns:a="http://schemas.openxmlformats.org/drawingml/2006/main" noGrp="1"/>
          </p:cNvSpPr>
          <p:nvPr/>
        </p:nvSpPr>
        <p:spPr>
          <a:xfrm xmlns:a="http://schemas.openxmlformats.org/drawingml/2006/main">
            <a:off x="1009650" y="2981325"/>
            <a:ext cx="1051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63B31"/>
                </a:solidFill>
                <a:latin typeface="Arial"/>
                <a:ea typeface="Arial"/>
                <a:cs typeface="Arial"/>
              </a:defRPr>
            </a:pPr>
            <a:r>
              <a:rPr sz="2475" b="0">
                <a:solidFill>
                  <a:srgbClr val="263B31"/>
                </a:solidFill>
                <a:latin typeface="Arial"/>
                <a:ea typeface="Arial"/>
                <a:cs typeface="Arial"/>
              </a:rPr>
              <a:t>Создание: 117 кДж</a:t>
            </a:r>
          </a:p>
        </p:txBody>
      </p:sp>
      <p:sp>
        <p:nvSpPr>
          <p:cNvPr id="6" name="">
            <a:extLst xmlns:a="http://schemas.openxmlformats.org/drawingml/2006/main">
              <a:ext uri="{FF2B5EF4-FFF2-40B4-BE49-F238E27FC236}">
                <a16:creationId xmlns:a16="http://schemas.microsoft.com/office/drawing/2014/main" id="{056ADC4C-2714-44B4-B010-2763565F016D}"/>
              </a:ext>
            </a:extLst>
          </p:cNvPr>
          <p:cNvSpPr>
            <a:spLocks xmlns:a="http://schemas.openxmlformats.org/drawingml/2006/main" noGrp="1"/>
          </p:cNvSpPr>
          <p:nvPr/>
        </p:nvSpPr>
        <p:spPr>
          <a:xfrm xmlns:a="http://schemas.openxmlformats.org/drawingml/2006/main">
            <a:off x="609600" y="3743325"/>
            <a:ext cx="219075" cy="219075"/>
          </a:xfrm>
          <a:prstGeom xmlns:a="http://schemas.openxmlformats.org/drawingml/2006/main" prst="rect">
            <a:avLst/>
          </a:prstGeom>
          <a:solidFill xmlns:a="http://schemas.openxmlformats.org/drawingml/2006/main">
            <a:srgbClr val="39667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8FA653E-0CD5-4E37-861D-E3E3889DA362}"/>
              </a:ext>
            </a:extLst>
          </p:cNvPr>
          <p:cNvSpPr>
            <a:spLocks xmlns:a="http://schemas.openxmlformats.org/drawingml/2006/main" noGrp="1"/>
          </p:cNvSpPr>
          <p:nvPr/>
        </p:nvSpPr>
        <p:spPr>
          <a:xfrm xmlns:a="http://schemas.openxmlformats.org/drawingml/2006/main">
            <a:off x="1009650" y="3657600"/>
            <a:ext cx="1051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63B31"/>
                </a:solidFill>
                <a:latin typeface="Arial"/>
                <a:ea typeface="Arial"/>
                <a:cs typeface="Arial"/>
              </a:defRPr>
            </a:pPr>
            <a:r>
              <a:rPr sz="2475" b="0">
                <a:solidFill>
                  <a:srgbClr val="263B31"/>
                </a:solidFill>
                <a:latin typeface="Arial"/>
                <a:ea typeface="Arial"/>
                <a:cs typeface="Arial"/>
              </a:rPr>
              <a:t>Обслуживание: ≈8 кДж</a:t>
            </a:r>
          </a:p>
        </p:txBody>
      </p:sp>
      <p:sp>
        <p:nvSpPr>
          <p:cNvPr id="8" name="">
            <a:extLst xmlns:a="http://schemas.openxmlformats.org/drawingml/2006/main">
              <a:ext uri="{FF2B5EF4-FFF2-40B4-BE49-F238E27FC236}">
                <a16:creationId xmlns:a16="http://schemas.microsoft.com/office/drawing/2014/main" id="{584695C3-076C-413D-9B36-D7620969B999}"/>
              </a:ext>
            </a:extLst>
          </p:cNvPr>
          <p:cNvSpPr>
            <a:spLocks xmlns:a="http://schemas.openxmlformats.org/drawingml/2006/main" noGrp="1"/>
          </p:cNvSpPr>
          <p:nvPr/>
        </p:nvSpPr>
        <p:spPr>
          <a:xfrm xmlns:a="http://schemas.openxmlformats.org/drawingml/2006/main">
            <a:off x="609600" y="4419600"/>
            <a:ext cx="219075" cy="219075"/>
          </a:xfrm>
          <a:prstGeom xmlns:a="http://schemas.openxmlformats.org/drawingml/2006/main" prst="rect">
            <a:avLst/>
          </a:prstGeom>
          <a:solidFill xmlns:a="http://schemas.openxmlformats.org/drawingml/2006/main">
            <a:srgbClr val="A9674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31EEDFC-FE07-4748-AC8F-E7E494000ABF}"/>
              </a:ext>
            </a:extLst>
          </p:cNvPr>
          <p:cNvSpPr>
            <a:spLocks xmlns:a="http://schemas.openxmlformats.org/drawingml/2006/main" noGrp="1"/>
          </p:cNvSpPr>
          <p:nvPr/>
        </p:nvSpPr>
        <p:spPr>
          <a:xfrm xmlns:a="http://schemas.openxmlformats.org/drawingml/2006/main">
            <a:off x="1009650" y="4333875"/>
            <a:ext cx="1051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263B31"/>
                </a:solidFill>
                <a:latin typeface="Arial"/>
                <a:ea typeface="Arial"/>
                <a:cs typeface="Arial"/>
              </a:defRPr>
            </a:pPr>
            <a:r>
              <a:rPr sz="2475" b="0">
                <a:solidFill>
                  <a:srgbClr val="263B31"/>
                </a:solidFill>
                <a:latin typeface="Arial"/>
                <a:ea typeface="Arial"/>
                <a:cs typeface="Arial"/>
              </a:rPr>
              <a:t>Работа: 1 кДж</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158a2f0bcd94f48"/>
          <a:stretch xmlns:a="http://schemas.openxmlformats.org/drawingml/2006/main"/>
        </p:blipFill>
        <p:spPr>
          <a:xfrm xmlns:a="http://schemas.openxmlformats.org/drawingml/2006/main">
            <a:off x="609600" y="5302035"/>
            <a:ext cx="5842483" cy="40683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EDB1903-A939-4EB1-98C1-8E83F6ABE6E4}"/>
              </a:ext>
            </a:extLst>
          </p:cNvPr>
          <p:cNvSpPr>
            <a:spLocks xmlns:a="http://schemas.openxmlformats.org/drawingml/2006/main" noGrp="1"/>
          </p:cNvSpPr>
          <p:nvPr/>
        </p:nvSpPr>
        <p:spPr>
          <a:xfrm xmlns:a="http://schemas.openxmlformats.org/drawingml/2006/main">
            <a:off x="609600" y="5991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Главный расход в этом примере — создание тканей.</a:t>
            </a:r>
          </a:p>
        </p:txBody>
      </p:sp>
    </p:spTree>
    <p:extLst>
      <p:ext uri="{BB962C8B-B14F-4D97-AF65-F5344CB8AC3E}">
        <p14:creationId xmlns:p14="http://schemas.microsoft.com/office/powerpoint/2010/main" val="72785710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4159A8-239C-47DD-90E5-03FBF2363988}"/>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Ориентир для размеров пластинки</a:t>
            </a:r>
          </a:p>
        </p:txBody>
      </p:sp>
      <p:sp>
        <p:nvSpPr>
          <p:cNvPr id="2" name="">
            <a:extLst xmlns:a="http://schemas.openxmlformats.org/drawingml/2006/main">
              <a:ext uri="{FF2B5EF4-FFF2-40B4-BE49-F238E27FC236}">
                <a16:creationId xmlns:a16="http://schemas.microsoft.com/office/drawing/2014/main" id="{2985E5CE-8297-4F10-AFD6-BB095C672B31}"/>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47</a:t>
            </a:r>
          </a:p>
        </p:txBody>
      </p:sp>
      <p:sp>
        <p:nvSpPr>
          <p:cNvPr id="3" name="">
            <a:extLst xmlns:a="http://schemas.openxmlformats.org/drawingml/2006/main">
              <a:ext uri="{FF2B5EF4-FFF2-40B4-BE49-F238E27FC236}">
                <a16:creationId xmlns:a16="http://schemas.microsoft.com/office/drawing/2014/main" id="{9835974C-F8BB-44A4-80F1-9B3CC055E4CC}"/>
              </a:ext>
            </a:extLst>
          </p:cNvPr>
          <p:cNvSpPr>
            <a:spLocks xmlns:a="http://schemas.openxmlformats.org/drawingml/2006/main" noGrp="1"/>
          </p:cNvSpPr>
          <p:nvPr/>
        </p:nvSpPr>
        <p:spPr>
          <a:xfrm xmlns:a="http://schemas.openxmlformats.org/drawingml/2006/main">
            <a:off x="609600" y="14763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Оценим плоскую круглую пластинку с закреплённым краем.</a:t>
            </a:r>
          </a:p>
        </p:txBody>
      </p:sp>
      <p:graphicFrame>
        <p:nvGraphicFramePr>
          <p:cNvPr id="12" name=""/>
          <p:cNvGraphicFramePr/>
          <p:nvPr/>
        </p:nvGraphicFramePr>
        <p:xfrm>
          <a:off xmlns:a="http://schemas.openxmlformats.org/drawingml/2006/main" x="609600" y="2324100"/>
          <a:ext xmlns:a="http://schemas.openxmlformats.org/drawingml/2006/main" cx="10972800" cy="1819275"/>
        </p:xfrm>
        <a:graphic xmlns:a="http://schemas.openxmlformats.org/drawingml/2006/main">
          <a:graphicData uri="http://schemas.openxmlformats.org/drawingml/2006/table">
            <a:tbl>
              <a:tblPr/>
              <a:tblGrid>
                <a:gridCol w="4533900"/>
                <a:gridCol w="6438900"/>
              </a:tblGrid>
              <a:tr h="619125">
                <a:tc>
                  <a:txBody>
                    <a:bodyPr lIns="142875" tIns="76200" rIns="114300" bIns="76200">
                      <a:noAutofit/>
                    </a:bodyPr>
                    <a:lstStyle/>
                    <a:p>
                      <a:r>
                        <a:rPr sz="2175" b="1">
                          <a:solidFill>
                            <a:srgbClr val="FFFFFF"/>
                          </a:solidFill>
                          <a:latin typeface="Arial"/>
                          <a:ea typeface="Arial"/>
                          <a:cs typeface="Arial"/>
                        </a:rPr>
                        <a:t>Геометрия</a:t>
                      </a:r>
                    </a:p>
                  </a:txBody>
                  <a:tcPr marL="91440" marR="91440" marT="45720" marB="45720" anchor="ctr">
                    <a:solidFill>
                      <a:srgbClr val="263B31"/>
                    </a:solidFill>
                  </a:tcPr>
                </a:tc>
                <a:tc>
                  <a:txBody>
                    <a:bodyPr lIns="142875" tIns="76200" rIns="114300" bIns="76200">
                      <a:noAutofit/>
                    </a:bodyPr>
                    <a:lstStyle/>
                    <a:p>
                      <a:r>
                        <a:rPr sz="2175" b="1">
                          <a:solidFill>
                            <a:srgbClr val="FFFFFF"/>
                          </a:solidFill>
                          <a:latin typeface="Arial"/>
                          <a:ea typeface="Arial"/>
                          <a:cs typeface="Arial"/>
                        </a:rPr>
                        <a:t>Свойства материала: допущения</a:t>
                      </a:r>
                    </a:p>
                  </a:txBody>
                  <a:tcPr marL="91440" marR="91440" marT="45720" marB="45720" anchor="ctr">
                    <a:solidFill>
                      <a:srgbClr val="263B31"/>
                    </a:solidFill>
                  </a:tcPr>
                </a:tc>
              </a:tr>
              <a:tr h="1200150">
                <a:tc>
                  <a:txBody>
                    <a:bodyPr lIns="142875" tIns="76200" rIns="114300" bIns="76200">
                      <a:noAutofit/>
                    </a:bodyPr>
                    <a:lstStyle/>
                    <a:p>
                      <a:r>
                        <a:rPr sz="2175" b="1">
                          <a:solidFill>
                            <a:srgbClr val="263B31"/>
                          </a:solidFill>
                          <a:latin typeface="Arial"/>
                          <a:ea typeface="Arial"/>
                          <a:cs typeface="Arial"/>
                        </a:rPr>
                        <a:t>Радиус a = 3,2 мм</a:t>
                      </a:r>
                    </a:p>
                    <a:p>
                      <a:r>
                        <a:rPr sz="2175" b="1">
                          <a:solidFill>
                            <a:srgbClr val="263B31"/>
                          </a:solidFill>
                          <a:latin typeface="Arial"/>
                          <a:ea typeface="Arial"/>
                          <a:cs typeface="Arial"/>
                        </a:rPr>
                        <a:t>Толщина h = 0,2 мм</a:t>
                      </a:r>
                    </a:p>
                  </a:txBody>
                  <a:tcPr marL="91440" marR="91440" marT="45720" marB="45720" anchor="ctr">
                    <a:solidFill>
                      <a:srgbClr val="EDF3EB"/>
                    </a:solidFill>
                  </a:tcPr>
                </a:tc>
                <a:tc>
                  <a:txBody>
                    <a:bodyPr lIns="142875" tIns="76200" rIns="114300" bIns="76200">
                      <a:noAutofit/>
                    </a:bodyPr>
                    <a:lstStyle/>
                    <a:p>
                      <a:r>
                        <a:rPr sz="2175" b="0">
                          <a:solidFill>
                            <a:srgbClr val="263B31"/>
                          </a:solidFill>
                          <a:latin typeface="Arial"/>
                          <a:ea typeface="Arial"/>
                          <a:cs typeface="Arial"/>
                        </a:rPr>
                        <a:t>Модуль упругости E = 3 ГПа</a:t>
                      </a:r>
                    </a:p>
                    <a:p>
                      <a:r>
                        <a:rPr sz="2175" b="0">
                          <a:solidFill>
                            <a:srgbClr val="263B31"/>
                          </a:solidFill>
                          <a:latin typeface="Arial"/>
                          <a:ea typeface="Arial"/>
                          <a:cs typeface="Arial"/>
                        </a:rPr>
                        <a:t>Плотность ρ = 700 кг/м³</a:t>
                      </a:r>
                    </a:p>
                    <a:p>
                      <a:r>
                        <a:rPr sz="2175" b="0">
                          <a:solidFill>
                            <a:srgbClr val="263B31"/>
                          </a:solidFill>
                          <a:latin typeface="Arial"/>
                          <a:ea typeface="Arial"/>
                          <a:cs typeface="Arial"/>
                        </a:rPr>
                        <a:t>Коэффициент Пуассона ν = 0,3</a:t>
                      </a:r>
                    </a:p>
                  </a:txBody>
                  <a:tcPr marL="91440" marR="91440" marT="45720" marB="45720" anchor="ctr">
                    <a:solidFill>
                      <a:srgbClr val="FFFFFF"/>
                    </a:solid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bfc540b29ef48bd"/>
          <a:stretch xmlns:a="http://schemas.openxmlformats.org/drawingml/2006/main"/>
        </p:blipFill>
        <p:spPr>
          <a:xfrm xmlns:a="http://schemas.openxmlformats.org/drawingml/2006/main">
            <a:off x="611511" y="4295013"/>
            <a:ext cx="5314180" cy="104927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83A83B-3638-493B-8FFB-01920CD65F3A}"/>
              </a:ext>
            </a:extLst>
          </p:cNvPr>
          <p:cNvSpPr>
            <a:spLocks xmlns:a="http://schemas.openxmlformats.org/drawingml/2006/main" noGrp="1"/>
          </p:cNvSpPr>
          <p:nvPr/>
        </p:nvSpPr>
        <p:spPr>
          <a:xfrm xmlns:a="http://schemas.openxmlformats.org/drawingml/2006/main">
            <a:off x="609600" y="54292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10,21 — коэффициент для этой формы и закрепления края.</a:t>
            </a:r>
          </a:p>
        </p:txBody>
      </p:sp>
      <p:sp>
        <p:nvSpPr>
          <p:cNvPr id="7" name="">
            <a:extLst xmlns:a="http://schemas.openxmlformats.org/drawingml/2006/main">
              <a:ext uri="{FF2B5EF4-FFF2-40B4-BE49-F238E27FC236}">
                <a16:creationId xmlns:a16="http://schemas.microsoft.com/office/drawing/2014/main" id="{E58FACE3-8793-4281-9CA7-B814A473B808}"/>
              </a:ext>
            </a:extLst>
          </p:cNvPr>
          <p:cNvSpPr>
            <a:spLocks xmlns:a="http://schemas.openxmlformats.org/drawingml/2006/main" noGrp="1"/>
          </p:cNvSpPr>
          <p:nvPr/>
        </p:nvSpPr>
        <p:spPr>
          <a:xfrm xmlns:a="http://schemas.openxmlformats.org/drawingml/2006/main">
            <a:off x="609600" y="59245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Частота зависит от формы, влажности и закрепления органа.</a:t>
            </a:r>
          </a:p>
        </p:txBody>
      </p:sp>
      <p:sp>
        <p:nvSpPr>
          <p:cNvPr id="8" name="">
            <a:extLst xmlns:a="http://schemas.openxmlformats.org/drawingml/2006/main">
              <a:ext uri="{FF2B5EF4-FFF2-40B4-BE49-F238E27FC236}">
                <a16:creationId xmlns:a16="http://schemas.microsoft.com/office/drawing/2014/main" id="{0841E9BC-F320-49F0-B162-30C7E167DF8A}"/>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[14]</a:t>
            </a:r>
          </a:p>
        </p:txBody>
      </p:sp>
    </p:spTree>
    <p:extLst>
      <p:ext uri="{BB962C8B-B14F-4D97-AF65-F5344CB8AC3E}">
        <p14:creationId xmlns:p14="http://schemas.microsoft.com/office/powerpoint/2010/main" val="102054237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3A944EE-3E52-4640-AF8E-6E15D26849EE}"/>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Звуковая волна</a:t>
            </a:r>
          </a:p>
        </p:txBody>
      </p:sp>
      <p:sp>
        <p:nvSpPr>
          <p:cNvPr id="2" name="">
            <a:extLst xmlns:a="http://schemas.openxmlformats.org/drawingml/2006/main">
              <a:ext uri="{FF2B5EF4-FFF2-40B4-BE49-F238E27FC236}">
                <a16:creationId xmlns:a16="http://schemas.microsoft.com/office/drawing/2014/main" id="{0E56D5DE-AC2A-4BDE-BF94-6C5589D772A3}"/>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48</a:t>
            </a:r>
          </a:p>
        </p:txBody>
      </p:sp>
      <p:sp>
        <p:nvSpPr>
          <p:cNvPr id="3" name="">
            <a:extLst xmlns:a="http://schemas.openxmlformats.org/drawingml/2006/main">
              <a:ext uri="{FF2B5EF4-FFF2-40B4-BE49-F238E27FC236}">
                <a16:creationId xmlns:a16="http://schemas.microsoft.com/office/drawing/2014/main" id="{F9D988ED-54EF-4EB2-9F49-A08A7290F65E}"/>
              </a:ext>
            </a:extLst>
          </p:cNvPr>
          <p:cNvSpPr>
            <a:spLocks xmlns:a="http://schemas.openxmlformats.org/drawingml/2006/main" noGrp="1"/>
          </p:cNvSpPr>
          <p:nvPr/>
        </p:nvSpPr>
        <p:spPr>
          <a:xfrm xmlns:a="http://schemas.openxmlformats.org/drawingml/2006/main">
            <a:off x="7077075" y="1638300"/>
            <a:ext cx="4505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Частота и амплитуда</a:t>
            </a:r>
          </a:p>
        </p:txBody>
      </p:sp>
      <p:sp>
        <p:nvSpPr>
          <p:cNvPr id="4" name="">
            <a:extLst xmlns:a="http://schemas.openxmlformats.org/drawingml/2006/main">
              <a:ext uri="{FF2B5EF4-FFF2-40B4-BE49-F238E27FC236}">
                <a16:creationId xmlns:a16="http://schemas.microsoft.com/office/drawing/2014/main" id="{A5727F63-1B80-4D79-A700-68C98FC55CBD}"/>
              </a:ext>
            </a:extLst>
          </p:cNvPr>
          <p:cNvSpPr>
            <a:spLocks xmlns:a="http://schemas.openxmlformats.org/drawingml/2006/main" noGrp="1"/>
          </p:cNvSpPr>
          <p:nvPr/>
        </p:nvSpPr>
        <p:spPr>
          <a:xfrm xmlns:a="http://schemas.openxmlformats.org/drawingml/2006/main">
            <a:off x="7077075" y="2828925"/>
            <a:ext cx="4505325"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Частота: сколько колебаний</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происходит за секунду.</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Амплитуда: насколько сильно</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меняется давление.</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Щелчок содержит</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несколько частот.</a:t>
            </a:r>
          </a:p>
        </p:txBody>
      </p:sp>
      <p:sp>
        <p:nvSpPr>
          <p:cNvPr id="5" name="">
            <a:extLst xmlns:a="http://schemas.openxmlformats.org/drawingml/2006/main">
              <a:ext uri="{FF2B5EF4-FFF2-40B4-BE49-F238E27FC236}">
                <a16:creationId xmlns:a16="http://schemas.microsoft.com/office/drawing/2014/main" id="{94723AA9-4BA0-4518-B7F9-C39D379E2F77}"/>
              </a:ext>
            </a:extLst>
          </p:cNvPr>
          <p:cNvSpPr>
            <a:spLocks xmlns:a="http://schemas.openxmlformats.org/drawingml/2006/main" noGrp="1"/>
          </p:cNvSpPr>
          <p:nvPr/>
        </p:nvSpPr>
        <p:spPr>
          <a:xfrm xmlns:a="http://schemas.openxmlformats.org/drawingml/2006/main">
            <a:off x="609600" y="1657350"/>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Давление воздуха</a:t>
            </a:r>
          </a:p>
        </p:txBody>
      </p:sp>
      <p:sp>
        <p:nvSpPr>
          <p:cNvPr id="6" name="">
            <a:extLst xmlns:a="http://schemas.openxmlformats.org/drawingml/2006/main">
              <a:ext uri="{FF2B5EF4-FFF2-40B4-BE49-F238E27FC236}">
                <a16:creationId xmlns:a16="http://schemas.microsoft.com/office/drawing/2014/main" id="{30974BE7-D4C8-45A7-B117-4FB60E91E3D5}"/>
              </a:ext>
            </a:extLst>
          </p:cNvPr>
          <p:cNvSpPr>
            <a:spLocks xmlns:a="http://schemas.openxmlformats.org/drawingml/2006/main" noGrp="1"/>
          </p:cNvSpPr>
          <p:nvPr/>
        </p:nvSpPr>
        <p:spPr>
          <a:xfrm xmlns:a="http://schemas.openxmlformats.org/drawingml/2006/main" flipV="0">
            <a:off x="904875" y="3609975"/>
            <a:ext cx="5495925" cy="953"/>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7" name="">
            <a:extLst xmlns:a="http://schemas.openxmlformats.org/drawingml/2006/main">
              <a:ext uri="{FF2B5EF4-FFF2-40B4-BE49-F238E27FC236}">
                <a16:creationId xmlns:a16="http://schemas.microsoft.com/office/drawing/2014/main" id="{96415309-6C57-444C-B421-071EED2CF2B4}"/>
              </a:ext>
            </a:extLst>
          </p:cNvPr>
          <p:cNvSpPr>
            <a:spLocks xmlns:a="http://schemas.openxmlformats.org/drawingml/2006/main" noGrp="1"/>
          </p:cNvSpPr>
          <p:nvPr/>
        </p:nvSpPr>
        <p:spPr>
          <a:xfrm xmlns:a="http://schemas.openxmlformats.org/drawingml/2006/main" flipV="0">
            <a:off x="904875" y="2486025"/>
            <a:ext cx="953" cy="2276475"/>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8" name="">
            <a:extLst xmlns:a="http://schemas.openxmlformats.org/drawingml/2006/main">
              <a:ext uri="{FF2B5EF4-FFF2-40B4-BE49-F238E27FC236}">
                <a16:creationId xmlns:a16="http://schemas.microsoft.com/office/drawing/2014/main" id="{BDBAE5C5-B286-49FC-A870-3C9FAC8979BB}"/>
              </a:ext>
            </a:extLst>
          </p:cNvPr>
          <p:cNvSpPr>
            <a:spLocks xmlns:a="http://schemas.openxmlformats.org/drawingml/2006/main" noGrp="1"/>
          </p:cNvSpPr>
          <p:nvPr/>
        </p:nvSpPr>
        <p:spPr>
          <a:xfrm xmlns:a="http://schemas.openxmlformats.org/drawingml/2006/main">
            <a:off x="904875" y="2714625"/>
            <a:ext cx="5410200" cy="1790700"/>
          </a:xfrm>
          <a:custGeom xmlns:a="http://schemas.openxmlformats.org/drawingml/2006/main">
            <a:pathLst>
              <a:path w="5410200" h="1790700">
                <a:moveTo>
                  <a:pt x="0" y="895350"/>
                </a:moveTo>
                <a:lnTo>
                  <a:pt x="27051" y="811090"/>
                </a:lnTo>
                <a:lnTo>
                  <a:pt x="54102" y="727578"/>
                </a:lnTo>
                <a:lnTo>
                  <a:pt x="81153" y="645555"/>
                </a:lnTo>
                <a:lnTo>
                  <a:pt x="108204" y="565750"/>
                </a:lnTo>
                <a:lnTo>
                  <a:pt x="135255" y="488870"/>
                </a:lnTo>
                <a:lnTo>
                  <a:pt x="162306" y="415597"/>
                </a:lnTo>
                <a:lnTo>
                  <a:pt x="189357" y="346584"/>
                </a:lnTo>
                <a:lnTo>
                  <a:pt x="216408" y="282441"/>
                </a:lnTo>
                <a:lnTo>
                  <a:pt x="243459" y="223738"/>
                </a:lnTo>
                <a:lnTo>
                  <a:pt x="270510" y="170997"/>
                </a:lnTo>
                <a:lnTo>
                  <a:pt x="297561" y="124685"/>
                </a:lnTo>
                <a:lnTo>
                  <a:pt x="324612" y="85213"/>
                </a:lnTo>
                <a:lnTo>
                  <a:pt x="351663" y="52932"/>
                </a:lnTo>
                <a:lnTo>
                  <a:pt x="378714" y="28129"/>
                </a:lnTo>
                <a:lnTo>
                  <a:pt x="405765" y="11023"/>
                </a:lnTo>
                <a:lnTo>
                  <a:pt x="432816" y="1767"/>
                </a:lnTo>
                <a:lnTo>
                  <a:pt x="459867" y="442"/>
                </a:lnTo>
                <a:lnTo>
                  <a:pt x="486918" y="7060"/>
                </a:lnTo>
                <a:lnTo>
                  <a:pt x="513969" y="21563"/>
                </a:lnTo>
                <a:lnTo>
                  <a:pt x="541020" y="43822"/>
                </a:lnTo>
                <a:lnTo>
                  <a:pt x="568071" y="73638"/>
                </a:lnTo>
                <a:lnTo>
                  <a:pt x="595122" y="110749"/>
                </a:lnTo>
                <a:lnTo>
                  <a:pt x="622173" y="154823"/>
                </a:lnTo>
                <a:lnTo>
                  <a:pt x="649224" y="205471"/>
                </a:lnTo>
                <a:lnTo>
                  <a:pt x="676275" y="262242"/>
                </a:lnTo>
                <a:lnTo>
                  <a:pt x="703326" y="324632"/>
                </a:lnTo>
                <a:lnTo>
                  <a:pt x="730377" y="392089"/>
                </a:lnTo>
                <a:lnTo>
                  <a:pt x="757428" y="464012"/>
                </a:lnTo>
                <a:lnTo>
                  <a:pt x="784479" y="539764"/>
                </a:lnTo>
                <a:lnTo>
                  <a:pt x="811530" y="618672"/>
                </a:lnTo>
                <a:lnTo>
                  <a:pt x="838581" y="700035"/>
                </a:lnTo>
                <a:lnTo>
                  <a:pt x="865632" y="783133"/>
                </a:lnTo>
                <a:lnTo>
                  <a:pt x="892683" y="867226"/>
                </a:lnTo>
                <a:lnTo>
                  <a:pt x="919734" y="951569"/>
                </a:lnTo>
                <a:lnTo>
                  <a:pt x="946785" y="1035414"/>
                </a:lnTo>
                <a:lnTo>
                  <a:pt x="973836" y="1118014"/>
                </a:lnTo>
                <a:lnTo>
                  <a:pt x="1000887" y="1198639"/>
                </a:lnTo>
                <a:lnTo>
                  <a:pt x="1027938" y="1276571"/>
                </a:lnTo>
                <a:lnTo>
                  <a:pt x="1054989" y="1351120"/>
                </a:lnTo>
                <a:lnTo>
                  <a:pt x="1082040" y="1421624"/>
                </a:lnTo>
                <a:lnTo>
                  <a:pt x="1109091" y="1487456"/>
                </a:lnTo>
                <a:lnTo>
                  <a:pt x="1136142" y="1548032"/>
                </a:lnTo>
                <a:lnTo>
                  <a:pt x="1163193" y="1602815"/>
                </a:lnTo>
                <a:lnTo>
                  <a:pt x="1190244" y="1651319"/>
                </a:lnTo>
                <a:lnTo>
                  <a:pt x="1217295" y="1693113"/>
                </a:lnTo>
                <a:lnTo>
                  <a:pt x="1244346" y="1727825"/>
                </a:lnTo>
                <a:lnTo>
                  <a:pt x="1271397" y="1755149"/>
                </a:lnTo>
                <a:lnTo>
                  <a:pt x="1298448" y="1774841"/>
                </a:lnTo>
                <a:lnTo>
                  <a:pt x="1325499" y="1786726"/>
                </a:lnTo>
                <a:lnTo>
                  <a:pt x="1352550" y="1790700"/>
                </a:lnTo>
                <a:lnTo>
                  <a:pt x="1379601" y="1786726"/>
                </a:lnTo>
                <a:lnTo>
                  <a:pt x="1406652" y="1774841"/>
                </a:lnTo>
                <a:lnTo>
                  <a:pt x="1433703" y="1755149"/>
                </a:lnTo>
                <a:lnTo>
                  <a:pt x="1460754" y="1727825"/>
                </a:lnTo>
                <a:lnTo>
                  <a:pt x="1487805" y="1693113"/>
                </a:lnTo>
                <a:lnTo>
                  <a:pt x="1514856" y="1651319"/>
                </a:lnTo>
                <a:lnTo>
                  <a:pt x="1541907" y="1602815"/>
                </a:lnTo>
                <a:lnTo>
                  <a:pt x="1568958" y="1548032"/>
                </a:lnTo>
                <a:lnTo>
                  <a:pt x="1596009" y="1487456"/>
                </a:lnTo>
                <a:lnTo>
                  <a:pt x="1623060" y="1421624"/>
                </a:lnTo>
                <a:lnTo>
                  <a:pt x="1650111" y="1351120"/>
                </a:lnTo>
                <a:lnTo>
                  <a:pt x="1677162" y="1276571"/>
                </a:lnTo>
                <a:lnTo>
                  <a:pt x="1704213" y="1198639"/>
                </a:lnTo>
                <a:lnTo>
                  <a:pt x="1731264" y="1118014"/>
                </a:lnTo>
                <a:lnTo>
                  <a:pt x="1758315" y="1035414"/>
                </a:lnTo>
                <a:lnTo>
                  <a:pt x="1785366" y="951569"/>
                </a:lnTo>
                <a:lnTo>
                  <a:pt x="1812417" y="867226"/>
                </a:lnTo>
                <a:lnTo>
                  <a:pt x="1839468" y="783133"/>
                </a:lnTo>
                <a:lnTo>
                  <a:pt x="1866519" y="700035"/>
                </a:lnTo>
                <a:lnTo>
                  <a:pt x="1893570" y="618672"/>
                </a:lnTo>
                <a:lnTo>
                  <a:pt x="1920621" y="539764"/>
                </a:lnTo>
                <a:lnTo>
                  <a:pt x="1947672" y="464012"/>
                </a:lnTo>
                <a:lnTo>
                  <a:pt x="1974723" y="392089"/>
                </a:lnTo>
                <a:lnTo>
                  <a:pt x="2001774" y="324632"/>
                </a:lnTo>
                <a:lnTo>
                  <a:pt x="2028825" y="262242"/>
                </a:lnTo>
                <a:lnTo>
                  <a:pt x="2055876" y="205471"/>
                </a:lnTo>
                <a:lnTo>
                  <a:pt x="2082927" y="154823"/>
                </a:lnTo>
                <a:lnTo>
                  <a:pt x="2109978" y="110749"/>
                </a:lnTo>
                <a:lnTo>
                  <a:pt x="2137029" y="73638"/>
                </a:lnTo>
                <a:lnTo>
                  <a:pt x="2164080" y="43822"/>
                </a:lnTo>
                <a:lnTo>
                  <a:pt x="2191131" y="21563"/>
                </a:lnTo>
                <a:lnTo>
                  <a:pt x="2218182" y="7060"/>
                </a:lnTo>
                <a:lnTo>
                  <a:pt x="2245233" y="442"/>
                </a:lnTo>
                <a:lnTo>
                  <a:pt x="2272284" y="1767"/>
                </a:lnTo>
                <a:lnTo>
                  <a:pt x="2299335" y="11023"/>
                </a:lnTo>
                <a:lnTo>
                  <a:pt x="2326386" y="28129"/>
                </a:lnTo>
                <a:lnTo>
                  <a:pt x="2353437" y="52932"/>
                </a:lnTo>
                <a:lnTo>
                  <a:pt x="2380488" y="85213"/>
                </a:lnTo>
                <a:lnTo>
                  <a:pt x="2407539" y="124685"/>
                </a:lnTo>
                <a:lnTo>
                  <a:pt x="2434590" y="170997"/>
                </a:lnTo>
                <a:lnTo>
                  <a:pt x="2461641" y="223738"/>
                </a:lnTo>
                <a:lnTo>
                  <a:pt x="2488692" y="282441"/>
                </a:lnTo>
                <a:lnTo>
                  <a:pt x="2515743" y="346584"/>
                </a:lnTo>
                <a:lnTo>
                  <a:pt x="2542794" y="415597"/>
                </a:lnTo>
                <a:lnTo>
                  <a:pt x="2569845" y="488870"/>
                </a:lnTo>
                <a:lnTo>
                  <a:pt x="2596896" y="565750"/>
                </a:lnTo>
                <a:lnTo>
                  <a:pt x="2623947" y="645555"/>
                </a:lnTo>
                <a:lnTo>
                  <a:pt x="2650998" y="727578"/>
                </a:lnTo>
                <a:lnTo>
                  <a:pt x="2678049" y="811090"/>
                </a:lnTo>
                <a:lnTo>
                  <a:pt x="2705100" y="895350"/>
                </a:lnTo>
                <a:lnTo>
                  <a:pt x="2732151" y="979610"/>
                </a:lnTo>
                <a:lnTo>
                  <a:pt x="2759202" y="1063122"/>
                </a:lnTo>
                <a:lnTo>
                  <a:pt x="2786253" y="1145145"/>
                </a:lnTo>
                <a:lnTo>
                  <a:pt x="2813304" y="1224950"/>
                </a:lnTo>
                <a:lnTo>
                  <a:pt x="2840355" y="1301830"/>
                </a:lnTo>
                <a:lnTo>
                  <a:pt x="2867406" y="1375103"/>
                </a:lnTo>
                <a:lnTo>
                  <a:pt x="2894457" y="1444116"/>
                </a:lnTo>
                <a:lnTo>
                  <a:pt x="2921508" y="1508259"/>
                </a:lnTo>
                <a:lnTo>
                  <a:pt x="2948559" y="1566962"/>
                </a:lnTo>
                <a:lnTo>
                  <a:pt x="2975610" y="1619703"/>
                </a:lnTo>
                <a:lnTo>
                  <a:pt x="3002661" y="1666015"/>
                </a:lnTo>
                <a:lnTo>
                  <a:pt x="3029712" y="1705487"/>
                </a:lnTo>
                <a:lnTo>
                  <a:pt x="3056763" y="1737768"/>
                </a:lnTo>
                <a:lnTo>
                  <a:pt x="3083814" y="1762571"/>
                </a:lnTo>
                <a:lnTo>
                  <a:pt x="3110865" y="1779677"/>
                </a:lnTo>
                <a:lnTo>
                  <a:pt x="3137916" y="1788933"/>
                </a:lnTo>
                <a:lnTo>
                  <a:pt x="3164967" y="1790258"/>
                </a:lnTo>
                <a:lnTo>
                  <a:pt x="3192018" y="1783640"/>
                </a:lnTo>
                <a:lnTo>
                  <a:pt x="3219069" y="1769137"/>
                </a:lnTo>
                <a:lnTo>
                  <a:pt x="3246120" y="1746878"/>
                </a:lnTo>
                <a:lnTo>
                  <a:pt x="3273171" y="1717062"/>
                </a:lnTo>
                <a:lnTo>
                  <a:pt x="3300222" y="1679951"/>
                </a:lnTo>
                <a:lnTo>
                  <a:pt x="3327273" y="1635877"/>
                </a:lnTo>
                <a:lnTo>
                  <a:pt x="3354324" y="1585229"/>
                </a:lnTo>
                <a:lnTo>
                  <a:pt x="3381375" y="1528458"/>
                </a:lnTo>
                <a:lnTo>
                  <a:pt x="3408426" y="1466068"/>
                </a:lnTo>
                <a:lnTo>
                  <a:pt x="3435477" y="1398611"/>
                </a:lnTo>
                <a:lnTo>
                  <a:pt x="3462528" y="1326688"/>
                </a:lnTo>
                <a:lnTo>
                  <a:pt x="3489579" y="1250936"/>
                </a:lnTo>
                <a:lnTo>
                  <a:pt x="3516630" y="1172028"/>
                </a:lnTo>
                <a:lnTo>
                  <a:pt x="3543681" y="1090665"/>
                </a:lnTo>
                <a:lnTo>
                  <a:pt x="3570732" y="1007567"/>
                </a:lnTo>
                <a:lnTo>
                  <a:pt x="3597783" y="923474"/>
                </a:lnTo>
                <a:lnTo>
                  <a:pt x="3624834" y="839131"/>
                </a:lnTo>
                <a:lnTo>
                  <a:pt x="3651885" y="755286"/>
                </a:lnTo>
                <a:lnTo>
                  <a:pt x="3678936" y="672686"/>
                </a:lnTo>
                <a:lnTo>
                  <a:pt x="3705987" y="592061"/>
                </a:lnTo>
                <a:lnTo>
                  <a:pt x="3733038" y="514129"/>
                </a:lnTo>
                <a:lnTo>
                  <a:pt x="3760089" y="439580"/>
                </a:lnTo>
                <a:lnTo>
                  <a:pt x="3787140" y="369076"/>
                </a:lnTo>
                <a:lnTo>
                  <a:pt x="3814191" y="303244"/>
                </a:lnTo>
                <a:lnTo>
                  <a:pt x="3841242" y="242668"/>
                </a:lnTo>
                <a:lnTo>
                  <a:pt x="3868293" y="187885"/>
                </a:lnTo>
                <a:lnTo>
                  <a:pt x="3895344" y="139381"/>
                </a:lnTo>
                <a:lnTo>
                  <a:pt x="3922395" y="97587"/>
                </a:lnTo>
                <a:lnTo>
                  <a:pt x="3949446" y="62875"/>
                </a:lnTo>
                <a:lnTo>
                  <a:pt x="3976497" y="35551"/>
                </a:lnTo>
                <a:lnTo>
                  <a:pt x="4003548" y="15859"/>
                </a:lnTo>
                <a:lnTo>
                  <a:pt x="4030599" y="3974"/>
                </a:lnTo>
                <a:lnTo>
                  <a:pt x="4057650" y="0"/>
                </a:lnTo>
                <a:lnTo>
                  <a:pt x="4084701" y="3974"/>
                </a:lnTo>
                <a:lnTo>
                  <a:pt x="4111752" y="15859"/>
                </a:lnTo>
                <a:lnTo>
                  <a:pt x="4138803" y="35551"/>
                </a:lnTo>
                <a:lnTo>
                  <a:pt x="4165854" y="62875"/>
                </a:lnTo>
                <a:lnTo>
                  <a:pt x="4192905" y="97587"/>
                </a:lnTo>
                <a:lnTo>
                  <a:pt x="4219956" y="139381"/>
                </a:lnTo>
                <a:lnTo>
                  <a:pt x="4247007" y="187885"/>
                </a:lnTo>
                <a:lnTo>
                  <a:pt x="4274058" y="242668"/>
                </a:lnTo>
                <a:lnTo>
                  <a:pt x="4301109" y="303244"/>
                </a:lnTo>
                <a:lnTo>
                  <a:pt x="4328160" y="369076"/>
                </a:lnTo>
                <a:lnTo>
                  <a:pt x="4355211" y="439580"/>
                </a:lnTo>
                <a:lnTo>
                  <a:pt x="4382262" y="514129"/>
                </a:lnTo>
                <a:lnTo>
                  <a:pt x="4409313" y="592061"/>
                </a:lnTo>
                <a:lnTo>
                  <a:pt x="4436364" y="672686"/>
                </a:lnTo>
                <a:lnTo>
                  <a:pt x="4463415" y="755286"/>
                </a:lnTo>
                <a:lnTo>
                  <a:pt x="4490466" y="839131"/>
                </a:lnTo>
                <a:lnTo>
                  <a:pt x="4517517" y="923474"/>
                </a:lnTo>
                <a:lnTo>
                  <a:pt x="4544568" y="1007567"/>
                </a:lnTo>
                <a:lnTo>
                  <a:pt x="4571619" y="1090665"/>
                </a:lnTo>
                <a:lnTo>
                  <a:pt x="4598670" y="1172028"/>
                </a:lnTo>
                <a:lnTo>
                  <a:pt x="4625721" y="1250936"/>
                </a:lnTo>
                <a:lnTo>
                  <a:pt x="4652772" y="1326688"/>
                </a:lnTo>
                <a:lnTo>
                  <a:pt x="4679823" y="1398611"/>
                </a:lnTo>
                <a:lnTo>
                  <a:pt x="4706874" y="1466068"/>
                </a:lnTo>
                <a:lnTo>
                  <a:pt x="4733925" y="1528458"/>
                </a:lnTo>
                <a:lnTo>
                  <a:pt x="4760976" y="1585229"/>
                </a:lnTo>
                <a:lnTo>
                  <a:pt x="4788027" y="1635877"/>
                </a:lnTo>
                <a:lnTo>
                  <a:pt x="4815078" y="1679951"/>
                </a:lnTo>
                <a:lnTo>
                  <a:pt x="4842129" y="1717062"/>
                </a:lnTo>
                <a:lnTo>
                  <a:pt x="4869180" y="1746878"/>
                </a:lnTo>
                <a:lnTo>
                  <a:pt x="4896231" y="1769137"/>
                </a:lnTo>
                <a:lnTo>
                  <a:pt x="4923282" y="1783640"/>
                </a:lnTo>
                <a:lnTo>
                  <a:pt x="4950333" y="1790258"/>
                </a:lnTo>
                <a:lnTo>
                  <a:pt x="4977384" y="1788933"/>
                </a:lnTo>
                <a:lnTo>
                  <a:pt x="5004435" y="1779677"/>
                </a:lnTo>
                <a:lnTo>
                  <a:pt x="5031486" y="1762571"/>
                </a:lnTo>
                <a:lnTo>
                  <a:pt x="5058537" y="1737768"/>
                </a:lnTo>
                <a:lnTo>
                  <a:pt x="5085588" y="1705487"/>
                </a:lnTo>
                <a:lnTo>
                  <a:pt x="5112639" y="1666015"/>
                </a:lnTo>
                <a:lnTo>
                  <a:pt x="5139690" y="1619703"/>
                </a:lnTo>
                <a:lnTo>
                  <a:pt x="5166741" y="1566962"/>
                </a:lnTo>
                <a:lnTo>
                  <a:pt x="5193792" y="1508259"/>
                </a:lnTo>
                <a:lnTo>
                  <a:pt x="5220843" y="1444116"/>
                </a:lnTo>
                <a:lnTo>
                  <a:pt x="5247894" y="1375103"/>
                </a:lnTo>
                <a:lnTo>
                  <a:pt x="5274945" y="1301830"/>
                </a:lnTo>
                <a:lnTo>
                  <a:pt x="5301996" y="1224950"/>
                </a:lnTo>
                <a:lnTo>
                  <a:pt x="5329047" y="1145145"/>
                </a:lnTo>
                <a:lnTo>
                  <a:pt x="5356098" y="1063122"/>
                </a:lnTo>
                <a:lnTo>
                  <a:pt x="5383149" y="979610"/>
                </a:lnTo>
                <a:lnTo>
                  <a:pt x="5410200" y="895350"/>
                </a:lnTo>
              </a:path>
            </a:pathLst>
          </a:custGeom>
          <a:noFill xmlns:a="http://schemas.openxmlformats.org/drawingml/2006/main"/>
          <a:ln xmlns:a="http://schemas.openxmlformats.org/drawingml/2006/main" w="38100">
            <a:solidFill>
              <a:srgbClr val="47705A"/>
            </a:solidFill>
          </a:ln>
        </p:spPr>
      </p:sp>
      <p:sp>
        <p:nvSpPr>
          <p:cNvPr id="9" name="">
            <a:extLst xmlns:a="http://schemas.openxmlformats.org/drawingml/2006/main">
              <a:ext uri="{FF2B5EF4-FFF2-40B4-BE49-F238E27FC236}">
                <a16:creationId xmlns:a16="http://schemas.microsoft.com/office/drawing/2014/main" id="{174E9A9B-237C-45C3-9347-2BD2B7825A52}"/>
              </a:ext>
            </a:extLst>
          </p:cNvPr>
          <p:cNvSpPr>
            <a:spLocks xmlns:a="http://schemas.openxmlformats.org/drawingml/2006/main" noGrp="1"/>
          </p:cNvSpPr>
          <p:nvPr/>
        </p:nvSpPr>
        <p:spPr>
          <a:xfrm xmlns:a="http://schemas.openxmlformats.org/drawingml/2006/main" flipV="0">
            <a:off x="1352550" y="2447925"/>
            <a:ext cx="1819275" cy="953"/>
          </a:xfrm>
          <a:prstGeom xmlns:a="http://schemas.openxmlformats.org/drawingml/2006/main" prst="line">
            <a:avLst/>
          </a:prstGeom>
          <a:noFill xmlns:a="http://schemas.openxmlformats.org/drawingml/2006/main"/>
          <a:ln xmlns:a="http://schemas.openxmlformats.org/drawingml/2006/main" w="19050">
            <a:solidFill>
              <a:srgbClr val="A96743"/>
            </a:solidFill>
          </a:ln>
        </p:spPr>
      </p:sp>
      <p:sp>
        <p:nvSpPr>
          <p:cNvPr id="10" name="">
            <a:extLst xmlns:a="http://schemas.openxmlformats.org/drawingml/2006/main">
              <a:ext uri="{FF2B5EF4-FFF2-40B4-BE49-F238E27FC236}">
                <a16:creationId xmlns:a16="http://schemas.microsoft.com/office/drawing/2014/main" id="{66E27880-E292-48CA-A148-7A821FF955CB}"/>
              </a:ext>
            </a:extLst>
          </p:cNvPr>
          <p:cNvSpPr>
            <a:spLocks xmlns:a="http://schemas.openxmlformats.org/drawingml/2006/main" noGrp="1"/>
          </p:cNvSpPr>
          <p:nvPr/>
        </p:nvSpPr>
        <p:spPr>
          <a:xfrm xmlns:a="http://schemas.openxmlformats.org/drawingml/2006/main" flipV="0">
            <a:off x="1352550" y="2333625"/>
            <a:ext cx="953" cy="228600"/>
          </a:xfrm>
          <a:prstGeom xmlns:a="http://schemas.openxmlformats.org/drawingml/2006/main" prst="line">
            <a:avLst/>
          </a:prstGeom>
          <a:noFill xmlns:a="http://schemas.openxmlformats.org/drawingml/2006/main"/>
          <a:ln xmlns:a="http://schemas.openxmlformats.org/drawingml/2006/main" w="19050">
            <a:solidFill>
              <a:srgbClr val="A96743"/>
            </a:solidFill>
          </a:ln>
        </p:spPr>
      </p:sp>
      <p:sp>
        <p:nvSpPr>
          <p:cNvPr id="11" name="">
            <a:extLst xmlns:a="http://schemas.openxmlformats.org/drawingml/2006/main">
              <a:ext uri="{FF2B5EF4-FFF2-40B4-BE49-F238E27FC236}">
                <a16:creationId xmlns:a16="http://schemas.microsoft.com/office/drawing/2014/main" id="{CB07C799-9F56-44A5-91A2-B34C6955B3CA}"/>
              </a:ext>
            </a:extLst>
          </p:cNvPr>
          <p:cNvSpPr>
            <a:spLocks xmlns:a="http://schemas.openxmlformats.org/drawingml/2006/main" noGrp="1"/>
          </p:cNvSpPr>
          <p:nvPr/>
        </p:nvSpPr>
        <p:spPr>
          <a:xfrm xmlns:a="http://schemas.openxmlformats.org/drawingml/2006/main" flipV="0">
            <a:off x="3171825" y="2333625"/>
            <a:ext cx="953" cy="228600"/>
          </a:xfrm>
          <a:prstGeom xmlns:a="http://schemas.openxmlformats.org/drawingml/2006/main" prst="line">
            <a:avLst/>
          </a:prstGeom>
          <a:noFill xmlns:a="http://schemas.openxmlformats.org/drawingml/2006/main"/>
          <a:ln xmlns:a="http://schemas.openxmlformats.org/drawingml/2006/main" w="19050">
            <a:solidFill>
              <a:srgbClr val="A96743"/>
            </a:solidFill>
          </a:ln>
        </p:spPr>
      </p:sp>
      <p:sp>
        <p:nvSpPr>
          <p:cNvPr id="12" name="">
            <a:extLst xmlns:a="http://schemas.openxmlformats.org/drawingml/2006/main">
              <a:ext uri="{FF2B5EF4-FFF2-40B4-BE49-F238E27FC236}">
                <a16:creationId xmlns:a16="http://schemas.microsoft.com/office/drawing/2014/main" id="{04104180-4A23-4884-ACA8-30C6BA7E4840}"/>
              </a:ext>
            </a:extLst>
          </p:cNvPr>
          <p:cNvSpPr>
            <a:spLocks xmlns:a="http://schemas.openxmlformats.org/drawingml/2006/main" noGrp="1"/>
          </p:cNvSpPr>
          <p:nvPr/>
        </p:nvSpPr>
        <p:spPr>
          <a:xfrm xmlns:a="http://schemas.openxmlformats.org/drawingml/2006/main">
            <a:off x="1266825" y="2000250"/>
            <a:ext cx="2781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6743"/>
                </a:solidFill>
                <a:latin typeface="Arial"/>
                <a:ea typeface="Arial"/>
                <a:cs typeface="Arial"/>
              </a:defRPr>
            </a:pPr>
            <a:r>
              <a:rPr sz="2100" b="1">
                <a:solidFill>
                  <a:srgbClr val="A96743"/>
                </a:solidFill>
                <a:latin typeface="Arial"/>
                <a:ea typeface="Arial"/>
                <a:cs typeface="Arial"/>
              </a:rPr>
              <a:t>Один период</a:t>
            </a:r>
          </a:p>
        </p:txBody>
      </p:sp>
      <p:sp>
        <p:nvSpPr>
          <p:cNvPr id="13" name="">
            <a:extLst xmlns:a="http://schemas.openxmlformats.org/drawingml/2006/main">
              <a:ext uri="{FF2B5EF4-FFF2-40B4-BE49-F238E27FC236}">
                <a16:creationId xmlns:a16="http://schemas.microsoft.com/office/drawing/2014/main" id="{B50F8404-979A-4860-8C61-CCD787E229F5}"/>
              </a:ext>
            </a:extLst>
          </p:cNvPr>
          <p:cNvSpPr>
            <a:spLocks xmlns:a="http://schemas.openxmlformats.org/drawingml/2006/main" noGrp="1"/>
          </p:cNvSpPr>
          <p:nvPr/>
        </p:nvSpPr>
        <p:spPr>
          <a:xfrm xmlns:a="http://schemas.openxmlformats.org/drawingml/2006/main">
            <a:off x="4638675" y="477202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Время →</a:t>
            </a:r>
          </a:p>
        </p:txBody>
      </p:sp>
      <p:sp>
        <p:nvSpPr>
          <p:cNvPr id="14" name="">
            <a:extLst xmlns:a="http://schemas.openxmlformats.org/drawingml/2006/main">
              <a:ext uri="{FF2B5EF4-FFF2-40B4-BE49-F238E27FC236}">
                <a16:creationId xmlns:a16="http://schemas.microsoft.com/office/drawing/2014/main" id="{34EE3E09-CF47-423C-83EC-F5CBEB4E353F}"/>
              </a:ext>
            </a:extLst>
          </p:cNvPr>
          <p:cNvSpPr>
            <a:spLocks xmlns:a="http://schemas.openxmlformats.org/drawingml/2006/main" noGrp="1"/>
          </p:cNvSpPr>
          <p:nvPr/>
        </p:nvSpPr>
        <p:spPr>
          <a:xfrm xmlns:a="http://schemas.openxmlformats.org/drawingml/2006/main">
            <a:off x="609600" y="5581650"/>
            <a:ext cx="590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263B31"/>
                </a:solidFill>
                <a:latin typeface="Arial"/>
                <a:ea typeface="Arial"/>
                <a:cs typeface="Arial"/>
              </a:defRPr>
            </a:pPr>
            <a:r>
              <a:rPr sz="2250" b="0">
                <a:solidFill>
                  <a:srgbClr val="263B31"/>
                </a:solidFill>
                <a:latin typeface="Arial"/>
                <a:ea typeface="Arial"/>
                <a:cs typeface="Arial"/>
              </a:rPr>
              <a:t>Больше частота — короче период.</a:t>
            </a:r>
          </a:p>
        </p:txBody>
      </p:sp>
    </p:spTree>
    <p:extLst>
      <p:ext uri="{BB962C8B-B14F-4D97-AF65-F5344CB8AC3E}">
        <p14:creationId xmlns:p14="http://schemas.microsoft.com/office/powerpoint/2010/main" val="138532365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C73036D-BCD7-4EE6-ABFE-E4E3109B22DA}"/>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Диапазон слуха</a:t>
            </a:r>
          </a:p>
        </p:txBody>
      </p:sp>
      <p:sp>
        <p:nvSpPr>
          <p:cNvPr id="2" name="">
            <a:extLst xmlns:a="http://schemas.openxmlformats.org/drawingml/2006/main">
              <a:ext uri="{FF2B5EF4-FFF2-40B4-BE49-F238E27FC236}">
                <a16:creationId xmlns:a16="http://schemas.microsoft.com/office/drawing/2014/main" id="{3402107D-AFC6-4599-8FC2-D9BC9DBCE623}"/>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49</a:t>
            </a:r>
          </a:p>
        </p:txBody>
      </p:sp>
      <p:sp>
        <p:nvSpPr>
          <p:cNvPr id="3" name="">
            <a:extLst xmlns:a="http://schemas.openxmlformats.org/drawingml/2006/main">
              <a:ext uri="{FF2B5EF4-FFF2-40B4-BE49-F238E27FC236}">
                <a16:creationId xmlns:a16="http://schemas.microsoft.com/office/drawing/2014/main" id="{A43EEC0D-EAAC-4AA8-ADDB-466E948E43D0}"/>
              </a:ext>
            </a:extLst>
          </p:cNvPr>
          <p:cNvSpPr>
            <a:spLocks xmlns:a="http://schemas.openxmlformats.org/drawingml/2006/main" noGrp="1"/>
          </p:cNvSpPr>
          <p:nvPr/>
        </p:nvSpPr>
        <p:spPr>
          <a:xfrm xmlns:a="http://schemas.openxmlformats.org/drawingml/2006/main">
            <a:off x="7077075" y="1638300"/>
            <a:ext cx="4505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Диапазон зависит от вида</a:t>
            </a:r>
          </a:p>
        </p:txBody>
      </p:sp>
      <p:sp>
        <p:nvSpPr>
          <p:cNvPr id="4" name="">
            <a:extLst xmlns:a="http://schemas.openxmlformats.org/drawingml/2006/main">
              <a:ext uri="{FF2B5EF4-FFF2-40B4-BE49-F238E27FC236}">
                <a16:creationId xmlns:a16="http://schemas.microsoft.com/office/drawing/2014/main" id="{BE7AEE3C-871E-41BF-9A06-AA69D63766F9}"/>
              </a:ext>
            </a:extLst>
          </p:cNvPr>
          <p:cNvSpPr>
            <a:spLocks xmlns:a="http://schemas.openxmlformats.org/drawingml/2006/main" noGrp="1"/>
          </p:cNvSpPr>
          <p:nvPr/>
        </p:nvSpPr>
        <p:spPr>
          <a:xfrm xmlns:a="http://schemas.openxmlformats.org/drawingml/2006/main">
            <a:off x="7077075" y="2828925"/>
            <a:ext cx="4505325"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Для молодого человека:</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примерно 20–20 000 Гц.</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У большого копьеноса</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наибольшая чувствительность</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около 20 кГц.</a:t>
            </a:r>
          </a:p>
        </p:txBody>
      </p:sp>
      <p:sp>
        <p:nvSpPr>
          <p:cNvPr id="5" name="">
            <a:extLst xmlns:a="http://schemas.openxmlformats.org/drawingml/2006/main">
              <a:ext uri="{FF2B5EF4-FFF2-40B4-BE49-F238E27FC236}">
                <a16:creationId xmlns:a16="http://schemas.microsoft.com/office/drawing/2014/main" id="{1C1CEB69-0E24-44EC-BA91-FD68B7AB8066}"/>
              </a:ext>
            </a:extLst>
          </p:cNvPr>
          <p:cNvSpPr>
            <a:spLocks xmlns:a="http://schemas.openxmlformats.org/drawingml/2006/main" noGrp="1"/>
          </p:cNvSpPr>
          <p:nvPr/>
        </p:nvSpPr>
        <p:spPr>
          <a:xfrm xmlns:a="http://schemas.openxmlformats.org/drawingml/2006/main">
            <a:off x="609600" y="1724025"/>
            <a:ext cx="581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3B31"/>
                </a:solidFill>
                <a:latin typeface="Arial"/>
                <a:ea typeface="Arial"/>
                <a:cs typeface="Arial"/>
              </a:defRPr>
            </a:pPr>
            <a:r>
              <a:rPr sz="2325" b="1">
                <a:solidFill>
                  <a:srgbClr val="263B31"/>
                </a:solidFill>
                <a:latin typeface="Arial"/>
                <a:ea typeface="Arial"/>
                <a:cs typeface="Arial"/>
              </a:rPr>
              <a:t>Частота, Гц</a:t>
            </a:r>
          </a:p>
        </p:txBody>
      </p:sp>
      <p:sp>
        <p:nvSpPr>
          <p:cNvPr id="6" name="">
            <a:extLst xmlns:a="http://schemas.openxmlformats.org/drawingml/2006/main">
              <a:ext uri="{FF2B5EF4-FFF2-40B4-BE49-F238E27FC236}">
                <a16:creationId xmlns:a16="http://schemas.microsoft.com/office/drawing/2014/main" id="{351CEF77-8161-492B-9141-DD88226D2D43}"/>
              </a:ext>
            </a:extLst>
          </p:cNvPr>
          <p:cNvSpPr>
            <a:spLocks xmlns:a="http://schemas.openxmlformats.org/drawingml/2006/main" noGrp="1"/>
          </p:cNvSpPr>
          <p:nvPr/>
        </p:nvSpPr>
        <p:spPr>
          <a:xfrm xmlns:a="http://schemas.openxmlformats.org/drawingml/2006/main" flipV="0">
            <a:off x="895350" y="2533650"/>
            <a:ext cx="5200650" cy="953"/>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7" name="">
            <a:extLst xmlns:a="http://schemas.openxmlformats.org/drawingml/2006/main">
              <a:ext uri="{FF2B5EF4-FFF2-40B4-BE49-F238E27FC236}">
                <a16:creationId xmlns:a16="http://schemas.microsoft.com/office/drawing/2014/main" id="{A4BC2EA7-BE39-4034-8238-EC74D81E9D8E}"/>
              </a:ext>
            </a:extLst>
          </p:cNvPr>
          <p:cNvSpPr>
            <a:spLocks xmlns:a="http://schemas.openxmlformats.org/drawingml/2006/main" noGrp="1"/>
          </p:cNvSpPr>
          <p:nvPr/>
        </p:nvSpPr>
        <p:spPr>
          <a:xfrm xmlns:a="http://schemas.openxmlformats.org/drawingml/2006/main" flipV="0">
            <a:off x="895350" y="2447925"/>
            <a:ext cx="953" cy="219075"/>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8" name="">
            <a:extLst xmlns:a="http://schemas.openxmlformats.org/drawingml/2006/main">
              <a:ext uri="{FF2B5EF4-FFF2-40B4-BE49-F238E27FC236}">
                <a16:creationId xmlns:a16="http://schemas.microsoft.com/office/drawing/2014/main" id="{4C8C108D-7C3C-4686-8AED-FAB320394A77}"/>
              </a:ext>
            </a:extLst>
          </p:cNvPr>
          <p:cNvSpPr>
            <a:spLocks xmlns:a="http://schemas.openxmlformats.org/drawingml/2006/main" noGrp="1"/>
          </p:cNvSpPr>
          <p:nvPr/>
        </p:nvSpPr>
        <p:spPr>
          <a:xfrm xmlns:a="http://schemas.openxmlformats.org/drawingml/2006/main">
            <a:off x="466725" y="2800350"/>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0">
                <a:solidFill>
                  <a:srgbClr val="263B31"/>
                </a:solidFill>
                <a:latin typeface="Arial"/>
                <a:ea typeface="Arial"/>
                <a:cs typeface="Arial"/>
              </a:defRPr>
            </a:pPr>
            <a:r>
              <a:rPr sz="2025" b="0">
                <a:solidFill>
                  <a:srgbClr val="263B31"/>
                </a:solidFill>
                <a:latin typeface="Arial"/>
                <a:ea typeface="Arial"/>
                <a:cs typeface="Arial"/>
              </a:rPr>
              <a:t>20</a:t>
            </a:r>
          </a:p>
        </p:txBody>
      </p:sp>
      <p:sp>
        <p:nvSpPr>
          <p:cNvPr id="9" name="">
            <a:extLst xmlns:a="http://schemas.openxmlformats.org/drawingml/2006/main">
              <a:ext uri="{FF2B5EF4-FFF2-40B4-BE49-F238E27FC236}">
                <a16:creationId xmlns:a16="http://schemas.microsoft.com/office/drawing/2014/main" id="{0874CA9D-8EF1-4F20-9E01-A3C7A8B16223}"/>
              </a:ext>
            </a:extLst>
          </p:cNvPr>
          <p:cNvSpPr>
            <a:spLocks xmlns:a="http://schemas.openxmlformats.org/drawingml/2006/main" noGrp="1"/>
          </p:cNvSpPr>
          <p:nvPr/>
        </p:nvSpPr>
        <p:spPr>
          <a:xfrm xmlns:a="http://schemas.openxmlformats.org/drawingml/2006/main" flipV="0">
            <a:off x="2628900" y="2447925"/>
            <a:ext cx="953" cy="219075"/>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10" name="">
            <a:extLst xmlns:a="http://schemas.openxmlformats.org/drawingml/2006/main">
              <a:ext uri="{FF2B5EF4-FFF2-40B4-BE49-F238E27FC236}">
                <a16:creationId xmlns:a16="http://schemas.microsoft.com/office/drawing/2014/main" id="{94ED85B3-7C70-40F6-839E-0413E4C1572A}"/>
              </a:ext>
            </a:extLst>
          </p:cNvPr>
          <p:cNvSpPr>
            <a:spLocks xmlns:a="http://schemas.openxmlformats.org/drawingml/2006/main" noGrp="1"/>
          </p:cNvSpPr>
          <p:nvPr/>
        </p:nvSpPr>
        <p:spPr>
          <a:xfrm xmlns:a="http://schemas.openxmlformats.org/drawingml/2006/main">
            <a:off x="2200275" y="2800350"/>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0">
                <a:solidFill>
                  <a:srgbClr val="263B31"/>
                </a:solidFill>
                <a:latin typeface="Arial"/>
                <a:ea typeface="Arial"/>
                <a:cs typeface="Arial"/>
              </a:defRPr>
            </a:pPr>
            <a:r>
              <a:rPr sz="2025" b="0">
                <a:solidFill>
                  <a:srgbClr val="263B31"/>
                </a:solidFill>
                <a:latin typeface="Arial"/>
                <a:ea typeface="Arial"/>
                <a:cs typeface="Arial"/>
              </a:rPr>
              <a:t>200</a:t>
            </a:r>
          </a:p>
        </p:txBody>
      </p:sp>
      <p:sp>
        <p:nvSpPr>
          <p:cNvPr id="11" name="">
            <a:extLst xmlns:a="http://schemas.openxmlformats.org/drawingml/2006/main">
              <a:ext uri="{FF2B5EF4-FFF2-40B4-BE49-F238E27FC236}">
                <a16:creationId xmlns:a16="http://schemas.microsoft.com/office/drawing/2014/main" id="{FE0C6EE3-B55F-49A1-A2AA-624BA145FEB7}"/>
              </a:ext>
            </a:extLst>
          </p:cNvPr>
          <p:cNvSpPr>
            <a:spLocks xmlns:a="http://schemas.openxmlformats.org/drawingml/2006/main" noGrp="1"/>
          </p:cNvSpPr>
          <p:nvPr/>
        </p:nvSpPr>
        <p:spPr>
          <a:xfrm xmlns:a="http://schemas.openxmlformats.org/drawingml/2006/main" flipV="0">
            <a:off x="4362450" y="2447925"/>
            <a:ext cx="953" cy="219075"/>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12" name="">
            <a:extLst xmlns:a="http://schemas.openxmlformats.org/drawingml/2006/main">
              <a:ext uri="{FF2B5EF4-FFF2-40B4-BE49-F238E27FC236}">
                <a16:creationId xmlns:a16="http://schemas.microsoft.com/office/drawing/2014/main" id="{670A4159-38C7-4609-B58A-7A7FAAB82C31}"/>
              </a:ext>
            </a:extLst>
          </p:cNvPr>
          <p:cNvSpPr>
            <a:spLocks xmlns:a="http://schemas.openxmlformats.org/drawingml/2006/main" noGrp="1"/>
          </p:cNvSpPr>
          <p:nvPr/>
        </p:nvSpPr>
        <p:spPr>
          <a:xfrm xmlns:a="http://schemas.openxmlformats.org/drawingml/2006/main">
            <a:off x="3933825" y="2800350"/>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0">
                <a:solidFill>
                  <a:srgbClr val="263B31"/>
                </a:solidFill>
                <a:latin typeface="Arial"/>
                <a:ea typeface="Arial"/>
                <a:cs typeface="Arial"/>
              </a:defRPr>
            </a:pPr>
            <a:r>
              <a:rPr sz="2025" b="0">
                <a:solidFill>
                  <a:srgbClr val="263B31"/>
                </a:solidFill>
                <a:latin typeface="Arial"/>
                <a:ea typeface="Arial"/>
                <a:cs typeface="Arial"/>
              </a:rPr>
              <a:t>2000</a:t>
            </a:r>
          </a:p>
        </p:txBody>
      </p:sp>
      <p:sp>
        <p:nvSpPr>
          <p:cNvPr id="13" name="">
            <a:extLst xmlns:a="http://schemas.openxmlformats.org/drawingml/2006/main">
              <a:ext uri="{FF2B5EF4-FFF2-40B4-BE49-F238E27FC236}">
                <a16:creationId xmlns:a16="http://schemas.microsoft.com/office/drawing/2014/main" id="{A5745231-E277-4CE9-9DD5-CEA13B0E8FA8}"/>
              </a:ext>
            </a:extLst>
          </p:cNvPr>
          <p:cNvSpPr>
            <a:spLocks xmlns:a="http://schemas.openxmlformats.org/drawingml/2006/main" noGrp="1"/>
          </p:cNvSpPr>
          <p:nvPr/>
        </p:nvSpPr>
        <p:spPr>
          <a:xfrm xmlns:a="http://schemas.openxmlformats.org/drawingml/2006/main" flipV="0">
            <a:off x="6096000" y="2447925"/>
            <a:ext cx="953" cy="219075"/>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14" name="">
            <a:extLst xmlns:a="http://schemas.openxmlformats.org/drawingml/2006/main">
              <a:ext uri="{FF2B5EF4-FFF2-40B4-BE49-F238E27FC236}">
                <a16:creationId xmlns:a16="http://schemas.microsoft.com/office/drawing/2014/main" id="{B669AF20-96B4-46FD-9D00-C113D4E3A195}"/>
              </a:ext>
            </a:extLst>
          </p:cNvPr>
          <p:cNvSpPr>
            <a:spLocks xmlns:a="http://schemas.openxmlformats.org/drawingml/2006/main" noGrp="1"/>
          </p:cNvSpPr>
          <p:nvPr/>
        </p:nvSpPr>
        <p:spPr>
          <a:xfrm xmlns:a="http://schemas.openxmlformats.org/drawingml/2006/main">
            <a:off x="5667375" y="2800350"/>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025" b="0">
                <a:solidFill>
                  <a:srgbClr val="263B31"/>
                </a:solidFill>
                <a:latin typeface="Arial"/>
                <a:ea typeface="Arial"/>
                <a:cs typeface="Arial"/>
              </a:defRPr>
            </a:pPr>
            <a:r>
              <a:rPr sz="2025" b="0">
                <a:solidFill>
                  <a:srgbClr val="263B31"/>
                </a:solidFill>
                <a:latin typeface="Arial"/>
                <a:ea typeface="Arial"/>
                <a:cs typeface="Arial"/>
              </a:rPr>
              <a:t>20 000</a:t>
            </a:r>
          </a:p>
        </p:txBody>
      </p:sp>
      <p:sp>
        <p:nvSpPr>
          <p:cNvPr id="15" name="">
            <a:extLst xmlns:a="http://schemas.openxmlformats.org/drawingml/2006/main">
              <a:ext uri="{FF2B5EF4-FFF2-40B4-BE49-F238E27FC236}">
                <a16:creationId xmlns:a16="http://schemas.microsoft.com/office/drawing/2014/main" id="{FAE7490E-8422-44B6-AB2D-54FFF4CC30C3}"/>
              </a:ext>
            </a:extLst>
          </p:cNvPr>
          <p:cNvSpPr>
            <a:spLocks xmlns:a="http://schemas.openxmlformats.org/drawingml/2006/main" noGrp="1"/>
          </p:cNvSpPr>
          <p:nvPr/>
        </p:nvSpPr>
        <p:spPr>
          <a:xfrm xmlns:a="http://schemas.openxmlformats.org/drawingml/2006/main">
            <a:off x="609600" y="3571875"/>
            <a:ext cx="589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Человек: диапазон слуха</a:t>
            </a:r>
          </a:p>
        </p:txBody>
      </p:sp>
      <p:sp>
        <p:nvSpPr>
          <p:cNvPr id="16" name="">
            <a:extLst xmlns:a="http://schemas.openxmlformats.org/drawingml/2006/main">
              <a:ext uri="{FF2B5EF4-FFF2-40B4-BE49-F238E27FC236}">
                <a16:creationId xmlns:a16="http://schemas.microsoft.com/office/drawing/2014/main" id="{CE6E8A65-F9E9-496D-AB71-E4B6FAC3A592}"/>
              </a:ext>
            </a:extLst>
          </p:cNvPr>
          <p:cNvSpPr>
            <a:spLocks xmlns:a="http://schemas.openxmlformats.org/drawingml/2006/main" noGrp="1"/>
          </p:cNvSpPr>
          <p:nvPr/>
        </p:nvSpPr>
        <p:spPr>
          <a:xfrm xmlns:a="http://schemas.openxmlformats.org/drawingml/2006/main">
            <a:off x="895350" y="4114800"/>
            <a:ext cx="5200650" cy="400050"/>
          </a:xfrm>
          <a:prstGeom xmlns:a="http://schemas.openxmlformats.org/drawingml/2006/main" prst="roundRect">
            <a:avLst>
              <a:gd name="adj" fmla="val 19048"/>
            </a:avLst>
          </a:prstGeom>
          <a:solidFill xmlns:a="http://schemas.openxmlformats.org/drawingml/2006/main">
            <a:srgbClr val="EDF3EB"/>
          </a:solidFill>
          <a:ln xmlns:a="http://schemas.openxmlformats.org/drawingml/2006/main" w="19050">
            <a:solidFill>
              <a:srgbClr val="47705A"/>
            </a:solidFill>
          </a:ln>
        </p:spPr>
      </p:sp>
      <p:sp>
        <p:nvSpPr>
          <p:cNvPr id="17" name="">
            <a:extLst xmlns:a="http://schemas.openxmlformats.org/drawingml/2006/main">
              <a:ext uri="{FF2B5EF4-FFF2-40B4-BE49-F238E27FC236}">
                <a16:creationId xmlns:a16="http://schemas.microsoft.com/office/drawing/2014/main" id="{7790C94C-936A-4026-BC8F-E2DC22B5F5AD}"/>
              </a:ext>
            </a:extLst>
          </p:cNvPr>
          <p:cNvSpPr>
            <a:spLocks xmlns:a="http://schemas.openxmlformats.org/drawingml/2006/main" noGrp="1"/>
          </p:cNvSpPr>
          <p:nvPr/>
        </p:nvSpPr>
        <p:spPr>
          <a:xfrm xmlns:a="http://schemas.openxmlformats.org/drawingml/2006/main">
            <a:off x="609600" y="4991100"/>
            <a:ext cx="619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63B31"/>
                </a:solidFill>
                <a:latin typeface="Arial"/>
                <a:ea typeface="Arial"/>
                <a:cs typeface="Arial"/>
              </a:defRPr>
            </a:pPr>
            <a:r>
              <a:rPr sz="2025" b="1">
                <a:solidFill>
                  <a:srgbClr val="263B31"/>
                </a:solidFill>
                <a:latin typeface="Arial"/>
                <a:ea typeface="Arial"/>
                <a:cs typeface="Arial"/>
              </a:rPr>
              <a:t>Большой копьенос: лучшая чувствительность</a:t>
            </a:r>
          </a:p>
        </p:txBody>
      </p:sp>
      <p:sp>
        <p:nvSpPr>
          <p:cNvPr id="18" name="">
            <a:extLst xmlns:a="http://schemas.openxmlformats.org/drawingml/2006/main">
              <a:ext uri="{FF2B5EF4-FFF2-40B4-BE49-F238E27FC236}">
                <a16:creationId xmlns:a16="http://schemas.microsoft.com/office/drawing/2014/main" id="{F6D0E541-17A5-475D-8C50-01852D86B8EA}"/>
              </a:ext>
            </a:extLst>
          </p:cNvPr>
          <p:cNvSpPr>
            <a:spLocks xmlns:a="http://schemas.openxmlformats.org/drawingml/2006/main" noGrp="1"/>
          </p:cNvSpPr>
          <p:nvPr/>
        </p:nvSpPr>
        <p:spPr>
          <a:xfrm xmlns:a="http://schemas.openxmlformats.org/drawingml/2006/main">
            <a:off x="5972175" y="5534025"/>
            <a:ext cx="247650" cy="247650"/>
          </a:xfrm>
          <a:prstGeom xmlns:a="http://schemas.openxmlformats.org/drawingml/2006/main" prst="ellipse">
            <a:avLst/>
          </a:prstGeom>
          <a:solidFill xmlns:a="http://schemas.openxmlformats.org/drawingml/2006/main">
            <a:srgbClr val="DFEDF5"/>
          </a:solidFill>
          <a:ln xmlns:a="http://schemas.openxmlformats.org/drawingml/2006/main" w="19050">
            <a:solidFill>
              <a:srgbClr val="39667D"/>
            </a:solidFill>
          </a:ln>
        </p:spPr>
      </p:sp>
      <p:sp>
        <p:nvSpPr>
          <p:cNvPr id="19" name="">
            <a:extLst xmlns:a="http://schemas.openxmlformats.org/drawingml/2006/main">
              <a:ext uri="{FF2B5EF4-FFF2-40B4-BE49-F238E27FC236}">
                <a16:creationId xmlns:a16="http://schemas.microsoft.com/office/drawing/2014/main" id="{94081128-BDFF-4663-9AC8-A96E7DE27215}"/>
              </a:ext>
            </a:extLst>
          </p:cNvPr>
          <p:cNvSpPr>
            <a:spLocks xmlns:a="http://schemas.openxmlformats.org/drawingml/2006/main" noGrp="1"/>
          </p:cNvSpPr>
          <p:nvPr/>
        </p:nvSpPr>
        <p:spPr>
          <a:xfrm xmlns:a="http://schemas.openxmlformats.org/drawingml/2006/main">
            <a:off x="4286250" y="548640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9667D"/>
                </a:solidFill>
                <a:latin typeface="Arial"/>
                <a:ea typeface="Arial"/>
                <a:cs typeface="Arial"/>
              </a:defRPr>
            </a:pPr>
            <a:r>
              <a:rPr sz="2025" b="1">
                <a:solidFill>
                  <a:srgbClr val="39667D"/>
                </a:solidFill>
                <a:latin typeface="Arial"/>
                <a:ea typeface="Arial"/>
                <a:cs typeface="Arial"/>
              </a:rPr>
              <a:t>≈20 кГц</a:t>
            </a:r>
          </a:p>
        </p:txBody>
      </p:sp>
      <p:sp>
        <p:nvSpPr>
          <p:cNvPr id="20" name="">
            <a:extLst xmlns:a="http://schemas.openxmlformats.org/drawingml/2006/main">
              <a:ext uri="{FF2B5EF4-FFF2-40B4-BE49-F238E27FC236}">
                <a16:creationId xmlns:a16="http://schemas.microsoft.com/office/drawing/2014/main" id="{11CCBD41-B8F8-4BCB-9F95-6FB8D872915A}"/>
              </a:ext>
            </a:extLst>
          </p:cNvPr>
          <p:cNvSpPr>
            <a:spLocks xmlns:a="http://schemas.openxmlformats.org/drawingml/2006/main" noGrp="1"/>
          </p:cNvSpPr>
          <p:nvPr/>
        </p:nvSpPr>
        <p:spPr>
          <a:xfrm xmlns:a="http://schemas.openxmlformats.org/drawingml/2006/main">
            <a:off x="609600"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47705A"/>
                </a:solidFill>
                <a:latin typeface="Arial"/>
                <a:ea typeface="Arial"/>
                <a:cs typeface="Arial"/>
              </a:defRPr>
            </a:pPr>
            <a:r>
              <a:rPr sz="1800" b="0">
                <a:solidFill>
                  <a:srgbClr val="47705A"/>
                </a:solidFill>
                <a:latin typeface="Arial"/>
                <a:ea typeface="Arial"/>
                <a:cs typeface="Arial"/>
              </a:rPr>
              <a:t>Источники: [5]</a:t>
            </a:r>
          </a:p>
        </p:txBody>
      </p:sp>
    </p:spTree>
    <p:extLst>
      <p:ext uri="{BB962C8B-B14F-4D97-AF65-F5344CB8AC3E}">
        <p14:creationId xmlns:p14="http://schemas.microsoft.com/office/powerpoint/2010/main" val="98171920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p:cNvCxnSpPr>
            <a:stCxn xmlns:a="http://schemas.openxmlformats.org/drawingml/2006/main" id="8" idx="2"/>
            <a:endCxn xmlns:a="http://schemas.openxmlformats.org/drawingml/2006/main" id="10" idx="0"/>
          </p:cNvCxnSpPr>
          <p:nvPr/>
        </p:nvCxnSpPr>
        <p:spPr>
          <a:xfrm xmlns:a="http://schemas.openxmlformats.org/drawingml/2006/main">
            <a:off x="3514725" y="4667250"/>
            <a:ext cx="0" cy="36195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3" name=""/>
          <p:cNvCxnSpPr>
            <a:stCxn xmlns:a="http://schemas.openxmlformats.org/drawingml/2006/main" id="6" idx="2"/>
            <a:endCxn xmlns:a="http://schemas.openxmlformats.org/drawingml/2006/main" id="8" idx="0"/>
          </p:cNvCxnSpPr>
          <p:nvPr/>
        </p:nvCxnSpPr>
        <p:spPr>
          <a:xfrm xmlns:a="http://schemas.openxmlformats.org/drawingml/2006/main">
            <a:off x="3514725" y="3562350"/>
            <a:ext cx="0" cy="36195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4" name=""/>
          <p:cNvCxnSpPr>
            <a:stCxn xmlns:a="http://schemas.openxmlformats.org/drawingml/2006/main" id="5" idx="2"/>
            <a:endCxn xmlns:a="http://schemas.openxmlformats.org/drawingml/2006/main" id="6" idx="0"/>
          </p:cNvCxnSpPr>
          <p:nvPr/>
        </p:nvCxnSpPr>
        <p:spPr>
          <a:xfrm xmlns:a="http://schemas.openxmlformats.org/drawingml/2006/main">
            <a:off x="3514725" y="2457450"/>
            <a:ext cx="0" cy="36195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5" name="">
            <a:extLst xmlns:a="http://schemas.openxmlformats.org/drawingml/2006/main">
              <a:ext uri="{FF2B5EF4-FFF2-40B4-BE49-F238E27FC236}">
                <a16:creationId xmlns:a16="http://schemas.microsoft.com/office/drawing/2014/main" id="{44A5FF7E-19AD-4D3A-90D3-B76109993F2B}"/>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Среднее ухо</a:t>
            </a:r>
          </a:p>
        </p:txBody>
      </p:sp>
      <p:sp>
        <p:nvSpPr>
          <p:cNvPr id="2" name="">
            <a:extLst xmlns:a="http://schemas.openxmlformats.org/drawingml/2006/main">
              <a:ext uri="{FF2B5EF4-FFF2-40B4-BE49-F238E27FC236}">
                <a16:creationId xmlns:a16="http://schemas.microsoft.com/office/drawing/2014/main" id="{E62C918E-EA62-4373-AAFA-08491259E04D}"/>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50</a:t>
            </a:r>
          </a:p>
        </p:txBody>
      </p:sp>
      <p:sp>
        <p:nvSpPr>
          <p:cNvPr id="3" name="">
            <a:extLst xmlns:a="http://schemas.openxmlformats.org/drawingml/2006/main">
              <a:ext uri="{FF2B5EF4-FFF2-40B4-BE49-F238E27FC236}">
                <a16:creationId xmlns:a16="http://schemas.microsoft.com/office/drawing/2014/main" id="{8A07DF98-9B79-4A30-9C17-E2D5E1090EE8}"/>
              </a:ext>
            </a:extLst>
          </p:cNvPr>
          <p:cNvSpPr>
            <a:spLocks xmlns:a="http://schemas.openxmlformats.org/drawingml/2006/main" noGrp="1"/>
          </p:cNvSpPr>
          <p:nvPr/>
        </p:nvSpPr>
        <p:spPr>
          <a:xfrm xmlns:a="http://schemas.openxmlformats.org/drawingml/2006/main">
            <a:off x="7077075" y="1638300"/>
            <a:ext cx="4505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Передача колебаний</a:t>
            </a:r>
          </a:p>
        </p:txBody>
      </p:sp>
      <p:sp>
        <p:nvSpPr>
          <p:cNvPr id="4" name="">
            <a:extLst xmlns:a="http://schemas.openxmlformats.org/drawingml/2006/main">
              <a:ext uri="{FF2B5EF4-FFF2-40B4-BE49-F238E27FC236}">
                <a16:creationId xmlns:a16="http://schemas.microsoft.com/office/drawing/2014/main" id="{C6A3D965-1756-4D29-AB7C-96F873A8EA05}"/>
              </a:ext>
            </a:extLst>
          </p:cNvPr>
          <p:cNvSpPr>
            <a:spLocks xmlns:a="http://schemas.openxmlformats.org/drawingml/2006/main" noGrp="1"/>
          </p:cNvSpPr>
          <p:nvPr/>
        </p:nvSpPr>
        <p:spPr>
          <a:xfrm xmlns:a="http://schemas.openxmlformats.org/drawingml/2006/main">
            <a:off x="7077075" y="2828925"/>
            <a:ext cx="4505325"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Барабанная перепонка</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колеблется под действием</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звукового давления.</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У человека колебания</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передают три слуховые</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косточки. У птиц одна.</a:t>
            </a:r>
          </a:p>
        </p:txBody>
      </p:sp>
      <p:sp>
        <p:nvSpPr>
          <p:cNvPr id="5" name="">
            <a:extLst xmlns:a="http://schemas.openxmlformats.org/drawingml/2006/main">
              <a:ext uri="{FF2B5EF4-FFF2-40B4-BE49-F238E27FC236}">
                <a16:creationId xmlns:a16="http://schemas.microsoft.com/office/drawing/2014/main" id="{3468EA46-E31A-4634-80C2-4B9A7B2DCFF4}"/>
              </a:ext>
            </a:extLst>
          </p:cNvPr>
          <p:cNvSpPr>
            <a:spLocks xmlns:a="http://schemas.openxmlformats.org/drawingml/2006/main" noGrp="1"/>
          </p:cNvSpPr>
          <p:nvPr/>
        </p:nvSpPr>
        <p:spPr>
          <a:xfrm xmlns:a="http://schemas.openxmlformats.org/drawingml/2006/main">
            <a:off x="990600" y="1714500"/>
            <a:ext cx="5048250" cy="742950"/>
          </a:xfrm>
          <a:prstGeom xmlns:a="http://schemas.openxmlformats.org/drawingml/2006/main" prst="roundRect">
            <a:avLst>
              <a:gd name="adj" fmla="val 20513"/>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Звуковое давление</a:t>
            </a:r>
          </a:p>
        </p:txBody>
      </p:sp>
      <p:sp>
        <p:nvSpPr>
          <p:cNvPr id="6" name="">
            <a:extLst xmlns:a="http://schemas.openxmlformats.org/drawingml/2006/main">
              <a:ext uri="{FF2B5EF4-FFF2-40B4-BE49-F238E27FC236}">
                <a16:creationId xmlns:a16="http://schemas.microsoft.com/office/drawing/2014/main" id="{2159DE0C-99C7-43FC-B556-9424423742AF}"/>
              </a:ext>
            </a:extLst>
          </p:cNvPr>
          <p:cNvSpPr>
            <a:spLocks xmlns:a="http://schemas.openxmlformats.org/drawingml/2006/main" noGrp="1"/>
          </p:cNvSpPr>
          <p:nvPr/>
        </p:nvSpPr>
        <p:spPr>
          <a:xfrm xmlns:a="http://schemas.openxmlformats.org/drawingml/2006/main">
            <a:off x="990600" y="2819400"/>
            <a:ext cx="5048250" cy="742950"/>
          </a:xfrm>
          <a:prstGeom xmlns:a="http://schemas.openxmlformats.org/drawingml/2006/main" prst="roundRect">
            <a:avLst>
              <a:gd name="adj" fmla="val 20513"/>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Барабанная перепонка</a:t>
            </a:r>
          </a:p>
        </p:txBody>
      </p:sp>
      <p:sp>
        <p:nvSpPr>
          <p:cNvPr id="8" name="">
            <a:extLst xmlns:a="http://schemas.openxmlformats.org/drawingml/2006/main">
              <a:ext uri="{FF2B5EF4-FFF2-40B4-BE49-F238E27FC236}">
                <a16:creationId xmlns:a16="http://schemas.microsoft.com/office/drawing/2014/main" id="{4F2E3370-C3E3-4609-8A99-C2268E49CB62}"/>
              </a:ext>
            </a:extLst>
          </p:cNvPr>
          <p:cNvSpPr>
            <a:spLocks xmlns:a="http://schemas.openxmlformats.org/drawingml/2006/main" noGrp="1"/>
          </p:cNvSpPr>
          <p:nvPr/>
        </p:nvSpPr>
        <p:spPr>
          <a:xfrm xmlns:a="http://schemas.openxmlformats.org/drawingml/2006/main">
            <a:off x="990600" y="3924300"/>
            <a:ext cx="5048250" cy="742950"/>
          </a:xfrm>
          <a:prstGeom xmlns:a="http://schemas.openxmlformats.org/drawingml/2006/main" prst="roundRect">
            <a:avLst>
              <a:gd name="adj" fmla="val 20513"/>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Слуховые косточки</a:t>
            </a:r>
          </a:p>
        </p:txBody>
      </p:sp>
      <p:sp>
        <p:nvSpPr>
          <p:cNvPr id="10" name="">
            <a:extLst xmlns:a="http://schemas.openxmlformats.org/drawingml/2006/main">
              <a:ext uri="{FF2B5EF4-FFF2-40B4-BE49-F238E27FC236}">
                <a16:creationId xmlns:a16="http://schemas.microsoft.com/office/drawing/2014/main" id="{66B0D1A3-1E88-47DE-8555-30DE3B1ED611}"/>
              </a:ext>
            </a:extLst>
          </p:cNvPr>
          <p:cNvSpPr>
            <a:spLocks xmlns:a="http://schemas.openxmlformats.org/drawingml/2006/main" noGrp="1"/>
          </p:cNvSpPr>
          <p:nvPr/>
        </p:nvSpPr>
        <p:spPr>
          <a:xfrm xmlns:a="http://schemas.openxmlformats.org/drawingml/2006/main">
            <a:off x="990600" y="5029200"/>
            <a:ext cx="5048250" cy="742950"/>
          </a:xfrm>
          <a:prstGeom xmlns:a="http://schemas.openxmlformats.org/drawingml/2006/main" prst="roundRect">
            <a:avLst>
              <a:gd name="adj" fmla="val 20513"/>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Жидкость внутреннего уха</a:t>
            </a:r>
          </a:p>
        </p:txBody>
      </p:sp>
    </p:spTree>
    <p:extLst>
      <p:ext uri="{BB962C8B-B14F-4D97-AF65-F5344CB8AC3E}">
        <p14:creationId xmlns:p14="http://schemas.microsoft.com/office/powerpoint/2010/main" val="195006919"/>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p:cNvCxnSpPr>
            <a:stCxn xmlns:a="http://schemas.openxmlformats.org/drawingml/2006/main" id="10" idx="2"/>
            <a:endCxn xmlns:a="http://schemas.openxmlformats.org/drawingml/2006/main" id="11" idx="3"/>
          </p:cNvCxnSpPr>
          <p:nvPr/>
        </p:nvCxnSpPr>
        <p:spPr>
          <a:xfrm xmlns:a="http://schemas.openxmlformats.org/drawingml/2006/main" flipH="1">
            <a:off x="3133725" y="4791075"/>
            <a:ext cx="1971675" cy="89535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6" name=""/>
          <p:cNvCxnSpPr>
            <a:stCxn xmlns:a="http://schemas.openxmlformats.org/drawingml/2006/main" id="9" idx="2"/>
            <a:endCxn xmlns:a="http://schemas.openxmlformats.org/drawingml/2006/main" id="10" idx="0"/>
          </p:cNvCxnSpPr>
          <p:nvPr/>
        </p:nvCxnSpPr>
        <p:spPr>
          <a:xfrm xmlns:a="http://schemas.openxmlformats.org/drawingml/2006/main" flipH="1">
            <a:off x="5105400" y="3448050"/>
            <a:ext cx="33338" cy="561975"/>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7" name="">
            <a:extLst xmlns:a="http://schemas.openxmlformats.org/drawingml/2006/main">
              <a:ext uri="{FF2B5EF4-FFF2-40B4-BE49-F238E27FC236}">
                <a16:creationId xmlns:a16="http://schemas.microsoft.com/office/drawing/2014/main" id="{9B408DE4-BF6D-4B9C-81A4-A7C3FC7254F1}"/>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Выравнивание давления</a:t>
            </a:r>
          </a:p>
        </p:txBody>
      </p:sp>
      <p:sp>
        <p:nvSpPr>
          <p:cNvPr id="2" name="">
            <a:extLst xmlns:a="http://schemas.openxmlformats.org/drawingml/2006/main">
              <a:ext uri="{FF2B5EF4-FFF2-40B4-BE49-F238E27FC236}">
                <a16:creationId xmlns:a16="http://schemas.microsoft.com/office/drawing/2014/main" id="{C663E904-6FAE-4D99-91C6-F2B03DF53D81}"/>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51</a:t>
            </a:r>
          </a:p>
        </p:txBody>
      </p:sp>
      <p:sp>
        <p:nvSpPr>
          <p:cNvPr id="3" name="">
            <a:extLst xmlns:a="http://schemas.openxmlformats.org/drawingml/2006/main">
              <a:ext uri="{FF2B5EF4-FFF2-40B4-BE49-F238E27FC236}">
                <a16:creationId xmlns:a16="http://schemas.microsoft.com/office/drawing/2014/main" id="{28D2FA3F-ACAC-48F0-8703-115233618325}"/>
              </a:ext>
            </a:extLst>
          </p:cNvPr>
          <p:cNvSpPr>
            <a:spLocks xmlns:a="http://schemas.openxmlformats.org/drawingml/2006/main" noGrp="1"/>
          </p:cNvSpPr>
          <p:nvPr/>
        </p:nvSpPr>
        <p:spPr>
          <a:xfrm xmlns:a="http://schemas.openxmlformats.org/drawingml/2006/main">
            <a:off x="7077075" y="1638300"/>
            <a:ext cx="4505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Слуховая труба</a:t>
            </a:r>
          </a:p>
        </p:txBody>
      </p:sp>
      <p:sp>
        <p:nvSpPr>
          <p:cNvPr id="4" name="">
            <a:extLst xmlns:a="http://schemas.openxmlformats.org/drawingml/2006/main">
              <a:ext uri="{FF2B5EF4-FFF2-40B4-BE49-F238E27FC236}">
                <a16:creationId xmlns:a16="http://schemas.microsoft.com/office/drawing/2014/main" id="{7B2C7DC5-C468-4934-8E8C-FDB07A587A27}"/>
              </a:ext>
            </a:extLst>
          </p:cNvPr>
          <p:cNvSpPr>
            <a:spLocks xmlns:a="http://schemas.openxmlformats.org/drawingml/2006/main" noGrp="1"/>
          </p:cNvSpPr>
          <p:nvPr/>
        </p:nvSpPr>
        <p:spPr>
          <a:xfrm xmlns:a="http://schemas.openxmlformats.org/drawingml/2006/main">
            <a:off x="7077075" y="2828925"/>
            <a:ext cx="4505325"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Соединяет среднее ухо</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 областью глотки.</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Помогает выровнять</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давление по обе стороны</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барабанной перепонки.</a:t>
            </a:r>
          </a:p>
        </p:txBody>
      </p:sp>
      <p:sp>
        <p:nvSpPr>
          <p:cNvPr id="5" name="">
            <a:extLst xmlns:a="http://schemas.openxmlformats.org/drawingml/2006/main">
              <a:ext uri="{FF2B5EF4-FFF2-40B4-BE49-F238E27FC236}">
                <a16:creationId xmlns:a16="http://schemas.microsoft.com/office/drawing/2014/main" id="{812D6FEC-8BCC-4B93-A957-0697B0F6026A}"/>
              </a:ext>
            </a:extLst>
          </p:cNvPr>
          <p:cNvSpPr>
            <a:spLocks xmlns:a="http://schemas.openxmlformats.org/drawingml/2006/main" noGrp="1"/>
          </p:cNvSpPr>
          <p:nvPr/>
        </p:nvSpPr>
        <p:spPr>
          <a:xfrm xmlns:a="http://schemas.openxmlformats.org/drawingml/2006/main">
            <a:off x="609600" y="2181225"/>
            <a:ext cx="2524125" cy="1266825"/>
          </a:xfrm>
          <a:prstGeom xmlns:a="http://schemas.openxmlformats.org/drawingml/2006/main" prst="roundRect">
            <a:avLst>
              <a:gd name="adj" fmla="val 12030"/>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100" b="1">
                <a:solidFill>
                  <a:srgbClr val="263B31"/>
                </a:solidFill>
                <a:latin typeface="Arial"/>
                <a:ea typeface="Arial"/>
                <a:cs typeface="Arial"/>
              </a:defRPr>
            </a:pPr>
            <a:r>
              <a:rPr sz="2100" b="1">
                <a:solidFill>
                  <a:srgbClr val="263B31"/>
                </a:solidFill>
                <a:latin typeface="Arial"/>
                <a:ea typeface="Arial"/>
                <a:cs typeface="Arial"/>
              </a:rPr>
              <a:t>Наружный</a:t>
            </a:r>
          </a:p>
          <a:p xmlns:a="http://schemas.openxmlformats.org/drawingml/2006/main">
            <a:pPr algn="ctr">
              <a:defRPr sz="2100" b="1">
                <a:solidFill>
                  <a:srgbClr val="263B31"/>
                </a:solidFill>
                <a:latin typeface="Arial"/>
                <a:ea typeface="Arial"/>
                <a:cs typeface="Arial"/>
              </a:defRPr>
            </a:pPr>
            <a:r>
              <a:rPr sz="2100" b="1">
                <a:solidFill>
                  <a:srgbClr val="263B31"/>
                </a:solidFill>
                <a:latin typeface="Arial"/>
                <a:ea typeface="Arial"/>
                <a:cs typeface="Arial"/>
              </a:rPr>
              <a:t>слуховой проход</a:t>
            </a:r>
          </a:p>
        </p:txBody>
      </p:sp>
      <p:sp>
        <p:nvSpPr>
          <p:cNvPr id="6" name="">
            <a:extLst xmlns:a="http://schemas.openxmlformats.org/drawingml/2006/main">
              <a:ext uri="{FF2B5EF4-FFF2-40B4-BE49-F238E27FC236}">
                <a16:creationId xmlns:a16="http://schemas.microsoft.com/office/drawing/2014/main" id="{67EAF319-F261-4554-9334-438433203DB7}"/>
              </a:ext>
            </a:extLst>
          </p:cNvPr>
          <p:cNvSpPr>
            <a:spLocks xmlns:a="http://schemas.openxmlformats.org/drawingml/2006/main" noGrp="1"/>
          </p:cNvSpPr>
          <p:nvPr/>
        </p:nvSpPr>
        <p:spPr>
          <a:xfrm xmlns:a="http://schemas.openxmlformats.org/drawingml/2006/main">
            <a:off x="3705225" y="2181225"/>
            <a:ext cx="2800350" cy="1266825"/>
          </a:xfrm>
          <a:prstGeom xmlns:a="http://schemas.openxmlformats.org/drawingml/2006/main" prst="roundRect">
            <a:avLst>
              <a:gd name="adj" fmla="val 12030"/>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100" b="1">
                <a:solidFill>
                  <a:srgbClr val="263B31"/>
                </a:solidFill>
                <a:latin typeface="Arial"/>
                <a:ea typeface="Arial"/>
                <a:cs typeface="Arial"/>
              </a:defRPr>
            </a:pPr>
            <a:r>
              <a:rPr sz="2100" b="1">
                <a:solidFill>
                  <a:srgbClr val="263B31"/>
                </a:solidFill>
                <a:latin typeface="Arial"/>
                <a:ea typeface="Arial"/>
                <a:cs typeface="Arial"/>
              </a:rPr>
              <a:t>Полость</a:t>
            </a:r>
          </a:p>
          <a:p xmlns:a="http://schemas.openxmlformats.org/drawingml/2006/main">
            <a:pPr algn="ctr">
              <a:defRPr sz="2100" b="1">
                <a:solidFill>
                  <a:srgbClr val="263B31"/>
                </a:solidFill>
                <a:latin typeface="Arial"/>
                <a:ea typeface="Arial"/>
                <a:cs typeface="Arial"/>
              </a:defRPr>
            </a:pPr>
            <a:r>
              <a:rPr sz="2100" b="1">
                <a:solidFill>
                  <a:srgbClr val="263B31"/>
                </a:solidFill>
                <a:latin typeface="Arial"/>
                <a:ea typeface="Arial"/>
                <a:cs typeface="Arial"/>
              </a:rPr>
              <a:t>среднего уха</a:t>
            </a:r>
          </a:p>
        </p:txBody>
      </p:sp>
      <p:sp>
        <p:nvSpPr>
          <p:cNvPr id="7" name="">
            <a:extLst xmlns:a="http://schemas.openxmlformats.org/drawingml/2006/main">
              <a:ext uri="{FF2B5EF4-FFF2-40B4-BE49-F238E27FC236}">
                <a16:creationId xmlns:a16="http://schemas.microsoft.com/office/drawing/2014/main" id="{8E23CFB9-17EF-4AE2-9B01-5C471016C3A2}"/>
              </a:ext>
            </a:extLst>
          </p:cNvPr>
          <p:cNvSpPr>
            <a:spLocks xmlns:a="http://schemas.openxmlformats.org/drawingml/2006/main" noGrp="1"/>
          </p:cNvSpPr>
          <p:nvPr/>
        </p:nvSpPr>
        <p:spPr>
          <a:xfrm xmlns:a="http://schemas.openxmlformats.org/drawingml/2006/main">
            <a:off x="3343275" y="2114550"/>
            <a:ext cx="85725" cy="1457325"/>
          </a:xfrm>
          <a:prstGeom xmlns:a="http://schemas.openxmlformats.org/drawingml/2006/main" prst="rect">
            <a:avLst/>
          </a:prstGeom>
          <a:solidFill xmlns:a="http://schemas.openxmlformats.org/drawingml/2006/main">
            <a:srgbClr val="A967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081FB8-FE7A-46D3-8D83-807146AD6144}"/>
              </a:ext>
            </a:extLst>
          </p:cNvPr>
          <p:cNvSpPr>
            <a:spLocks xmlns:a="http://schemas.openxmlformats.org/drawingml/2006/main" noGrp="1"/>
          </p:cNvSpPr>
          <p:nvPr/>
        </p:nvSpPr>
        <p:spPr>
          <a:xfrm xmlns:a="http://schemas.openxmlformats.org/drawingml/2006/main">
            <a:off x="2428875" y="1581150"/>
            <a:ext cx="219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6743"/>
                </a:solidFill>
                <a:latin typeface="Arial"/>
                <a:ea typeface="Arial"/>
                <a:cs typeface="Arial"/>
              </a:defRPr>
            </a:pPr>
            <a:r>
              <a:rPr sz="2100" b="1">
                <a:solidFill>
                  <a:srgbClr val="A96743"/>
                </a:solidFill>
                <a:latin typeface="Arial"/>
                <a:ea typeface="Arial"/>
                <a:cs typeface="Arial"/>
              </a:rPr>
              <a:t>Перепонка</a:t>
            </a:r>
          </a:p>
        </p:txBody>
      </p:sp>
      <p:sp>
        <p:nvSpPr>
          <p:cNvPr id="9" name="">
            <a:extLst xmlns:a="http://schemas.openxmlformats.org/drawingml/2006/main">
              <a:ext uri="{FF2B5EF4-FFF2-40B4-BE49-F238E27FC236}">
                <a16:creationId xmlns:a16="http://schemas.microsoft.com/office/drawing/2014/main" id="{A4E59D13-0890-4F15-8C77-90AD86B01B00}"/>
              </a:ext>
            </a:extLst>
          </p:cNvPr>
          <p:cNvSpPr>
            <a:spLocks xmlns:a="http://schemas.openxmlformats.org/drawingml/2006/main" noGrp="1"/>
          </p:cNvSpPr>
          <p:nvPr/>
        </p:nvSpPr>
        <p:spPr>
          <a:xfrm xmlns:a="http://schemas.openxmlformats.org/drawingml/2006/main">
            <a:off x="5133975" y="3438525"/>
            <a:ext cx="9525" cy="9525"/>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B34C3A1-CB9D-42D5-9B6D-42794BD1945E}"/>
              </a:ext>
            </a:extLst>
          </p:cNvPr>
          <p:cNvSpPr>
            <a:spLocks xmlns:a="http://schemas.openxmlformats.org/drawingml/2006/main" noGrp="1"/>
          </p:cNvSpPr>
          <p:nvPr/>
        </p:nvSpPr>
        <p:spPr>
          <a:xfrm xmlns:a="http://schemas.openxmlformats.org/drawingml/2006/main">
            <a:off x="3705225" y="4010025"/>
            <a:ext cx="2800350" cy="781050"/>
          </a:xfrm>
          <a:prstGeom xmlns:a="http://schemas.openxmlformats.org/drawingml/2006/main" prst="roundRect">
            <a:avLst>
              <a:gd name="adj" fmla="val 19512"/>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175" b="1">
                <a:solidFill>
                  <a:srgbClr val="263B31"/>
                </a:solidFill>
                <a:latin typeface="Arial"/>
                <a:ea typeface="Arial"/>
                <a:cs typeface="Arial"/>
              </a:defRPr>
            </a:pPr>
            <a:r>
              <a:rPr sz="2175" b="1">
                <a:solidFill>
                  <a:srgbClr val="263B31"/>
                </a:solidFill>
                <a:latin typeface="Arial"/>
                <a:ea typeface="Arial"/>
                <a:cs typeface="Arial"/>
              </a:rPr>
              <a:t>Слуховая труба</a:t>
            </a:r>
          </a:p>
        </p:txBody>
      </p:sp>
      <p:sp>
        <p:nvSpPr>
          <p:cNvPr id="11" name="">
            <a:extLst xmlns:a="http://schemas.openxmlformats.org/drawingml/2006/main">
              <a:ext uri="{FF2B5EF4-FFF2-40B4-BE49-F238E27FC236}">
                <a16:creationId xmlns:a16="http://schemas.microsoft.com/office/drawing/2014/main" id="{288D6155-9D34-4A77-8D2E-305E62E6A2AC}"/>
              </a:ext>
            </a:extLst>
          </p:cNvPr>
          <p:cNvSpPr>
            <a:spLocks xmlns:a="http://schemas.openxmlformats.org/drawingml/2006/main" noGrp="1"/>
          </p:cNvSpPr>
          <p:nvPr/>
        </p:nvSpPr>
        <p:spPr>
          <a:xfrm xmlns:a="http://schemas.openxmlformats.org/drawingml/2006/main">
            <a:off x="609600" y="5295900"/>
            <a:ext cx="2524125" cy="781050"/>
          </a:xfrm>
          <a:prstGeom xmlns:a="http://schemas.openxmlformats.org/drawingml/2006/main" prst="roundRect">
            <a:avLst>
              <a:gd name="adj" fmla="val 19512"/>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175" b="1">
                <a:solidFill>
                  <a:srgbClr val="263B31"/>
                </a:solidFill>
                <a:latin typeface="Arial"/>
                <a:ea typeface="Arial"/>
                <a:cs typeface="Arial"/>
              </a:defRPr>
            </a:pPr>
            <a:r>
              <a:rPr sz="2175" b="1">
                <a:solidFill>
                  <a:srgbClr val="263B31"/>
                </a:solidFill>
                <a:latin typeface="Arial"/>
                <a:ea typeface="Arial"/>
                <a:cs typeface="Arial"/>
              </a:rPr>
              <a:t>Глотка</a:t>
            </a:r>
          </a:p>
        </p:txBody>
      </p:sp>
      <p:sp>
        <p:nvSpPr>
          <p:cNvPr id="14" name="">
            <a:extLst xmlns:a="http://schemas.openxmlformats.org/drawingml/2006/main">
              <a:ext uri="{FF2B5EF4-FFF2-40B4-BE49-F238E27FC236}">
                <a16:creationId xmlns:a16="http://schemas.microsoft.com/office/drawing/2014/main" id="{961339E7-EF1B-4B0E-B5F6-2860DE940A10}"/>
              </a:ext>
            </a:extLst>
          </p:cNvPr>
          <p:cNvSpPr>
            <a:spLocks xmlns:a="http://schemas.openxmlformats.org/drawingml/2006/main" noGrp="1"/>
          </p:cNvSpPr>
          <p:nvPr/>
        </p:nvSpPr>
        <p:spPr>
          <a:xfrm xmlns:a="http://schemas.openxmlformats.org/drawingml/2006/main">
            <a:off x="609600" y="4010025"/>
            <a:ext cx="2857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Выравнивание</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давления</a:t>
            </a:r>
          </a:p>
        </p:txBody>
      </p:sp>
    </p:spTree>
    <p:extLst>
      <p:ext uri="{BB962C8B-B14F-4D97-AF65-F5344CB8AC3E}">
        <p14:creationId xmlns:p14="http://schemas.microsoft.com/office/powerpoint/2010/main" val="104356764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p:cNvCxnSpPr>
            <a:stCxn xmlns:a="http://schemas.openxmlformats.org/drawingml/2006/main" id="8" idx="2"/>
            <a:endCxn xmlns:a="http://schemas.openxmlformats.org/drawingml/2006/main" id="10" idx="0"/>
          </p:cNvCxnSpPr>
          <p:nvPr/>
        </p:nvCxnSpPr>
        <p:spPr>
          <a:xfrm xmlns:a="http://schemas.openxmlformats.org/drawingml/2006/main">
            <a:off x="3514725" y="4667250"/>
            <a:ext cx="0" cy="36195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3" name=""/>
          <p:cNvCxnSpPr>
            <a:stCxn xmlns:a="http://schemas.openxmlformats.org/drawingml/2006/main" id="6" idx="2"/>
            <a:endCxn xmlns:a="http://schemas.openxmlformats.org/drawingml/2006/main" id="8" idx="0"/>
          </p:cNvCxnSpPr>
          <p:nvPr/>
        </p:nvCxnSpPr>
        <p:spPr>
          <a:xfrm xmlns:a="http://schemas.openxmlformats.org/drawingml/2006/main">
            <a:off x="3514725" y="3562350"/>
            <a:ext cx="0" cy="36195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14" name=""/>
          <p:cNvCxnSpPr>
            <a:stCxn xmlns:a="http://schemas.openxmlformats.org/drawingml/2006/main" id="5" idx="2"/>
            <a:endCxn xmlns:a="http://schemas.openxmlformats.org/drawingml/2006/main" id="6" idx="0"/>
          </p:cNvCxnSpPr>
          <p:nvPr/>
        </p:nvCxnSpPr>
        <p:spPr>
          <a:xfrm xmlns:a="http://schemas.openxmlformats.org/drawingml/2006/main">
            <a:off x="3514725" y="2457450"/>
            <a:ext cx="0" cy="36195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5" name="">
            <a:extLst xmlns:a="http://schemas.openxmlformats.org/drawingml/2006/main">
              <a:ext uri="{FF2B5EF4-FFF2-40B4-BE49-F238E27FC236}">
                <a16:creationId xmlns:a16="http://schemas.microsoft.com/office/drawing/2014/main" id="{B6A2B5DA-F49A-4F4B-9DCD-5E371F3066CE}"/>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Волосковые клетки</a:t>
            </a:r>
          </a:p>
        </p:txBody>
      </p:sp>
      <p:sp>
        <p:nvSpPr>
          <p:cNvPr id="2" name="">
            <a:extLst xmlns:a="http://schemas.openxmlformats.org/drawingml/2006/main">
              <a:ext uri="{FF2B5EF4-FFF2-40B4-BE49-F238E27FC236}">
                <a16:creationId xmlns:a16="http://schemas.microsoft.com/office/drawing/2014/main" id="{24AB0D83-894B-417E-B5DE-B289D80C8283}"/>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52</a:t>
            </a:r>
          </a:p>
        </p:txBody>
      </p:sp>
      <p:sp>
        <p:nvSpPr>
          <p:cNvPr id="3" name="">
            <a:extLst xmlns:a="http://schemas.openxmlformats.org/drawingml/2006/main">
              <a:ext uri="{FF2B5EF4-FFF2-40B4-BE49-F238E27FC236}">
                <a16:creationId xmlns:a16="http://schemas.microsoft.com/office/drawing/2014/main" id="{9D76BCD5-E1B9-4477-A061-85648B7EE15E}"/>
              </a:ext>
            </a:extLst>
          </p:cNvPr>
          <p:cNvSpPr>
            <a:spLocks xmlns:a="http://schemas.openxmlformats.org/drawingml/2006/main" noGrp="1"/>
          </p:cNvSpPr>
          <p:nvPr/>
        </p:nvSpPr>
        <p:spPr>
          <a:xfrm xmlns:a="http://schemas.openxmlformats.org/drawingml/2006/main">
            <a:off x="7077075" y="1638300"/>
            <a:ext cx="4505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Преобразование сигнала</a:t>
            </a:r>
          </a:p>
        </p:txBody>
      </p:sp>
      <p:sp>
        <p:nvSpPr>
          <p:cNvPr id="4" name="">
            <a:extLst xmlns:a="http://schemas.openxmlformats.org/drawingml/2006/main">
              <a:ext uri="{FF2B5EF4-FFF2-40B4-BE49-F238E27FC236}">
                <a16:creationId xmlns:a16="http://schemas.microsoft.com/office/drawing/2014/main" id="{1DE1AE39-26F3-4480-8956-4C232635073B}"/>
              </a:ext>
            </a:extLst>
          </p:cNvPr>
          <p:cNvSpPr>
            <a:spLocks xmlns:a="http://schemas.openxmlformats.org/drawingml/2006/main" noGrp="1"/>
          </p:cNvSpPr>
          <p:nvPr/>
        </p:nvSpPr>
        <p:spPr>
          <a:xfrm xmlns:a="http://schemas.openxmlformats.org/drawingml/2006/main">
            <a:off x="7077075" y="2828925"/>
            <a:ext cx="4505325"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Изгиб стереоцилий</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меняет ток через каналы</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и потенциал клетки.</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Нейроны слухового нерва</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передают нервные импульсы.</a:t>
            </a:r>
          </a:p>
        </p:txBody>
      </p:sp>
      <p:sp>
        <p:nvSpPr>
          <p:cNvPr id="5" name="">
            <a:extLst xmlns:a="http://schemas.openxmlformats.org/drawingml/2006/main">
              <a:ext uri="{FF2B5EF4-FFF2-40B4-BE49-F238E27FC236}">
                <a16:creationId xmlns:a16="http://schemas.microsoft.com/office/drawing/2014/main" id="{EEEE7FFC-E272-4CB2-9D0A-AD43852F39E9}"/>
              </a:ext>
            </a:extLst>
          </p:cNvPr>
          <p:cNvSpPr>
            <a:spLocks xmlns:a="http://schemas.openxmlformats.org/drawingml/2006/main" noGrp="1"/>
          </p:cNvSpPr>
          <p:nvPr/>
        </p:nvSpPr>
        <p:spPr>
          <a:xfrm xmlns:a="http://schemas.openxmlformats.org/drawingml/2006/main">
            <a:off x="990600" y="1714500"/>
            <a:ext cx="5048250" cy="742950"/>
          </a:xfrm>
          <a:prstGeom xmlns:a="http://schemas.openxmlformats.org/drawingml/2006/main" prst="roundRect">
            <a:avLst>
              <a:gd name="adj" fmla="val 20513"/>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Изгиб стереоцилий</a:t>
            </a:r>
          </a:p>
        </p:txBody>
      </p:sp>
      <p:sp>
        <p:nvSpPr>
          <p:cNvPr id="6" name="">
            <a:extLst xmlns:a="http://schemas.openxmlformats.org/drawingml/2006/main">
              <a:ext uri="{FF2B5EF4-FFF2-40B4-BE49-F238E27FC236}">
                <a16:creationId xmlns:a16="http://schemas.microsoft.com/office/drawing/2014/main" id="{C109E99D-B176-47A4-BF76-A58F87FDC3A7}"/>
              </a:ext>
            </a:extLst>
          </p:cNvPr>
          <p:cNvSpPr>
            <a:spLocks xmlns:a="http://schemas.openxmlformats.org/drawingml/2006/main" noGrp="1"/>
          </p:cNvSpPr>
          <p:nvPr/>
        </p:nvSpPr>
        <p:spPr>
          <a:xfrm xmlns:a="http://schemas.openxmlformats.org/drawingml/2006/main">
            <a:off x="990600" y="2819400"/>
            <a:ext cx="5048250" cy="742950"/>
          </a:xfrm>
          <a:prstGeom xmlns:a="http://schemas.openxmlformats.org/drawingml/2006/main" prst="roundRect">
            <a:avLst>
              <a:gd name="adj" fmla="val 20513"/>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Изменение тока ионов</a:t>
            </a:r>
          </a:p>
        </p:txBody>
      </p:sp>
      <p:sp>
        <p:nvSpPr>
          <p:cNvPr id="8" name="">
            <a:extLst xmlns:a="http://schemas.openxmlformats.org/drawingml/2006/main">
              <a:ext uri="{FF2B5EF4-FFF2-40B4-BE49-F238E27FC236}">
                <a16:creationId xmlns:a16="http://schemas.microsoft.com/office/drawing/2014/main" id="{5B9AFDFD-B721-4627-8494-34CD6F11C4E9}"/>
              </a:ext>
            </a:extLst>
          </p:cNvPr>
          <p:cNvSpPr>
            <a:spLocks xmlns:a="http://schemas.openxmlformats.org/drawingml/2006/main" noGrp="1"/>
          </p:cNvSpPr>
          <p:nvPr/>
        </p:nvSpPr>
        <p:spPr>
          <a:xfrm xmlns:a="http://schemas.openxmlformats.org/drawingml/2006/main">
            <a:off x="990600" y="3924300"/>
            <a:ext cx="5048250" cy="742950"/>
          </a:xfrm>
          <a:prstGeom xmlns:a="http://schemas.openxmlformats.org/drawingml/2006/main" prst="roundRect">
            <a:avLst>
              <a:gd name="adj" fmla="val 20513"/>
            </a:avLst>
          </a:prstGeom>
          <a:solidFill xmlns:a="http://schemas.openxmlformats.org/drawingml/2006/main">
            <a:srgbClr val="EDF3EB"/>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Изменение потенциала</a:t>
            </a:r>
          </a:p>
        </p:txBody>
      </p:sp>
      <p:sp>
        <p:nvSpPr>
          <p:cNvPr id="10" name="">
            <a:extLst xmlns:a="http://schemas.openxmlformats.org/drawingml/2006/main">
              <a:ext uri="{FF2B5EF4-FFF2-40B4-BE49-F238E27FC236}">
                <a16:creationId xmlns:a16="http://schemas.microsoft.com/office/drawing/2014/main" id="{959B7EFB-A86D-48ED-BEED-E4F8AB32F1D3}"/>
              </a:ext>
            </a:extLst>
          </p:cNvPr>
          <p:cNvSpPr>
            <a:spLocks xmlns:a="http://schemas.openxmlformats.org/drawingml/2006/main" noGrp="1"/>
          </p:cNvSpPr>
          <p:nvPr/>
        </p:nvSpPr>
        <p:spPr>
          <a:xfrm xmlns:a="http://schemas.openxmlformats.org/drawingml/2006/main">
            <a:off x="990600" y="5029200"/>
            <a:ext cx="5048250" cy="742950"/>
          </a:xfrm>
          <a:prstGeom xmlns:a="http://schemas.openxmlformats.org/drawingml/2006/main" prst="roundRect">
            <a:avLst>
              <a:gd name="adj" fmla="val 20513"/>
            </a:avLst>
          </a:prstGeom>
          <a:solidFill xmlns:a="http://schemas.openxmlformats.org/drawingml/2006/main">
            <a:srgbClr val="DFEDF5"/>
          </a:solidFill>
          <a:ln xmlns:a="http://schemas.openxmlformats.org/drawingml/2006/main" w="0">
            <a:noFill/>
          </a:ln>
        </p:spPr>
        <p:txBody>
          <a:bodyPr xmlns:a="http://schemas.openxmlformats.org/drawingml/2006/main" lIns="152400" tIns="95250" rIns="152400" bIns="95250" anchor="ctr">
            <a:noAutofit/>
          </a:bodyPr>
          <a:lstStyle xmlns:a="http://schemas.openxmlformats.org/drawingml/2006/main"/>
          <a:p xmlns:a="http://schemas.openxmlformats.org/drawingml/2006/main">
            <a:pPr algn="ctr">
              <a:defRPr sz="2250" b="1">
                <a:solidFill>
                  <a:srgbClr val="263B31"/>
                </a:solidFill>
                <a:latin typeface="Arial"/>
                <a:ea typeface="Arial"/>
                <a:cs typeface="Arial"/>
              </a:defRPr>
            </a:pPr>
            <a:r>
              <a:rPr sz="2250" b="1">
                <a:solidFill>
                  <a:srgbClr val="263B31"/>
                </a:solidFill>
                <a:latin typeface="Arial"/>
                <a:ea typeface="Arial"/>
                <a:cs typeface="Arial"/>
              </a:rPr>
              <a:t>Передача сигнала нейрону</a:t>
            </a:r>
          </a:p>
        </p:txBody>
      </p:sp>
    </p:spTree>
    <p:extLst>
      <p:ext uri="{BB962C8B-B14F-4D97-AF65-F5344CB8AC3E}">
        <p14:creationId xmlns:p14="http://schemas.microsoft.com/office/powerpoint/2010/main" val="166804932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p:cNvCxnSpPr>
            <a:stCxn xmlns:a="http://schemas.openxmlformats.org/drawingml/2006/main" id="13" idx="3"/>
            <a:endCxn xmlns:a="http://schemas.openxmlformats.org/drawingml/2006/main" id="14" idx="1"/>
          </p:cNvCxnSpPr>
          <p:nvPr/>
        </p:nvCxnSpPr>
        <p:spPr>
          <a:xfrm xmlns:a="http://schemas.openxmlformats.org/drawingml/2006/main" flipH="1">
            <a:off x="933450" y="4843463"/>
            <a:ext cx="1104900" cy="0"/>
          </a:xfrm>
          <a:prstGeom xmlns:a="http://schemas.openxmlformats.org/drawingml/2006/main" prst="straightConnector1">
            <a:avLst/>
          </a:prstGeom>
          <a:ln xmlns:a="http://schemas.openxmlformats.org/drawingml/2006/main" w="28575">
            <a:solidFill>
              <a:srgbClr val="47705A"/>
            </a:solidFill>
            <a:tailEnd type="triangle" w="med" len="med"/>
          </a:ln>
        </p:spPr>
      </p:cxnSp>
      <p:cxnSp>
        <p:nvCxnSpPr>
          <p:cNvPr id="21" name=""/>
          <p:cNvCxnSpPr>
            <a:stCxn xmlns:a="http://schemas.openxmlformats.org/drawingml/2006/main" id="11" idx="3"/>
            <a:endCxn xmlns:a="http://schemas.openxmlformats.org/drawingml/2006/main" id="12" idx="1"/>
          </p:cNvCxnSpPr>
          <p:nvPr/>
        </p:nvCxnSpPr>
        <p:spPr>
          <a:xfrm xmlns:a="http://schemas.openxmlformats.org/drawingml/2006/main">
            <a:off x="942975" y="2919413"/>
            <a:ext cx="1085850"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22" name="">
            <a:extLst xmlns:a="http://schemas.openxmlformats.org/drawingml/2006/main">
              <a:ext uri="{FF2B5EF4-FFF2-40B4-BE49-F238E27FC236}">
                <a16:creationId xmlns:a16="http://schemas.microsoft.com/office/drawing/2014/main" id="{D35815BE-C21B-4C95-A139-338A84DC5335}"/>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Улитка и круглое окно</a:t>
            </a:r>
          </a:p>
        </p:txBody>
      </p:sp>
      <p:sp>
        <p:nvSpPr>
          <p:cNvPr id="2" name="">
            <a:extLst xmlns:a="http://schemas.openxmlformats.org/drawingml/2006/main">
              <a:ext uri="{FF2B5EF4-FFF2-40B4-BE49-F238E27FC236}">
                <a16:creationId xmlns:a16="http://schemas.microsoft.com/office/drawing/2014/main" id="{23F78730-B7D5-4620-BE1E-DD8D6AB90342}"/>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53</a:t>
            </a:r>
          </a:p>
        </p:txBody>
      </p:sp>
      <p:sp>
        <p:nvSpPr>
          <p:cNvPr id="3" name="">
            <a:extLst xmlns:a="http://schemas.openxmlformats.org/drawingml/2006/main">
              <a:ext uri="{FF2B5EF4-FFF2-40B4-BE49-F238E27FC236}">
                <a16:creationId xmlns:a16="http://schemas.microsoft.com/office/drawing/2014/main" id="{F455ECE4-B68F-4431-873A-EDF88BB1ACC0}"/>
              </a:ext>
            </a:extLst>
          </p:cNvPr>
          <p:cNvSpPr>
            <a:spLocks xmlns:a="http://schemas.openxmlformats.org/drawingml/2006/main" noGrp="1"/>
          </p:cNvSpPr>
          <p:nvPr/>
        </p:nvSpPr>
        <p:spPr>
          <a:xfrm xmlns:a="http://schemas.openxmlformats.org/drawingml/2006/main">
            <a:off x="7077075" y="1638300"/>
            <a:ext cx="4505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Движение жидкости</a:t>
            </a:r>
          </a:p>
        </p:txBody>
      </p:sp>
      <p:sp>
        <p:nvSpPr>
          <p:cNvPr id="4" name="">
            <a:extLst xmlns:a="http://schemas.openxmlformats.org/drawingml/2006/main">
              <a:ext uri="{FF2B5EF4-FFF2-40B4-BE49-F238E27FC236}">
                <a16:creationId xmlns:a16="http://schemas.microsoft.com/office/drawing/2014/main" id="{3D82B71A-6F6B-476A-BFC2-0F3C8AFE9533}"/>
              </a:ext>
            </a:extLst>
          </p:cNvPr>
          <p:cNvSpPr>
            <a:spLocks xmlns:a="http://schemas.openxmlformats.org/drawingml/2006/main" noGrp="1"/>
          </p:cNvSpPr>
          <p:nvPr/>
        </p:nvSpPr>
        <p:spPr>
          <a:xfrm xmlns:a="http://schemas.openxmlformats.org/drawingml/2006/main">
            <a:off x="7077075" y="2828925"/>
            <a:ext cx="4505325"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Стремечко давит</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на овальное окно.</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Податливое круглое окно</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смещается и позволяет</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жидкости двигаться.</a:t>
            </a:r>
          </a:p>
        </p:txBody>
      </p:sp>
      <p:sp>
        <p:nvSpPr>
          <p:cNvPr id="5" name="">
            <a:extLst xmlns:a="http://schemas.openxmlformats.org/drawingml/2006/main">
              <a:ext uri="{FF2B5EF4-FFF2-40B4-BE49-F238E27FC236}">
                <a16:creationId xmlns:a16="http://schemas.microsoft.com/office/drawing/2014/main" id="{53E9A3E2-5F56-4871-8416-1B8F3C1881DC}"/>
              </a:ext>
            </a:extLst>
          </p:cNvPr>
          <p:cNvSpPr>
            <a:spLocks xmlns:a="http://schemas.openxmlformats.org/drawingml/2006/main" noGrp="1"/>
          </p:cNvSpPr>
          <p:nvPr/>
        </p:nvSpPr>
        <p:spPr>
          <a:xfrm xmlns:a="http://schemas.openxmlformats.org/drawingml/2006/main">
            <a:off x="2333625" y="2009775"/>
            <a:ext cx="4057650" cy="3543300"/>
          </a:xfrm>
          <a:prstGeom xmlns:a="http://schemas.openxmlformats.org/drawingml/2006/main" prst="roundRect">
            <a:avLst>
              <a:gd name="adj" fmla="val 2151"/>
            </a:avLst>
          </a:prstGeom>
          <a:solidFill xmlns:a="http://schemas.openxmlformats.org/drawingml/2006/main">
            <a:srgbClr val="DFEDF5"/>
          </a:solidFill>
          <a:ln xmlns:a="http://schemas.openxmlformats.org/drawingml/2006/main" w="28575">
            <a:solidFill>
              <a:srgbClr val="39667D"/>
            </a:solidFill>
          </a:ln>
        </p:spPr>
      </p:sp>
      <p:sp>
        <p:nvSpPr>
          <p:cNvPr id="6" name="">
            <a:extLst xmlns:a="http://schemas.openxmlformats.org/drawingml/2006/main">
              <a:ext uri="{FF2B5EF4-FFF2-40B4-BE49-F238E27FC236}">
                <a16:creationId xmlns:a16="http://schemas.microsoft.com/office/drawing/2014/main" id="{A1447134-85F1-4030-92F5-7476756A18F2}"/>
              </a:ext>
            </a:extLst>
          </p:cNvPr>
          <p:cNvSpPr>
            <a:spLocks xmlns:a="http://schemas.openxmlformats.org/drawingml/2006/main" noGrp="1"/>
          </p:cNvSpPr>
          <p:nvPr/>
        </p:nvSpPr>
        <p:spPr>
          <a:xfrm xmlns:a="http://schemas.openxmlformats.org/drawingml/2006/main">
            <a:off x="3543300" y="341947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39667D"/>
                </a:solidFill>
                <a:latin typeface="Arial"/>
                <a:ea typeface="Arial"/>
                <a:cs typeface="Arial"/>
              </a:defRPr>
            </a:pPr>
            <a:r>
              <a:rPr sz="2700" b="1">
                <a:solidFill>
                  <a:srgbClr val="39667D"/>
                </a:solidFill>
                <a:latin typeface="Arial"/>
                <a:ea typeface="Arial"/>
                <a:cs typeface="Arial"/>
              </a:rPr>
              <a:t>Жидкость</a:t>
            </a:r>
          </a:p>
        </p:txBody>
      </p:sp>
      <p:sp>
        <p:nvSpPr>
          <p:cNvPr id="7" name="">
            <a:extLst xmlns:a="http://schemas.openxmlformats.org/drawingml/2006/main">
              <a:ext uri="{FF2B5EF4-FFF2-40B4-BE49-F238E27FC236}">
                <a16:creationId xmlns:a16="http://schemas.microsoft.com/office/drawing/2014/main" id="{D6BAE3F8-D374-42AE-BDAD-4D9C594585C5}"/>
              </a:ext>
            </a:extLst>
          </p:cNvPr>
          <p:cNvSpPr>
            <a:spLocks xmlns:a="http://schemas.openxmlformats.org/drawingml/2006/main" noGrp="1"/>
          </p:cNvSpPr>
          <p:nvPr/>
        </p:nvSpPr>
        <p:spPr>
          <a:xfrm xmlns:a="http://schemas.openxmlformats.org/drawingml/2006/main">
            <a:off x="2200275" y="2486025"/>
            <a:ext cx="247650" cy="838200"/>
          </a:xfrm>
          <a:prstGeom xmlns:a="http://schemas.openxmlformats.org/drawingml/2006/main" prst="rect">
            <a:avLst/>
          </a:prstGeom>
          <a:solidFill xmlns:a="http://schemas.openxmlformats.org/drawingml/2006/main">
            <a:srgbClr val="A967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689842-BB2D-453A-84DD-7DEDB7B0948A}"/>
              </a:ext>
            </a:extLst>
          </p:cNvPr>
          <p:cNvSpPr>
            <a:spLocks xmlns:a="http://schemas.openxmlformats.org/drawingml/2006/main" noGrp="1"/>
          </p:cNvSpPr>
          <p:nvPr/>
        </p:nvSpPr>
        <p:spPr>
          <a:xfrm xmlns:a="http://schemas.openxmlformats.org/drawingml/2006/main">
            <a:off x="2200275" y="4429125"/>
            <a:ext cx="247650" cy="838200"/>
          </a:xfrm>
          <a:prstGeom xmlns:a="http://schemas.openxmlformats.org/drawingml/2006/main" prst="rect">
            <a:avLst/>
          </a:prstGeom>
          <a:solidFill xmlns:a="http://schemas.openxmlformats.org/drawingml/2006/main">
            <a:srgbClr val="47705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93A524-90DD-4944-924A-E143899934E5}"/>
              </a:ext>
            </a:extLst>
          </p:cNvPr>
          <p:cNvSpPr>
            <a:spLocks xmlns:a="http://schemas.openxmlformats.org/drawingml/2006/main" noGrp="1"/>
          </p:cNvSpPr>
          <p:nvPr/>
        </p:nvSpPr>
        <p:spPr>
          <a:xfrm xmlns:a="http://schemas.openxmlformats.org/drawingml/2006/main">
            <a:off x="609600" y="1714500"/>
            <a:ext cx="161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A96743"/>
                </a:solidFill>
                <a:latin typeface="Arial"/>
                <a:ea typeface="Arial"/>
                <a:cs typeface="Arial"/>
              </a:defRPr>
            </a:pPr>
            <a:r>
              <a:rPr sz="2175" b="1">
                <a:solidFill>
                  <a:srgbClr val="A96743"/>
                </a:solidFill>
                <a:latin typeface="Arial"/>
                <a:ea typeface="Arial"/>
                <a:cs typeface="Arial"/>
              </a:rPr>
              <a:t>Овальное</a:t>
            </a:r>
          </a:p>
          <a:p xmlns:a="http://schemas.openxmlformats.org/drawingml/2006/main">
            <a:pPr algn="l">
              <a:defRPr sz="2175" b="1">
                <a:solidFill>
                  <a:srgbClr val="A96743"/>
                </a:solidFill>
                <a:latin typeface="Arial"/>
                <a:ea typeface="Arial"/>
                <a:cs typeface="Arial"/>
              </a:defRPr>
            </a:pPr>
            <a:r>
              <a:rPr sz="2175" b="1">
                <a:solidFill>
                  <a:srgbClr val="A96743"/>
                </a:solidFill>
                <a:latin typeface="Arial"/>
                <a:ea typeface="Arial"/>
                <a:cs typeface="Arial"/>
              </a:rPr>
              <a:t>окно</a:t>
            </a:r>
          </a:p>
        </p:txBody>
      </p:sp>
      <p:sp>
        <p:nvSpPr>
          <p:cNvPr id="10" name="">
            <a:extLst xmlns:a="http://schemas.openxmlformats.org/drawingml/2006/main">
              <a:ext uri="{FF2B5EF4-FFF2-40B4-BE49-F238E27FC236}">
                <a16:creationId xmlns:a16="http://schemas.microsoft.com/office/drawing/2014/main" id="{AB28E31B-54E3-46E3-A47D-841275D1D1EE}"/>
              </a:ext>
            </a:extLst>
          </p:cNvPr>
          <p:cNvSpPr>
            <a:spLocks xmlns:a="http://schemas.openxmlformats.org/drawingml/2006/main" noGrp="1"/>
          </p:cNvSpPr>
          <p:nvPr/>
        </p:nvSpPr>
        <p:spPr>
          <a:xfrm xmlns:a="http://schemas.openxmlformats.org/drawingml/2006/main">
            <a:off x="609600" y="5048250"/>
            <a:ext cx="161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47705A"/>
                </a:solidFill>
                <a:latin typeface="Arial"/>
                <a:ea typeface="Arial"/>
                <a:cs typeface="Arial"/>
              </a:defRPr>
            </a:pPr>
            <a:r>
              <a:rPr sz="2175" b="1">
                <a:solidFill>
                  <a:srgbClr val="47705A"/>
                </a:solidFill>
                <a:latin typeface="Arial"/>
                <a:ea typeface="Arial"/>
                <a:cs typeface="Arial"/>
              </a:rPr>
              <a:t>Круглое</a:t>
            </a:r>
          </a:p>
          <a:p xmlns:a="http://schemas.openxmlformats.org/drawingml/2006/main">
            <a:pPr algn="l">
              <a:defRPr sz="2175" b="1">
                <a:solidFill>
                  <a:srgbClr val="47705A"/>
                </a:solidFill>
                <a:latin typeface="Arial"/>
                <a:ea typeface="Arial"/>
                <a:cs typeface="Arial"/>
              </a:defRPr>
            </a:pPr>
            <a:r>
              <a:rPr sz="2175" b="1">
                <a:solidFill>
                  <a:srgbClr val="47705A"/>
                </a:solidFill>
                <a:latin typeface="Arial"/>
                <a:ea typeface="Arial"/>
                <a:cs typeface="Arial"/>
              </a:rPr>
              <a:t>окно</a:t>
            </a:r>
          </a:p>
        </p:txBody>
      </p:sp>
      <p:sp>
        <p:nvSpPr>
          <p:cNvPr id="11" name="">
            <a:extLst xmlns:a="http://schemas.openxmlformats.org/drawingml/2006/main">
              <a:ext uri="{FF2B5EF4-FFF2-40B4-BE49-F238E27FC236}">
                <a16:creationId xmlns:a16="http://schemas.microsoft.com/office/drawing/2014/main" id="{CC9CAD0C-E39C-4333-A5B4-9CE944B6D6F3}"/>
              </a:ext>
            </a:extLst>
          </p:cNvPr>
          <p:cNvSpPr>
            <a:spLocks xmlns:a="http://schemas.openxmlformats.org/drawingml/2006/main" noGrp="1"/>
          </p:cNvSpPr>
          <p:nvPr/>
        </p:nvSpPr>
        <p:spPr>
          <a:xfrm xmlns:a="http://schemas.openxmlformats.org/drawingml/2006/main">
            <a:off x="933450" y="2914650"/>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108E0E-E46B-4D2A-B681-1BE1364DD584}"/>
              </a:ext>
            </a:extLst>
          </p:cNvPr>
          <p:cNvSpPr>
            <a:spLocks xmlns:a="http://schemas.openxmlformats.org/drawingml/2006/main" noGrp="1"/>
          </p:cNvSpPr>
          <p:nvPr/>
        </p:nvSpPr>
        <p:spPr>
          <a:xfrm xmlns:a="http://schemas.openxmlformats.org/drawingml/2006/main">
            <a:off x="2028825" y="2914650"/>
            <a:ext cx="9525" cy="9525"/>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30F9CA2-3C93-4848-ADC2-705A9FBFA128}"/>
              </a:ext>
            </a:extLst>
          </p:cNvPr>
          <p:cNvSpPr>
            <a:spLocks xmlns:a="http://schemas.openxmlformats.org/drawingml/2006/main" noGrp="1"/>
          </p:cNvSpPr>
          <p:nvPr/>
        </p:nvSpPr>
        <p:spPr>
          <a:xfrm xmlns:a="http://schemas.openxmlformats.org/drawingml/2006/main">
            <a:off x="2028825" y="4838700"/>
            <a:ext cx="9525" cy="9525"/>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720944-D539-4881-94ED-CE7BCF8C8B94}"/>
              </a:ext>
            </a:extLst>
          </p:cNvPr>
          <p:cNvSpPr>
            <a:spLocks xmlns:a="http://schemas.openxmlformats.org/drawingml/2006/main" noGrp="1"/>
          </p:cNvSpPr>
          <p:nvPr/>
        </p:nvSpPr>
        <p:spPr>
          <a:xfrm xmlns:a="http://schemas.openxmlformats.org/drawingml/2006/main">
            <a:off x="933450" y="4838700"/>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CD5891F-6604-40B8-9777-E0FEC11B265A}"/>
              </a:ext>
            </a:extLst>
          </p:cNvPr>
          <p:cNvSpPr>
            <a:spLocks xmlns:a="http://schemas.openxmlformats.org/drawingml/2006/main" noGrp="1"/>
          </p:cNvSpPr>
          <p:nvPr/>
        </p:nvSpPr>
        <p:spPr>
          <a:xfrm xmlns:a="http://schemas.openxmlformats.org/drawingml/2006/main">
            <a:off x="666750" y="3305175"/>
            <a:ext cx="15335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Внутрь</a:t>
            </a:r>
          </a:p>
        </p:txBody>
      </p:sp>
      <p:sp>
        <p:nvSpPr>
          <p:cNvPr id="18" name="">
            <a:extLst xmlns:a="http://schemas.openxmlformats.org/drawingml/2006/main">
              <a:ext uri="{FF2B5EF4-FFF2-40B4-BE49-F238E27FC236}">
                <a16:creationId xmlns:a16="http://schemas.microsoft.com/office/drawing/2014/main" id="{461DF798-3A9F-4187-AE22-A61915673873}"/>
              </a:ext>
            </a:extLst>
          </p:cNvPr>
          <p:cNvSpPr>
            <a:spLocks xmlns:a="http://schemas.openxmlformats.org/drawingml/2006/main" noGrp="1"/>
          </p:cNvSpPr>
          <p:nvPr/>
        </p:nvSpPr>
        <p:spPr>
          <a:xfrm xmlns:a="http://schemas.openxmlformats.org/drawingml/2006/main">
            <a:off x="619125" y="4162425"/>
            <a:ext cx="1638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Наружу</a:t>
            </a:r>
          </a:p>
        </p:txBody>
      </p:sp>
      <p:sp>
        <p:nvSpPr>
          <p:cNvPr id="19" name="">
            <a:extLst xmlns:a="http://schemas.openxmlformats.org/drawingml/2006/main">
              <a:ext uri="{FF2B5EF4-FFF2-40B4-BE49-F238E27FC236}">
                <a16:creationId xmlns:a16="http://schemas.microsoft.com/office/drawing/2014/main" id="{4C90FA85-592F-455C-8447-459B9963DCA2}"/>
              </a:ext>
            </a:extLst>
          </p:cNvPr>
          <p:cNvSpPr>
            <a:spLocks xmlns:a="http://schemas.openxmlformats.org/drawingml/2006/main" noGrp="1"/>
          </p:cNvSpPr>
          <p:nvPr/>
        </p:nvSpPr>
        <p:spPr>
          <a:xfrm xmlns:a="http://schemas.openxmlformats.org/drawingml/2006/main">
            <a:off x="2362200" y="5781675"/>
            <a:ext cx="433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63B31"/>
                </a:solidFill>
                <a:latin typeface="Arial"/>
                <a:ea typeface="Arial"/>
                <a:cs typeface="Arial"/>
              </a:defRPr>
            </a:pPr>
            <a:r>
              <a:rPr sz="2025" b="0">
                <a:solidFill>
                  <a:srgbClr val="263B31"/>
                </a:solidFill>
                <a:latin typeface="Arial"/>
                <a:ea typeface="Arial"/>
                <a:cs typeface="Arial"/>
              </a:rPr>
              <a:t>Одна фаза колебания</a:t>
            </a:r>
          </a:p>
        </p:txBody>
      </p:sp>
    </p:spTree>
    <p:extLst>
      <p:ext uri="{BB962C8B-B14F-4D97-AF65-F5344CB8AC3E}">
        <p14:creationId xmlns:p14="http://schemas.microsoft.com/office/powerpoint/2010/main" val="1894591578"/>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p:cNvCxnSpPr>
            <a:stCxn xmlns:a="http://schemas.openxmlformats.org/drawingml/2006/main" id="9" idx="3"/>
            <a:endCxn xmlns:a="http://schemas.openxmlformats.org/drawingml/2006/main" id="10" idx="1"/>
          </p:cNvCxnSpPr>
          <p:nvPr/>
        </p:nvCxnSpPr>
        <p:spPr>
          <a:xfrm xmlns:a="http://schemas.openxmlformats.org/drawingml/2006/main">
            <a:off x="3133725" y="3690938"/>
            <a:ext cx="1933575" cy="0"/>
          </a:xfrm>
          <a:prstGeom xmlns:a="http://schemas.openxmlformats.org/drawingml/2006/main" prst="straightConnector1">
            <a:avLst/>
          </a:prstGeom>
          <a:ln xmlns:a="http://schemas.openxmlformats.org/drawingml/2006/main" w="28575">
            <a:solidFill>
              <a:srgbClr val="47705A"/>
            </a:solidFill>
            <a:tailEnd type="triangle" w="med" len="med"/>
          </a:ln>
        </p:spPr>
      </p:cxnSp>
      <p:sp>
        <p:nvSpPr>
          <p:cNvPr id="16" name="">
            <a:extLst xmlns:a="http://schemas.openxmlformats.org/drawingml/2006/main">
              <a:ext uri="{FF2B5EF4-FFF2-40B4-BE49-F238E27FC236}">
                <a16:creationId xmlns:a16="http://schemas.microsoft.com/office/drawing/2014/main" id="{5712168E-D0F7-4530-9BA3-468444881887}"/>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Передача из воздуха в жидкость</a:t>
            </a:r>
          </a:p>
        </p:txBody>
      </p:sp>
      <p:sp>
        <p:nvSpPr>
          <p:cNvPr id="2" name="">
            <a:extLst xmlns:a="http://schemas.openxmlformats.org/drawingml/2006/main">
              <a:ext uri="{FF2B5EF4-FFF2-40B4-BE49-F238E27FC236}">
                <a16:creationId xmlns:a16="http://schemas.microsoft.com/office/drawing/2014/main" id="{507B33FA-1837-4D8B-A0C9-643F40409286}"/>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54</a:t>
            </a:r>
          </a:p>
        </p:txBody>
      </p:sp>
      <p:sp>
        <p:nvSpPr>
          <p:cNvPr id="3" name="">
            <a:extLst xmlns:a="http://schemas.openxmlformats.org/drawingml/2006/main">
              <a:ext uri="{FF2B5EF4-FFF2-40B4-BE49-F238E27FC236}">
                <a16:creationId xmlns:a16="http://schemas.microsoft.com/office/drawing/2014/main" id="{AFBD7580-830E-4E54-9A15-FB54D85A26B7}"/>
              </a:ext>
            </a:extLst>
          </p:cNvPr>
          <p:cNvSpPr>
            <a:spLocks xmlns:a="http://schemas.openxmlformats.org/drawingml/2006/main" noGrp="1"/>
          </p:cNvSpPr>
          <p:nvPr/>
        </p:nvSpPr>
        <p:spPr>
          <a:xfrm xmlns:a="http://schemas.openxmlformats.org/drawingml/2006/main">
            <a:off x="7077075" y="1638300"/>
            <a:ext cx="4505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Согласование сред</a:t>
            </a:r>
          </a:p>
        </p:txBody>
      </p:sp>
      <p:sp>
        <p:nvSpPr>
          <p:cNvPr id="4" name="">
            <a:extLst xmlns:a="http://schemas.openxmlformats.org/drawingml/2006/main">
              <a:ext uri="{FF2B5EF4-FFF2-40B4-BE49-F238E27FC236}">
                <a16:creationId xmlns:a16="http://schemas.microsoft.com/office/drawing/2014/main" id="{1D997434-AA88-41BA-8044-8919E0A7DF5C}"/>
              </a:ext>
            </a:extLst>
          </p:cNvPr>
          <p:cNvSpPr>
            <a:spLocks xmlns:a="http://schemas.openxmlformats.org/drawingml/2006/main" noGrp="1"/>
          </p:cNvSpPr>
          <p:nvPr/>
        </p:nvSpPr>
        <p:spPr>
          <a:xfrm xmlns:a="http://schemas.openxmlformats.org/drawingml/2006/main">
            <a:off x="7077075" y="2828925"/>
            <a:ext cx="4505325"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Среднее ухо улучшает</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передачу энергии</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в жидкость внутреннего уха.</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Важны рычаг косточек</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и отношение площадей.</a:t>
            </a:r>
          </a:p>
        </p:txBody>
      </p:sp>
      <p:sp>
        <p:nvSpPr>
          <p:cNvPr id="5" name="">
            <a:extLst xmlns:a="http://schemas.openxmlformats.org/drawingml/2006/main">
              <a:ext uri="{FF2B5EF4-FFF2-40B4-BE49-F238E27FC236}">
                <a16:creationId xmlns:a16="http://schemas.microsoft.com/office/drawing/2014/main" id="{2EF02072-C39F-4C3C-B3D7-A20438736756}"/>
              </a:ext>
            </a:extLst>
          </p:cNvPr>
          <p:cNvSpPr>
            <a:spLocks xmlns:a="http://schemas.openxmlformats.org/drawingml/2006/main" noGrp="1"/>
          </p:cNvSpPr>
          <p:nvPr/>
        </p:nvSpPr>
        <p:spPr>
          <a:xfrm xmlns:a="http://schemas.openxmlformats.org/drawingml/2006/main">
            <a:off x="914400" y="2667000"/>
            <a:ext cx="2047875" cy="2047875"/>
          </a:xfrm>
          <a:prstGeom xmlns:a="http://schemas.openxmlformats.org/drawingml/2006/main" prst="ellipse">
            <a:avLst/>
          </a:prstGeom>
          <a:solidFill xmlns:a="http://schemas.openxmlformats.org/drawingml/2006/main">
            <a:srgbClr val="EDF3EB"/>
          </a:solidFill>
          <a:ln xmlns:a="http://schemas.openxmlformats.org/drawingml/2006/main" w="38100">
            <a:solidFill>
              <a:srgbClr val="47705A"/>
            </a:solidFill>
          </a:ln>
        </p:spPr>
      </p:sp>
      <p:sp>
        <p:nvSpPr>
          <p:cNvPr id="6" name="">
            <a:extLst xmlns:a="http://schemas.openxmlformats.org/drawingml/2006/main">
              <a:ext uri="{FF2B5EF4-FFF2-40B4-BE49-F238E27FC236}">
                <a16:creationId xmlns:a16="http://schemas.microsoft.com/office/drawing/2014/main" id="{0EB6514D-465A-498A-B24F-14BC87D62DFC}"/>
              </a:ext>
            </a:extLst>
          </p:cNvPr>
          <p:cNvSpPr>
            <a:spLocks xmlns:a="http://schemas.openxmlformats.org/drawingml/2006/main" noGrp="1"/>
          </p:cNvSpPr>
          <p:nvPr/>
        </p:nvSpPr>
        <p:spPr>
          <a:xfrm xmlns:a="http://schemas.openxmlformats.org/drawingml/2006/main">
            <a:off x="5257800" y="3333750"/>
            <a:ext cx="704850" cy="704850"/>
          </a:xfrm>
          <a:prstGeom xmlns:a="http://schemas.openxmlformats.org/drawingml/2006/main" prst="ellipse">
            <a:avLst/>
          </a:prstGeom>
          <a:solidFill xmlns:a="http://schemas.openxmlformats.org/drawingml/2006/main">
            <a:srgbClr val="F6E7DB"/>
          </a:solidFill>
          <a:ln xmlns:a="http://schemas.openxmlformats.org/drawingml/2006/main" w="38100">
            <a:solidFill>
              <a:srgbClr val="A96743"/>
            </a:solidFill>
          </a:ln>
        </p:spPr>
      </p:sp>
      <p:sp>
        <p:nvSpPr>
          <p:cNvPr id="7" name="">
            <a:extLst xmlns:a="http://schemas.openxmlformats.org/drawingml/2006/main">
              <a:ext uri="{FF2B5EF4-FFF2-40B4-BE49-F238E27FC236}">
                <a16:creationId xmlns:a16="http://schemas.microsoft.com/office/drawing/2014/main" id="{9A700673-B5E7-4292-852B-E7EDEAC068D9}"/>
              </a:ext>
            </a:extLst>
          </p:cNvPr>
          <p:cNvSpPr>
            <a:spLocks xmlns:a="http://schemas.openxmlformats.org/drawingml/2006/main" noGrp="1"/>
          </p:cNvSpPr>
          <p:nvPr/>
        </p:nvSpPr>
        <p:spPr>
          <a:xfrm xmlns:a="http://schemas.openxmlformats.org/drawingml/2006/main">
            <a:off x="609600" y="1762125"/>
            <a:ext cx="2695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3B31"/>
                </a:solidFill>
                <a:latin typeface="Arial"/>
                <a:ea typeface="Arial"/>
                <a:cs typeface="Arial"/>
              </a:defRPr>
            </a:pPr>
            <a:r>
              <a:rPr sz="2400" b="1">
                <a:solidFill>
                  <a:srgbClr val="263B31"/>
                </a:solidFill>
                <a:latin typeface="Arial"/>
                <a:ea typeface="Arial"/>
                <a:cs typeface="Arial"/>
              </a:rPr>
              <a:t>Перепонка</a:t>
            </a:r>
          </a:p>
        </p:txBody>
      </p:sp>
      <p:sp>
        <p:nvSpPr>
          <p:cNvPr id="8" name="">
            <a:extLst xmlns:a="http://schemas.openxmlformats.org/drawingml/2006/main">
              <a:ext uri="{FF2B5EF4-FFF2-40B4-BE49-F238E27FC236}">
                <a16:creationId xmlns:a16="http://schemas.microsoft.com/office/drawing/2014/main" id="{6F7026D5-A15C-47E6-A399-45224A5F5C5D}"/>
              </a:ext>
            </a:extLst>
          </p:cNvPr>
          <p:cNvSpPr>
            <a:spLocks xmlns:a="http://schemas.openxmlformats.org/drawingml/2006/main" noGrp="1"/>
          </p:cNvSpPr>
          <p:nvPr/>
        </p:nvSpPr>
        <p:spPr>
          <a:xfrm xmlns:a="http://schemas.openxmlformats.org/drawingml/2006/main">
            <a:off x="4752975" y="1714500"/>
            <a:ext cx="19240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3B31"/>
                </a:solidFill>
                <a:latin typeface="Arial"/>
                <a:ea typeface="Arial"/>
                <a:cs typeface="Arial"/>
              </a:defRPr>
            </a:pPr>
            <a:r>
              <a:rPr sz="2400" b="1">
                <a:solidFill>
                  <a:srgbClr val="263B31"/>
                </a:solidFill>
                <a:latin typeface="Arial"/>
                <a:ea typeface="Arial"/>
                <a:cs typeface="Arial"/>
              </a:rPr>
              <a:t>Овальное</a:t>
            </a:r>
          </a:p>
          <a:p xmlns:a="http://schemas.openxmlformats.org/drawingml/2006/main">
            <a:pPr algn="l">
              <a:defRPr sz="2400" b="1">
                <a:solidFill>
                  <a:srgbClr val="263B31"/>
                </a:solidFill>
                <a:latin typeface="Arial"/>
                <a:ea typeface="Arial"/>
                <a:cs typeface="Arial"/>
              </a:defRPr>
            </a:pPr>
            <a:r>
              <a:rPr sz="2400" b="1">
                <a:solidFill>
                  <a:srgbClr val="263B31"/>
                </a:solidFill>
                <a:latin typeface="Arial"/>
                <a:ea typeface="Arial"/>
                <a:cs typeface="Arial"/>
              </a:rPr>
              <a:t>окно</a:t>
            </a:r>
          </a:p>
        </p:txBody>
      </p:sp>
      <p:sp>
        <p:nvSpPr>
          <p:cNvPr id="9" name="">
            <a:extLst xmlns:a="http://schemas.openxmlformats.org/drawingml/2006/main">
              <a:ext uri="{FF2B5EF4-FFF2-40B4-BE49-F238E27FC236}">
                <a16:creationId xmlns:a16="http://schemas.microsoft.com/office/drawing/2014/main" id="{9582E313-0E8E-4493-9428-4385DE6DFB58}"/>
              </a:ext>
            </a:extLst>
          </p:cNvPr>
          <p:cNvSpPr>
            <a:spLocks xmlns:a="http://schemas.openxmlformats.org/drawingml/2006/main" noGrp="1"/>
          </p:cNvSpPr>
          <p:nvPr/>
        </p:nvSpPr>
        <p:spPr>
          <a:xfrm xmlns:a="http://schemas.openxmlformats.org/drawingml/2006/main">
            <a:off x="3124200" y="3686175"/>
            <a:ext cx="9525" cy="9525"/>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2A021A8-A9DC-4450-93F3-2016E5B005DA}"/>
              </a:ext>
            </a:extLst>
          </p:cNvPr>
          <p:cNvSpPr>
            <a:spLocks xmlns:a="http://schemas.openxmlformats.org/drawingml/2006/main" noGrp="1"/>
          </p:cNvSpPr>
          <p:nvPr/>
        </p:nvSpPr>
        <p:spPr>
          <a:xfrm xmlns:a="http://schemas.openxmlformats.org/drawingml/2006/main">
            <a:off x="5067300" y="3686175"/>
            <a:ext cx="9525" cy="9525"/>
          </a:xfrm>
          <a:prstGeom xmlns:a="http://schemas.openxmlformats.org/drawingml/2006/main" prst="rect">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DDCF075-C0DE-4510-AE65-CEE210210967}"/>
              </a:ext>
            </a:extLst>
          </p:cNvPr>
          <p:cNvSpPr>
            <a:spLocks xmlns:a="http://schemas.openxmlformats.org/drawingml/2006/main" noGrp="1"/>
          </p:cNvSpPr>
          <p:nvPr/>
        </p:nvSpPr>
        <p:spPr>
          <a:xfrm xmlns:a="http://schemas.openxmlformats.org/drawingml/2006/main">
            <a:off x="3095625" y="40386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Косточки</a:t>
            </a:r>
          </a:p>
        </p:txBody>
      </p:sp>
      <p:sp>
        <p:nvSpPr>
          <p:cNvPr id="13" name="">
            <a:extLst xmlns:a="http://schemas.openxmlformats.org/drawingml/2006/main">
              <a:ext uri="{FF2B5EF4-FFF2-40B4-BE49-F238E27FC236}">
                <a16:creationId xmlns:a16="http://schemas.microsoft.com/office/drawing/2014/main" id="{4A5A1E34-2EFB-4E79-B77C-8B8FDF4D17F1}"/>
              </a:ext>
            </a:extLst>
          </p:cNvPr>
          <p:cNvSpPr>
            <a:spLocks xmlns:a="http://schemas.openxmlformats.org/drawingml/2006/main" noGrp="1"/>
          </p:cNvSpPr>
          <p:nvPr/>
        </p:nvSpPr>
        <p:spPr>
          <a:xfrm xmlns:a="http://schemas.openxmlformats.org/drawingml/2006/main">
            <a:off x="609600" y="5229225"/>
            <a:ext cx="60864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3B31"/>
                </a:solidFill>
                <a:latin typeface="Arial"/>
                <a:ea typeface="Arial"/>
                <a:cs typeface="Arial"/>
              </a:defRPr>
            </a:pPr>
            <a:r>
              <a:rPr sz="2175" b="1">
                <a:solidFill>
                  <a:srgbClr val="263B31"/>
                </a:solidFill>
                <a:latin typeface="Arial"/>
                <a:ea typeface="Arial"/>
                <a:cs typeface="Arial"/>
              </a:rPr>
              <a:t>Большая площадь → малая площадь</a:t>
            </a:r>
          </a:p>
        </p:txBody>
      </p:sp>
      <p:sp>
        <p:nvSpPr>
          <p:cNvPr id="14" name="">
            <a:extLst xmlns:a="http://schemas.openxmlformats.org/drawingml/2006/main">
              <a:ext uri="{FF2B5EF4-FFF2-40B4-BE49-F238E27FC236}">
                <a16:creationId xmlns:a16="http://schemas.microsoft.com/office/drawing/2014/main" id="{6E71B56A-17DD-406C-A573-4F57ED033C3E}"/>
              </a:ext>
            </a:extLst>
          </p:cNvPr>
          <p:cNvSpPr>
            <a:spLocks xmlns:a="http://schemas.openxmlformats.org/drawingml/2006/main" noGrp="1"/>
          </p:cNvSpPr>
          <p:nvPr/>
        </p:nvSpPr>
        <p:spPr>
          <a:xfrm xmlns:a="http://schemas.openxmlformats.org/drawingml/2006/main">
            <a:off x="609600" y="5791200"/>
            <a:ext cx="600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При той же силе давление выше: p = F / A</a:t>
            </a:r>
          </a:p>
        </p:txBody>
      </p:sp>
    </p:spTree>
    <p:extLst>
      <p:ext uri="{BB962C8B-B14F-4D97-AF65-F5344CB8AC3E}">
        <p14:creationId xmlns:p14="http://schemas.microsoft.com/office/powerpoint/2010/main" val="1969662668"/>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ED64B9-023F-481C-9CB7-514EC000258C}"/>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Бегущая волна во внутреннем ухе</a:t>
            </a:r>
          </a:p>
        </p:txBody>
      </p:sp>
      <p:sp>
        <p:nvSpPr>
          <p:cNvPr id="2" name="">
            <a:extLst xmlns:a="http://schemas.openxmlformats.org/drawingml/2006/main">
              <a:ext uri="{FF2B5EF4-FFF2-40B4-BE49-F238E27FC236}">
                <a16:creationId xmlns:a16="http://schemas.microsoft.com/office/drawing/2014/main" id="{5EEE92FE-F524-4A8A-81DD-4B8A07D1B281}"/>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55</a:t>
            </a:r>
          </a:p>
        </p:txBody>
      </p:sp>
      <p:sp>
        <p:nvSpPr>
          <p:cNvPr id="3" name="">
            <a:extLst xmlns:a="http://schemas.openxmlformats.org/drawingml/2006/main">
              <a:ext uri="{FF2B5EF4-FFF2-40B4-BE49-F238E27FC236}">
                <a16:creationId xmlns:a16="http://schemas.microsoft.com/office/drawing/2014/main" id="{EA239DA0-C4A4-484F-BB95-1BAA53D6AC28}"/>
              </a:ext>
            </a:extLst>
          </p:cNvPr>
          <p:cNvSpPr>
            <a:spLocks xmlns:a="http://schemas.openxmlformats.org/drawingml/2006/main" noGrp="1"/>
          </p:cNvSpPr>
          <p:nvPr/>
        </p:nvSpPr>
        <p:spPr>
          <a:xfrm xmlns:a="http://schemas.openxmlformats.org/drawingml/2006/main">
            <a:off x="7077075" y="1638300"/>
            <a:ext cx="4505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3B31"/>
                </a:solidFill>
                <a:latin typeface="Arial"/>
                <a:ea typeface="Arial"/>
                <a:cs typeface="Arial"/>
              </a:defRPr>
            </a:pPr>
            <a:r>
              <a:rPr sz="2550" b="1">
                <a:solidFill>
                  <a:srgbClr val="263B31"/>
                </a:solidFill>
                <a:latin typeface="Arial"/>
                <a:ea typeface="Arial"/>
                <a:cs typeface="Arial"/>
              </a:rPr>
              <a:t>Разделение по частоте</a:t>
            </a:r>
          </a:p>
        </p:txBody>
      </p:sp>
      <p:sp>
        <p:nvSpPr>
          <p:cNvPr id="4" name="">
            <a:extLst xmlns:a="http://schemas.openxmlformats.org/drawingml/2006/main">
              <a:ext uri="{FF2B5EF4-FFF2-40B4-BE49-F238E27FC236}">
                <a16:creationId xmlns:a16="http://schemas.microsoft.com/office/drawing/2014/main" id="{B5443FF7-3051-4C2A-A8E1-522566BA3F26}"/>
              </a:ext>
            </a:extLst>
          </p:cNvPr>
          <p:cNvSpPr>
            <a:spLocks xmlns:a="http://schemas.openxmlformats.org/drawingml/2006/main" noGrp="1"/>
          </p:cNvSpPr>
          <p:nvPr/>
        </p:nvSpPr>
        <p:spPr>
          <a:xfrm xmlns:a="http://schemas.openxmlformats.org/drawingml/2006/main">
            <a:off x="7077075" y="2828925"/>
            <a:ext cx="4505325" cy="3314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По базилярной мембране</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распространяется</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бегущая волна.</a:t>
            </a:r>
          </a:p>
          <a:p xmlns:a="http://schemas.openxmlformats.org/drawingml/2006/main">
            <a:r>
              <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Максимум колебаний</a:t>
            </a:r>
          </a:p>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зависит от частоты.</a:t>
            </a:r>
          </a:p>
        </p:txBody>
      </p:sp>
      <p:sp>
        <p:nvSpPr>
          <p:cNvPr id="5" name="">
            <a:extLst xmlns:a="http://schemas.openxmlformats.org/drawingml/2006/main">
              <a:ext uri="{FF2B5EF4-FFF2-40B4-BE49-F238E27FC236}">
                <a16:creationId xmlns:a16="http://schemas.microsoft.com/office/drawing/2014/main" id="{D78B2B03-36E4-4441-84DC-9AB047EE9E82}"/>
              </a:ext>
            </a:extLst>
          </p:cNvPr>
          <p:cNvSpPr>
            <a:spLocks xmlns:a="http://schemas.openxmlformats.org/drawingml/2006/main" noGrp="1"/>
          </p:cNvSpPr>
          <p:nvPr/>
        </p:nvSpPr>
        <p:spPr>
          <a:xfrm xmlns:a="http://schemas.openxmlformats.org/drawingml/2006/main">
            <a:off x="609600" y="1666875"/>
            <a:ext cx="5915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Амплитуда колебаний</a:t>
            </a:r>
          </a:p>
        </p:txBody>
      </p:sp>
      <p:sp>
        <p:nvSpPr>
          <p:cNvPr id="6" name="">
            <a:extLst xmlns:a="http://schemas.openxmlformats.org/drawingml/2006/main">
              <a:ext uri="{FF2B5EF4-FFF2-40B4-BE49-F238E27FC236}">
                <a16:creationId xmlns:a16="http://schemas.microsoft.com/office/drawing/2014/main" id="{CE2E46EC-A4DF-4508-8A12-16F0B38072A6}"/>
              </a:ext>
            </a:extLst>
          </p:cNvPr>
          <p:cNvSpPr>
            <a:spLocks xmlns:a="http://schemas.openxmlformats.org/drawingml/2006/main" noGrp="1"/>
          </p:cNvSpPr>
          <p:nvPr/>
        </p:nvSpPr>
        <p:spPr>
          <a:xfrm xmlns:a="http://schemas.openxmlformats.org/drawingml/2006/main" flipV="0">
            <a:off x="895350" y="5133975"/>
            <a:ext cx="5534025" cy="953"/>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7" name="">
            <a:extLst xmlns:a="http://schemas.openxmlformats.org/drawingml/2006/main">
              <a:ext uri="{FF2B5EF4-FFF2-40B4-BE49-F238E27FC236}">
                <a16:creationId xmlns:a16="http://schemas.microsoft.com/office/drawing/2014/main" id="{90908466-B6B8-42C0-BA97-D67DD2B44B00}"/>
              </a:ext>
            </a:extLst>
          </p:cNvPr>
          <p:cNvSpPr>
            <a:spLocks xmlns:a="http://schemas.openxmlformats.org/drawingml/2006/main" noGrp="1"/>
          </p:cNvSpPr>
          <p:nvPr/>
        </p:nvSpPr>
        <p:spPr>
          <a:xfrm xmlns:a="http://schemas.openxmlformats.org/drawingml/2006/main" flipV="0">
            <a:off x="895350" y="2381250"/>
            <a:ext cx="953" cy="2752725"/>
          </a:xfrm>
          <a:prstGeom xmlns:a="http://schemas.openxmlformats.org/drawingml/2006/main" prst="line">
            <a:avLst/>
          </a:prstGeom>
          <a:noFill xmlns:a="http://schemas.openxmlformats.org/drawingml/2006/main"/>
          <a:ln xmlns:a="http://schemas.openxmlformats.org/drawingml/2006/main" w="19050">
            <a:solidFill>
              <a:srgbClr val="263B31"/>
            </a:solidFill>
          </a:ln>
        </p:spPr>
      </p:sp>
      <p:sp>
        <p:nvSpPr>
          <p:cNvPr id="8" name="">
            <a:extLst xmlns:a="http://schemas.openxmlformats.org/drawingml/2006/main">
              <a:ext uri="{FF2B5EF4-FFF2-40B4-BE49-F238E27FC236}">
                <a16:creationId xmlns:a16="http://schemas.microsoft.com/office/drawing/2014/main" id="{2A46F927-D469-47DD-8D51-48CE1812CBF4}"/>
              </a:ext>
            </a:extLst>
          </p:cNvPr>
          <p:cNvSpPr>
            <a:spLocks xmlns:a="http://schemas.openxmlformats.org/drawingml/2006/main" noGrp="1"/>
          </p:cNvSpPr>
          <p:nvPr/>
        </p:nvSpPr>
        <p:spPr>
          <a:xfrm xmlns:a="http://schemas.openxmlformats.org/drawingml/2006/main">
            <a:off x="895350" y="3420063"/>
            <a:ext cx="5524500" cy="1713912"/>
          </a:xfrm>
          <a:custGeom xmlns:a="http://schemas.openxmlformats.org/drawingml/2006/main">
            <a:pathLst>
              <a:path w="5524500" h="1713912">
                <a:moveTo>
                  <a:pt x="0" y="1670390"/>
                </a:moveTo>
                <a:lnTo>
                  <a:pt x="30692" y="1662050"/>
                </a:lnTo>
                <a:lnTo>
                  <a:pt x="61383" y="1652376"/>
                </a:lnTo>
                <a:lnTo>
                  <a:pt x="92075" y="1641209"/>
                </a:lnTo>
                <a:lnTo>
                  <a:pt x="122767" y="1628384"/>
                </a:lnTo>
                <a:lnTo>
                  <a:pt x="153458" y="1613726"/>
                </a:lnTo>
                <a:lnTo>
                  <a:pt x="184150" y="1597059"/>
                </a:lnTo>
                <a:lnTo>
                  <a:pt x="214842" y="1578201"/>
                </a:lnTo>
                <a:lnTo>
                  <a:pt x="245533" y="1556975"/>
                </a:lnTo>
                <a:lnTo>
                  <a:pt x="276225" y="1533205"/>
                </a:lnTo>
                <a:lnTo>
                  <a:pt x="306917" y="1506725"/>
                </a:lnTo>
                <a:lnTo>
                  <a:pt x="337608" y="1477381"/>
                </a:lnTo>
                <a:lnTo>
                  <a:pt x="368300" y="1445035"/>
                </a:lnTo>
                <a:lnTo>
                  <a:pt x="398992" y="1409574"/>
                </a:lnTo>
                <a:lnTo>
                  <a:pt x="429683" y="1370910"/>
                </a:lnTo>
                <a:lnTo>
                  <a:pt x="460375" y="1328987"/>
                </a:lnTo>
                <a:lnTo>
                  <a:pt x="491067" y="1283788"/>
                </a:lnTo>
                <a:lnTo>
                  <a:pt x="521758" y="1235337"/>
                </a:lnTo>
                <a:lnTo>
                  <a:pt x="552450" y="1183706"/>
                </a:lnTo>
                <a:lnTo>
                  <a:pt x="583142" y="1129018"/>
                </a:lnTo>
                <a:lnTo>
                  <a:pt x="613833" y="1071449"/>
                </a:lnTo>
                <a:lnTo>
                  <a:pt x="644525" y="1011232"/>
                </a:lnTo>
                <a:lnTo>
                  <a:pt x="675217" y="948659"/>
                </a:lnTo>
                <a:lnTo>
                  <a:pt x="705908" y="884079"/>
                </a:lnTo>
                <a:lnTo>
                  <a:pt x="736600" y="817897"/>
                </a:lnTo>
                <a:lnTo>
                  <a:pt x="767292" y="750576"/>
                </a:lnTo>
                <a:lnTo>
                  <a:pt x="797983" y="682627"/>
                </a:lnTo>
                <a:lnTo>
                  <a:pt x="828675" y="614608"/>
                </a:lnTo>
                <a:lnTo>
                  <a:pt x="859367" y="547115"/>
                </a:lnTo>
                <a:lnTo>
                  <a:pt x="890058" y="480776"/>
                </a:lnTo>
                <a:lnTo>
                  <a:pt x="920750" y="416240"/>
                </a:lnTo>
                <a:lnTo>
                  <a:pt x="951442" y="354167"/>
                </a:lnTo>
                <a:lnTo>
                  <a:pt x="982133" y="295220"/>
                </a:lnTo>
                <a:lnTo>
                  <a:pt x="1012825" y="240049"/>
                </a:lnTo>
                <a:lnTo>
                  <a:pt x="1043517" y="189282"/>
                </a:lnTo>
                <a:lnTo>
                  <a:pt x="1074208" y="143513"/>
                </a:lnTo>
                <a:lnTo>
                  <a:pt x="1104900" y="103288"/>
                </a:lnTo>
                <a:lnTo>
                  <a:pt x="1135592" y="69100"/>
                </a:lnTo>
                <a:lnTo>
                  <a:pt x="1166283" y="41371"/>
                </a:lnTo>
                <a:lnTo>
                  <a:pt x="1196975" y="20449"/>
                </a:lnTo>
                <a:lnTo>
                  <a:pt x="1227667" y="6600"/>
                </a:lnTo>
                <a:lnTo>
                  <a:pt x="1258358" y="0"/>
                </a:lnTo>
                <a:lnTo>
                  <a:pt x="1289050" y="735"/>
                </a:lnTo>
                <a:lnTo>
                  <a:pt x="1319742" y="8794"/>
                </a:lnTo>
                <a:lnTo>
                  <a:pt x="1350433" y="24074"/>
                </a:lnTo>
                <a:lnTo>
                  <a:pt x="1381125" y="46382"/>
                </a:lnTo>
                <a:lnTo>
                  <a:pt x="1411817" y="75433"/>
                </a:lnTo>
                <a:lnTo>
                  <a:pt x="1442508" y="110865"/>
                </a:lnTo>
                <a:lnTo>
                  <a:pt x="1473200" y="152240"/>
                </a:lnTo>
                <a:lnTo>
                  <a:pt x="1503892" y="199054"/>
                </a:lnTo>
                <a:lnTo>
                  <a:pt x="1534583" y="250751"/>
                </a:lnTo>
                <a:lnTo>
                  <a:pt x="1565275" y="306728"/>
                </a:lnTo>
                <a:lnTo>
                  <a:pt x="1595967" y="366353"/>
                </a:lnTo>
                <a:lnTo>
                  <a:pt x="1626658" y="428971"/>
                </a:lnTo>
                <a:lnTo>
                  <a:pt x="1657350" y="493921"/>
                </a:lnTo>
                <a:lnTo>
                  <a:pt x="1688042" y="560542"/>
                </a:lnTo>
                <a:lnTo>
                  <a:pt x="1718733" y="628190"/>
                </a:lnTo>
                <a:lnTo>
                  <a:pt x="1749425" y="696241"/>
                </a:lnTo>
                <a:lnTo>
                  <a:pt x="1780117" y="764108"/>
                </a:lnTo>
                <a:lnTo>
                  <a:pt x="1810808" y="831240"/>
                </a:lnTo>
                <a:lnTo>
                  <a:pt x="1841500" y="897137"/>
                </a:lnTo>
                <a:lnTo>
                  <a:pt x="1872192" y="961346"/>
                </a:lnTo>
                <a:lnTo>
                  <a:pt x="1902883" y="1023474"/>
                </a:lnTo>
                <a:lnTo>
                  <a:pt x="1933575" y="1083183"/>
                </a:lnTo>
                <a:lnTo>
                  <a:pt x="1964267" y="1140193"/>
                </a:lnTo>
                <a:lnTo>
                  <a:pt x="1994958" y="1194282"/>
                </a:lnTo>
                <a:lnTo>
                  <a:pt x="2025650" y="1245284"/>
                </a:lnTo>
                <a:lnTo>
                  <a:pt x="2056342" y="1293089"/>
                </a:lnTo>
                <a:lnTo>
                  <a:pt x="2087033" y="1337633"/>
                </a:lnTo>
                <a:lnTo>
                  <a:pt x="2117725" y="1378902"/>
                </a:lnTo>
                <a:lnTo>
                  <a:pt x="2148417" y="1416920"/>
                </a:lnTo>
                <a:lnTo>
                  <a:pt x="2179108" y="1451750"/>
                </a:lnTo>
                <a:lnTo>
                  <a:pt x="2209800" y="1483486"/>
                </a:lnTo>
                <a:lnTo>
                  <a:pt x="2240492" y="1512245"/>
                </a:lnTo>
                <a:lnTo>
                  <a:pt x="2271183" y="1538171"/>
                </a:lnTo>
                <a:lnTo>
                  <a:pt x="2301875" y="1561418"/>
                </a:lnTo>
                <a:lnTo>
                  <a:pt x="2332567" y="1582157"/>
                </a:lnTo>
                <a:lnTo>
                  <a:pt x="2363258" y="1600562"/>
                </a:lnTo>
                <a:lnTo>
                  <a:pt x="2393950" y="1616813"/>
                </a:lnTo>
                <a:lnTo>
                  <a:pt x="2424642" y="1631090"/>
                </a:lnTo>
                <a:lnTo>
                  <a:pt x="2455333" y="1643570"/>
                </a:lnTo>
                <a:lnTo>
                  <a:pt x="2486025" y="1654425"/>
                </a:lnTo>
                <a:lnTo>
                  <a:pt x="2516717" y="1663820"/>
                </a:lnTo>
                <a:lnTo>
                  <a:pt x="2547408" y="1671911"/>
                </a:lnTo>
                <a:lnTo>
                  <a:pt x="2578100" y="1678847"/>
                </a:lnTo>
                <a:lnTo>
                  <a:pt x="2608792" y="1684762"/>
                </a:lnTo>
                <a:lnTo>
                  <a:pt x="2639483" y="1689783"/>
                </a:lnTo>
                <a:lnTo>
                  <a:pt x="2670175" y="1694025"/>
                </a:lnTo>
                <a:lnTo>
                  <a:pt x="2700867" y="1697591"/>
                </a:lnTo>
                <a:lnTo>
                  <a:pt x="2731558" y="1700575"/>
                </a:lnTo>
                <a:lnTo>
                  <a:pt x="2762250" y="1703060"/>
                </a:lnTo>
                <a:lnTo>
                  <a:pt x="2792942" y="1705120"/>
                </a:lnTo>
                <a:lnTo>
                  <a:pt x="2823633" y="1706819"/>
                </a:lnTo>
                <a:lnTo>
                  <a:pt x="2854325" y="1708214"/>
                </a:lnTo>
                <a:lnTo>
                  <a:pt x="2885017" y="1709355"/>
                </a:lnTo>
                <a:lnTo>
                  <a:pt x="2915708" y="1710283"/>
                </a:lnTo>
                <a:lnTo>
                  <a:pt x="2946400" y="1711034"/>
                </a:lnTo>
                <a:lnTo>
                  <a:pt x="2977092" y="1711639"/>
                </a:lnTo>
                <a:lnTo>
                  <a:pt x="3007783" y="1712125"/>
                </a:lnTo>
                <a:lnTo>
                  <a:pt x="3038475" y="1712513"/>
                </a:lnTo>
                <a:lnTo>
                  <a:pt x="3069167" y="1712822"/>
                </a:lnTo>
                <a:lnTo>
                  <a:pt x="3099858" y="1713066"/>
                </a:lnTo>
                <a:lnTo>
                  <a:pt x="3130550" y="1713258"/>
                </a:lnTo>
                <a:lnTo>
                  <a:pt x="3161242" y="1713409"/>
                </a:lnTo>
                <a:lnTo>
                  <a:pt x="3191933" y="1713526"/>
                </a:lnTo>
                <a:lnTo>
                  <a:pt x="3222625" y="1713618"/>
                </a:lnTo>
                <a:lnTo>
                  <a:pt x="3253317" y="1713688"/>
                </a:lnTo>
                <a:lnTo>
                  <a:pt x="3284008" y="1713743"/>
                </a:lnTo>
                <a:lnTo>
                  <a:pt x="3314700" y="1713785"/>
                </a:lnTo>
                <a:lnTo>
                  <a:pt x="3345392" y="1713817"/>
                </a:lnTo>
                <a:lnTo>
                  <a:pt x="3376083" y="1713841"/>
                </a:lnTo>
                <a:lnTo>
                  <a:pt x="3406775" y="1713859"/>
                </a:lnTo>
                <a:lnTo>
                  <a:pt x="3437467" y="1713873"/>
                </a:lnTo>
                <a:lnTo>
                  <a:pt x="3468158" y="1713883"/>
                </a:lnTo>
                <a:lnTo>
                  <a:pt x="3498850" y="1713891"/>
                </a:lnTo>
                <a:lnTo>
                  <a:pt x="3529542" y="1713897"/>
                </a:lnTo>
                <a:lnTo>
                  <a:pt x="3560233" y="1713901"/>
                </a:lnTo>
                <a:lnTo>
                  <a:pt x="3590925" y="1713904"/>
                </a:lnTo>
                <a:lnTo>
                  <a:pt x="3621617" y="1713906"/>
                </a:lnTo>
                <a:lnTo>
                  <a:pt x="3652308" y="1713908"/>
                </a:lnTo>
                <a:lnTo>
                  <a:pt x="3683000" y="1713909"/>
                </a:lnTo>
                <a:lnTo>
                  <a:pt x="3713692" y="1713910"/>
                </a:lnTo>
                <a:lnTo>
                  <a:pt x="3744383" y="1713911"/>
                </a:lnTo>
                <a:lnTo>
                  <a:pt x="3775075" y="1713911"/>
                </a:lnTo>
                <a:lnTo>
                  <a:pt x="3805767" y="1713911"/>
                </a:lnTo>
                <a:lnTo>
                  <a:pt x="3836458" y="1713912"/>
                </a:lnTo>
                <a:lnTo>
                  <a:pt x="3867150" y="1713912"/>
                </a:lnTo>
                <a:lnTo>
                  <a:pt x="3897842" y="1713912"/>
                </a:lnTo>
                <a:lnTo>
                  <a:pt x="3928533" y="1713912"/>
                </a:lnTo>
                <a:lnTo>
                  <a:pt x="3959225" y="1713912"/>
                </a:lnTo>
                <a:lnTo>
                  <a:pt x="3989917" y="1713912"/>
                </a:lnTo>
                <a:lnTo>
                  <a:pt x="4020608" y="1713912"/>
                </a:lnTo>
                <a:lnTo>
                  <a:pt x="4051300" y="1713912"/>
                </a:lnTo>
                <a:lnTo>
                  <a:pt x="4081992" y="1713912"/>
                </a:lnTo>
                <a:lnTo>
                  <a:pt x="4112683" y="1713912"/>
                </a:lnTo>
                <a:lnTo>
                  <a:pt x="4143375" y="1713912"/>
                </a:lnTo>
                <a:lnTo>
                  <a:pt x="4174067" y="1713912"/>
                </a:lnTo>
                <a:lnTo>
                  <a:pt x="4204758" y="1713912"/>
                </a:lnTo>
                <a:lnTo>
                  <a:pt x="4235450" y="1713912"/>
                </a:lnTo>
                <a:lnTo>
                  <a:pt x="4266142" y="1713912"/>
                </a:lnTo>
                <a:lnTo>
                  <a:pt x="4296833" y="1713912"/>
                </a:lnTo>
                <a:lnTo>
                  <a:pt x="4327525" y="1713912"/>
                </a:lnTo>
                <a:lnTo>
                  <a:pt x="4358217" y="1713912"/>
                </a:lnTo>
                <a:lnTo>
                  <a:pt x="4388908" y="1713912"/>
                </a:lnTo>
                <a:lnTo>
                  <a:pt x="4419600" y="1713912"/>
                </a:lnTo>
                <a:lnTo>
                  <a:pt x="4450292" y="1713912"/>
                </a:lnTo>
                <a:lnTo>
                  <a:pt x="4480983" y="1713912"/>
                </a:lnTo>
                <a:lnTo>
                  <a:pt x="4511675" y="1713912"/>
                </a:lnTo>
                <a:lnTo>
                  <a:pt x="4542367" y="1713912"/>
                </a:lnTo>
                <a:lnTo>
                  <a:pt x="4573058" y="1713912"/>
                </a:lnTo>
                <a:lnTo>
                  <a:pt x="4603750" y="1713912"/>
                </a:lnTo>
                <a:lnTo>
                  <a:pt x="4634442" y="1713912"/>
                </a:lnTo>
                <a:lnTo>
                  <a:pt x="4665133" y="1713912"/>
                </a:lnTo>
                <a:lnTo>
                  <a:pt x="4695825" y="1713912"/>
                </a:lnTo>
                <a:lnTo>
                  <a:pt x="4726517" y="1713912"/>
                </a:lnTo>
                <a:lnTo>
                  <a:pt x="4757208" y="1713912"/>
                </a:lnTo>
                <a:lnTo>
                  <a:pt x="4787900" y="1713912"/>
                </a:lnTo>
                <a:lnTo>
                  <a:pt x="4818592" y="1713912"/>
                </a:lnTo>
                <a:lnTo>
                  <a:pt x="4849283" y="1713912"/>
                </a:lnTo>
                <a:lnTo>
                  <a:pt x="4879975" y="1713912"/>
                </a:lnTo>
                <a:lnTo>
                  <a:pt x="4910667" y="1713912"/>
                </a:lnTo>
                <a:lnTo>
                  <a:pt x="4941358" y="1713912"/>
                </a:lnTo>
                <a:lnTo>
                  <a:pt x="4972050" y="1713912"/>
                </a:lnTo>
                <a:lnTo>
                  <a:pt x="5002742" y="1713912"/>
                </a:lnTo>
                <a:lnTo>
                  <a:pt x="5033433" y="1713912"/>
                </a:lnTo>
                <a:lnTo>
                  <a:pt x="5064125" y="1713912"/>
                </a:lnTo>
                <a:lnTo>
                  <a:pt x="5094817" y="1713912"/>
                </a:lnTo>
                <a:lnTo>
                  <a:pt x="5125508" y="1713912"/>
                </a:lnTo>
                <a:lnTo>
                  <a:pt x="5156200" y="1713912"/>
                </a:lnTo>
                <a:lnTo>
                  <a:pt x="5186892" y="1713912"/>
                </a:lnTo>
                <a:lnTo>
                  <a:pt x="5217583" y="1713912"/>
                </a:lnTo>
                <a:lnTo>
                  <a:pt x="5248275" y="1713912"/>
                </a:lnTo>
                <a:lnTo>
                  <a:pt x="5278967" y="1713912"/>
                </a:lnTo>
                <a:lnTo>
                  <a:pt x="5309658" y="1713912"/>
                </a:lnTo>
                <a:lnTo>
                  <a:pt x="5340350" y="1713912"/>
                </a:lnTo>
                <a:lnTo>
                  <a:pt x="5371042" y="1713912"/>
                </a:lnTo>
                <a:lnTo>
                  <a:pt x="5401733" y="1713912"/>
                </a:lnTo>
                <a:lnTo>
                  <a:pt x="5432425" y="1713912"/>
                </a:lnTo>
                <a:lnTo>
                  <a:pt x="5463117" y="1713912"/>
                </a:lnTo>
                <a:lnTo>
                  <a:pt x="5493808" y="1713912"/>
                </a:lnTo>
                <a:lnTo>
                  <a:pt x="5524500" y="1713912"/>
                </a:lnTo>
              </a:path>
            </a:pathLst>
          </a:custGeom>
          <a:noFill xmlns:a="http://schemas.openxmlformats.org/drawingml/2006/main"/>
          <a:ln xmlns:a="http://schemas.openxmlformats.org/drawingml/2006/main" w="38100">
            <a:solidFill>
              <a:srgbClr val="A96743"/>
            </a:solidFill>
          </a:ln>
        </p:spPr>
      </p:sp>
      <p:sp>
        <p:nvSpPr>
          <p:cNvPr id="9" name="">
            <a:extLst xmlns:a="http://schemas.openxmlformats.org/drawingml/2006/main">
              <a:ext uri="{FF2B5EF4-FFF2-40B4-BE49-F238E27FC236}">
                <a16:creationId xmlns:a16="http://schemas.microsoft.com/office/drawing/2014/main" id="{4E0D0F8F-6B38-4EA4-96A6-EB5EDB8750B1}"/>
              </a:ext>
            </a:extLst>
          </p:cNvPr>
          <p:cNvSpPr>
            <a:spLocks xmlns:a="http://schemas.openxmlformats.org/drawingml/2006/main" noGrp="1"/>
          </p:cNvSpPr>
          <p:nvPr/>
        </p:nvSpPr>
        <p:spPr>
          <a:xfrm xmlns:a="http://schemas.openxmlformats.org/drawingml/2006/main">
            <a:off x="895350" y="3420063"/>
            <a:ext cx="5524500" cy="1713912"/>
          </a:xfrm>
          <a:custGeom xmlns:a="http://schemas.openxmlformats.org/drawingml/2006/main">
            <a:pathLst>
              <a:path w="5524500" h="1713912">
                <a:moveTo>
                  <a:pt x="0" y="1713912"/>
                </a:moveTo>
                <a:lnTo>
                  <a:pt x="30692" y="1713912"/>
                </a:lnTo>
                <a:lnTo>
                  <a:pt x="61383" y="1713912"/>
                </a:lnTo>
                <a:lnTo>
                  <a:pt x="92075" y="1713912"/>
                </a:lnTo>
                <a:lnTo>
                  <a:pt x="122767" y="1713912"/>
                </a:lnTo>
                <a:lnTo>
                  <a:pt x="153458" y="1713912"/>
                </a:lnTo>
                <a:lnTo>
                  <a:pt x="184150" y="1713912"/>
                </a:lnTo>
                <a:lnTo>
                  <a:pt x="214842" y="1713912"/>
                </a:lnTo>
                <a:lnTo>
                  <a:pt x="245533" y="1713912"/>
                </a:lnTo>
                <a:lnTo>
                  <a:pt x="276225" y="1713912"/>
                </a:lnTo>
                <a:lnTo>
                  <a:pt x="306917" y="1713912"/>
                </a:lnTo>
                <a:lnTo>
                  <a:pt x="337608" y="1713912"/>
                </a:lnTo>
                <a:lnTo>
                  <a:pt x="368300" y="1713912"/>
                </a:lnTo>
                <a:lnTo>
                  <a:pt x="398992" y="1713912"/>
                </a:lnTo>
                <a:lnTo>
                  <a:pt x="429683" y="1713912"/>
                </a:lnTo>
                <a:lnTo>
                  <a:pt x="460375" y="1713912"/>
                </a:lnTo>
                <a:lnTo>
                  <a:pt x="491067" y="1713912"/>
                </a:lnTo>
                <a:lnTo>
                  <a:pt x="521758" y="1713912"/>
                </a:lnTo>
                <a:lnTo>
                  <a:pt x="552450" y="1713912"/>
                </a:lnTo>
                <a:lnTo>
                  <a:pt x="583142" y="1713912"/>
                </a:lnTo>
                <a:lnTo>
                  <a:pt x="613833" y="1713912"/>
                </a:lnTo>
                <a:lnTo>
                  <a:pt x="644525" y="1713912"/>
                </a:lnTo>
                <a:lnTo>
                  <a:pt x="675217" y="1713912"/>
                </a:lnTo>
                <a:lnTo>
                  <a:pt x="705908" y="1713912"/>
                </a:lnTo>
                <a:lnTo>
                  <a:pt x="736600" y="1713912"/>
                </a:lnTo>
                <a:lnTo>
                  <a:pt x="767292" y="1713912"/>
                </a:lnTo>
                <a:lnTo>
                  <a:pt x="797983" y="1713912"/>
                </a:lnTo>
                <a:lnTo>
                  <a:pt x="828675" y="1713912"/>
                </a:lnTo>
                <a:lnTo>
                  <a:pt x="859367" y="1713912"/>
                </a:lnTo>
                <a:lnTo>
                  <a:pt x="890058" y="1713912"/>
                </a:lnTo>
                <a:lnTo>
                  <a:pt x="920750" y="1713912"/>
                </a:lnTo>
                <a:lnTo>
                  <a:pt x="951442" y="1713912"/>
                </a:lnTo>
                <a:lnTo>
                  <a:pt x="982133" y="1713912"/>
                </a:lnTo>
                <a:lnTo>
                  <a:pt x="1012825" y="1713912"/>
                </a:lnTo>
                <a:lnTo>
                  <a:pt x="1043517" y="1713912"/>
                </a:lnTo>
                <a:lnTo>
                  <a:pt x="1074208" y="1713912"/>
                </a:lnTo>
                <a:lnTo>
                  <a:pt x="1104900" y="1713912"/>
                </a:lnTo>
                <a:lnTo>
                  <a:pt x="1135592" y="1713912"/>
                </a:lnTo>
                <a:lnTo>
                  <a:pt x="1166283" y="1713912"/>
                </a:lnTo>
                <a:lnTo>
                  <a:pt x="1196975" y="1713912"/>
                </a:lnTo>
                <a:lnTo>
                  <a:pt x="1227667" y="1713912"/>
                </a:lnTo>
                <a:lnTo>
                  <a:pt x="1258358" y="1713912"/>
                </a:lnTo>
                <a:lnTo>
                  <a:pt x="1289050" y="1713912"/>
                </a:lnTo>
                <a:lnTo>
                  <a:pt x="1319742" y="1713912"/>
                </a:lnTo>
                <a:lnTo>
                  <a:pt x="1350433" y="1713912"/>
                </a:lnTo>
                <a:lnTo>
                  <a:pt x="1381125" y="1713912"/>
                </a:lnTo>
                <a:lnTo>
                  <a:pt x="1411817" y="1713912"/>
                </a:lnTo>
                <a:lnTo>
                  <a:pt x="1442508" y="1713911"/>
                </a:lnTo>
                <a:lnTo>
                  <a:pt x="1473200" y="1713911"/>
                </a:lnTo>
                <a:lnTo>
                  <a:pt x="1503892" y="1713911"/>
                </a:lnTo>
                <a:lnTo>
                  <a:pt x="1534583" y="1713910"/>
                </a:lnTo>
                <a:lnTo>
                  <a:pt x="1565275" y="1713909"/>
                </a:lnTo>
                <a:lnTo>
                  <a:pt x="1595967" y="1713908"/>
                </a:lnTo>
                <a:lnTo>
                  <a:pt x="1626658" y="1713906"/>
                </a:lnTo>
                <a:lnTo>
                  <a:pt x="1657350" y="1713904"/>
                </a:lnTo>
                <a:lnTo>
                  <a:pt x="1688042" y="1713901"/>
                </a:lnTo>
                <a:lnTo>
                  <a:pt x="1718733" y="1713897"/>
                </a:lnTo>
                <a:lnTo>
                  <a:pt x="1749425" y="1713891"/>
                </a:lnTo>
                <a:lnTo>
                  <a:pt x="1780117" y="1713883"/>
                </a:lnTo>
                <a:lnTo>
                  <a:pt x="1810808" y="1713873"/>
                </a:lnTo>
                <a:lnTo>
                  <a:pt x="1841500" y="1713859"/>
                </a:lnTo>
                <a:lnTo>
                  <a:pt x="1872192" y="1713841"/>
                </a:lnTo>
                <a:lnTo>
                  <a:pt x="1902883" y="1713817"/>
                </a:lnTo>
                <a:lnTo>
                  <a:pt x="1933575" y="1713785"/>
                </a:lnTo>
                <a:lnTo>
                  <a:pt x="1964267" y="1713743"/>
                </a:lnTo>
                <a:lnTo>
                  <a:pt x="1994958" y="1713688"/>
                </a:lnTo>
                <a:lnTo>
                  <a:pt x="2025650" y="1713618"/>
                </a:lnTo>
                <a:lnTo>
                  <a:pt x="2056342" y="1713526"/>
                </a:lnTo>
                <a:lnTo>
                  <a:pt x="2087033" y="1713409"/>
                </a:lnTo>
                <a:lnTo>
                  <a:pt x="2117725" y="1713258"/>
                </a:lnTo>
                <a:lnTo>
                  <a:pt x="2148417" y="1713066"/>
                </a:lnTo>
                <a:lnTo>
                  <a:pt x="2179108" y="1712822"/>
                </a:lnTo>
                <a:lnTo>
                  <a:pt x="2209800" y="1712513"/>
                </a:lnTo>
                <a:lnTo>
                  <a:pt x="2240492" y="1712125"/>
                </a:lnTo>
                <a:lnTo>
                  <a:pt x="2271183" y="1711639"/>
                </a:lnTo>
                <a:lnTo>
                  <a:pt x="2301875" y="1711034"/>
                </a:lnTo>
                <a:lnTo>
                  <a:pt x="2332567" y="1710283"/>
                </a:lnTo>
                <a:lnTo>
                  <a:pt x="2363258" y="1709355"/>
                </a:lnTo>
                <a:lnTo>
                  <a:pt x="2393950" y="1708214"/>
                </a:lnTo>
                <a:lnTo>
                  <a:pt x="2424642" y="1706819"/>
                </a:lnTo>
                <a:lnTo>
                  <a:pt x="2455333" y="1705120"/>
                </a:lnTo>
                <a:lnTo>
                  <a:pt x="2486025" y="1703060"/>
                </a:lnTo>
                <a:lnTo>
                  <a:pt x="2516717" y="1700575"/>
                </a:lnTo>
                <a:lnTo>
                  <a:pt x="2547408" y="1697591"/>
                </a:lnTo>
                <a:lnTo>
                  <a:pt x="2578100" y="1694025"/>
                </a:lnTo>
                <a:lnTo>
                  <a:pt x="2608792" y="1689783"/>
                </a:lnTo>
                <a:lnTo>
                  <a:pt x="2639483" y="1684762"/>
                </a:lnTo>
                <a:lnTo>
                  <a:pt x="2670175" y="1678847"/>
                </a:lnTo>
                <a:lnTo>
                  <a:pt x="2700867" y="1671911"/>
                </a:lnTo>
                <a:lnTo>
                  <a:pt x="2731558" y="1663820"/>
                </a:lnTo>
                <a:lnTo>
                  <a:pt x="2762250" y="1654425"/>
                </a:lnTo>
                <a:lnTo>
                  <a:pt x="2792942" y="1643570"/>
                </a:lnTo>
                <a:lnTo>
                  <a:pt x="2823633" y="1631090"/>
                </a:lnTo>
                <a:lnTo>
                  <a:pt x="2854325" y="1616813"/>
                </a:lnTo>
                <a:lnTo>
                  <a:pt x="2885017" y="1600562"/>
                </a:lnTo>
                <a:lnTo>
                  <a:pt x="2915708" y="1582157"/>
                </a:lnTo>
                <a:lnTo>
                  <a:pt x="2946400" y="1561418"/>
                </a:lnTo>
                <a:lnTo>
                  <a:pt x="2977092" y="1538171"/>
                </a:lnTo>
                <a:lnTo>
                  <a:pt x="3007783" y="1512245"/>
                </a:lnTo>
                <a:lnTo>
                  <a:pt x="3038475" y="1483486"/>
                </a:lnTo>
                <a:lnTo>
                  <a:pt x="3069167" y="1451750"/>
                </a:lnTo>
                <a:lnTo>
                  <a:pt x="3099858" y="1416920"/>
                </a:lnTo>
                <a:lnTo>
                  <a:pt x="3130550" y="1378902"/>
                </a:lnTo>
                <a:lnTo>
                  <a:pt x="3161242" y="1337633"/>
                </a:lnTo>
                <a:lnTo>
                  <a:pt x="3191933" y="1293089"/>
                </a:lnTo>
                <a:lnTo>
                  <a:pt x="3222625" y="1245284"/>
                </a:lnTo>
                <a:lnTo>
                  <a:pt x="3253317" y="1194282"/>
                </a:lnTo>
                <a:lnTo>
                  <a:pt x="3284008" y="1140193"/>
                </a:lnTo>
                <a:lnTo>
                  <a:pt x="3314700" y="1083183"/>
                </a:lnTo>
                <a:lnTo>
                  <a:pt x="3345392" y="1023474"/>
                </a:lnTo>
                <a:lnTo>
                  <a:pt x="3376083" y="961346"/>
                </a:lnTo>
                <a:lnTo>
                  <a:pt x="3406775" y="897137"/>
                </a:lnTo>
                <a:lnTo>
                  <a:pt x="3437467" y="831240"/>
                </a:lnTo>
                <a:lnTo>
                  <a:pt x="3468158" y="764108"/>
                </a:lnTo>
                <a:lnTo>
                  <a:pt x="3498850" y="696241"/>
                </a:lnTo>
                <a:lnTo>
                  <a:pt x="3529542" y="628190"/>
                </a:lnTo>
                <a:lnTo>
                  <a:pt x="3560233" y="560542"/>
                </a:lnTo>
                <a:lnTo>
                  <a:pt x="3590925" y="493921"/>
                </a:lnTo>
                <a:lnTo>
                  <a:pt x="3621617" y="428971"/>
                </a:lnTo>
                <a:lnTo>
                  <a:pt x="3652308" y="366353"/>
                </a:lnTo>
                <a:lnTo>
                  <a:pt x="3683000" y="306728"/>
                </a:lnTo>
                <a:lnTo>
                  <a:pt x="3713692" y="250751"/>
                </a:lnTo>
                <a:lnTo>
                  <a:pt x="3744383" y="199054"/>
                </a:lnTo>
                <a:lnTo>
                  <a:pt x="3775075" y="152240"/>
                </a:lnTo>
                <a:lnTo>
                  <a:pt x="3805767" y="110865"/>
                </a:lnTo>
                <a:lnTo>
                  <a:pt x="3836458" y="75433"/>
                </a:lnTo>
                <a:lnTo>
                  <a:pt x="3867150" y="46382"/>
                </a:lnTo>
                <a:lnTo>
                  <a:pt x="3897842" y="24074"/>
                </a:lnTo>
                <a:lnTo>
                  <a:pt x="3928533" y="8794"/>
                </a:lnTo>
                <a:lnTo>
                  <a:pt x="3959225" y="735"/>
                </a:lnTo>
                <a:lnTo>
                  <a:pt x="3989917" y="0"/>
                </a:lnTo>
                <a:lnTo>
                  <a:pt x="4020608" y="6600"/>
                </a:lnTo>
                <a:lnTo>
                  <a:pt x="4051300" y="20449"/>
                </a:lnTo>
                <a:lnTo>
                  <a:pt x="4081992" y="41371"/>
                </a:lnTo>
                <a:lnTo>
                  <a:pt x="4112683" y="69100"/>
                </a:lnTo>
                <a:lnTo>
                  <a:pt x="4143375" y="103288"/>
                </a:lnTo>
                <a:lnTo>
                  <a:pt x="4174067" y="143513"/>
                </a:lnTo>
                <a:lnTo>
                  <a:pt x="4204758" y="189282"/>
                </a:lnTo>
                <a:lnTo>
                  <a:pt x="4235450" y="240049"/>
                </a:lnTo>
                <a:lnTo>
                  <a:pt x="4266142" y="295220"/>
                </a:lnTo>
                <a:lnTo>
                  <a:pt x="4296833" y="354167"/>
                </a:lnTo>
                <a:lnTo>
                  <a:pt x="4327525" y="416240"/>
                </a:lnTo>
                <a:lnTo>
                  <a:pt x="4358217" y="480776"/>
                </a:lnTo>
                <a:lnTo>
                  <a:pt x="4388908" y="547115"/>
                </a:lnTo>
                <a:lnTo>
                  <a:pt x="4419600" y="614608"/>
                </a:lnTo>
                <a:lnTo>
                  <a:pt x="4450292" y="682627"/>
                </a:lnTo>
                <a:lnTo>
                  <a:pt x="4480983" y="750576"/>
                </a:lnTo>
                <a:lnTo>
                  <a:pt x="4511675" y="817897"/>
                </a:lnTo>
                <a:lnTo>
                  <a:pt x="4542367" y="884079"/>
                </a:lnTo>
                <a:lnTo>
                  <a:pt x="4573058" y="948659"/>
                </a:lnTo>
                <a:lnTo>
                  <a:pt x="4603750" y="1011232"/>
                </a:lnTo>
                <a:lnTo>
                  <a:pt x="4634442" y="1071449"/>
                </a:lnTo>
                <a:lnTo>
                  <a:pt x="4665133" y="1129018"/>
                </a:lnTo>
                <a:lnTo>
                  <a:pt x="4695825" y="1183706"/>
                </a:lnTo>
                <a:lnTo>
                  <a:pt x="4726517" y="1235337"/>
                </a:lnTo>
                <a:lnTo>
                  <a:pt x="4757208" y="1283788"/>
                </a:lnTo>
                <a:lnTo>
                  <a:pt x="4787900" y="1328987"/>
                </a:lnTo>
                <a:lnTo>
                  <a:pt x="4818592" y="1370910"/>
                </a:lnTo>
                <a:lnTo>
                  <a:pt x="4849283" y="1409574"/>
                </a:lnTo>
                <a:lnTo>
                  <a:pt x="4879975" y="1445035"/>
                </a:lnTo>
                <a:lnTo>
                  <a:pt x="4910667" y="1477381"/>
                </a:lnTo>
                <a:lnTo>
                  <a:pt x="4941358" y="1506725"/>
                </a:lnTo>
                <a:lnTo>
                  <a:pt x="4972050" y="1533205"/>
                </a:lnTo>
                <a:lnTo>
                  <a:pt x="5002742" y="1556975"/>
                </a:lnTo>
                <a:lnTo>
                  <a:pt x="5033433" y="1578201"/>
                </a:lnTo>
                <a:lnTo>
                  <a:pt x="5064125" y="1597059"/>
                </a:lnTo>
                <a:lnTo>
                  <a:pt x="5094817" y="1613726"/>
                </a:lnTo>
                <a:lnTo>
                  <a:pt x="5125508" y="1628384"/>
                </a:lnTo>
                <a:lnTo>
                  <a:pt x="5156200" y="1641209"/>
                </a:lnTo>
                <a:lnTo>
                  <a:pt x="5186892" y="1652376"/>
                </a:lnTo>
                <a:lnTo>
                  <a:pt x="5217583" y="1662050"/>
                </a:lnTo>
                <a:lnTo>
                  <a:pt x="5248275" y="1670390"/>
                </a:lnTo>
                <a:lnTo>
                  <a:pt x="5278967" y="1677545"/>
                </a:lnTo>
                <a:lnTo>
                  <a:pt x="5309658" y="1683654"/>
                </a:lnTo>
                <a:lnTo>
                  <a:pt x="5340350" y="1688845"/>
                </a:lnTo>
                <a:lnTo>
                  <a:pt x="5371042" y="1693234"/>
                </a:lnTo>
                <a:lnTo>
                  <a:pt x="5401733" y="1696927"/>
                </a:lnTo>
                <a:lnTo>
                  <a:pt x="5432425" y="1700020"/>
                </a:lnTo>
                <a:lnTo>
                  <a:pt x="5463117" y="1702599"/>
                </a:lnTo>
                <a:lnTo>
                  <a:pt x="5493808" y="1704738"/>
                </a:lnTo>
                <a:lnTo>
                  <a:pt x="5524500" y="1706505"/>
                </a:lnTo>
              </a:path>
            </a:pathLst>
          </a:custGeom>
          <a:noFill xmlns:a="http://schemas.openxmlformats.org/drawingml/2006/main"/>
          <a:ln xmlns:a="http://schemas.openxmlformats.org/drawingml/2006/main" w="38100">
            <a:solidFill>
              <a:srgbClr val="47705A"/>
            </a:solidFill>
          </a:ln>
        </p:spPr>
      </p:sp>
      <p:sp>
        <p:nvSpPr>
          <p:cNvPr id="10" name="">
            <a:extLst xmlns:a="http://schemas.openxmlformats.org/drawingml/2006/main">
              <a:ext uri="{FF2B5EF4-FFF2-40B4-BE49-F238E27FC236}">
                <a16:creationId xmlns:a16="http://schemas.microsoft.com/office/drawing/2014/main" id="{1257C58C-2838-4613-A768-FE4F303AAFFA}"/>
              </a:ext>
            </a:extLst>
          </p:cNvPr>
          <p:cNvSpPr>
            <a:spLocks xmlns:a="http://schemas.openxmlformats.org/drawingml/2006/main" noGrp="1"/>
          </p:cNvSpPr>
          <p:nvPr/>
        </p:nvSpPr>
        <p:spPr>
          <a:xfrm xmlns:a="http://schemas.openxmlformats.org/drawingml/2006/main">
            <a:off x="1162050" y="2247900"/>
            <a:ext cx="1857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96743"/>
                </a:solidFill>
                <a:latin typeface="Arial"/>
                <a:ea typeface="Arial"/>
                <a:cs typeface="Arial"/>
              </a:defRPr>
            </a:pPr>
            <a:r>
              <a:rPr sz="2100" b="1">
                <a:solidFill>
                  <a:srgbClr val="A96743"/>
                </a:solidFill>
                <a:latin typeface="Arial"/>
                <a:ea typeface="Arial"/>
                <a:cs typeface="Arial"/>
              </a:rPr>
              <a:t>Высокая</a:t>
            </a:r>
          </a:p>
          <a:p xmlns:a="http://schemas.openxmlformats.org/drawingml/2006/main">
            <a:pPr algn="l">
              <a:defRPr sz="2100" b="1">
                <a:solidFill>
                  <a:srgbClr val="A96743"/>
                </a:solidFill>
                <a:latin typeface="Arial"/>
                <a:ea typeface="Arial"/>
                <a:cs typeface="Arial"/>
              </a:defRPr>
            </a:pPr>
            <a:r>
              <a:rPr sz="2100" b="1">
                <a:solidFill>
                  <a:srgbClr val="A96743"/>
                </a:solidFill>
                <a:latin typeface="Arial"/>
                <a:ea typeface="Arial"/>
                <a:cs typeface="Arial"/>
              </a:rPr>
              <a:t>частота</a:t>
            </a:r>
          </a:p>
        </p:txBody>
      </p:sp>
      <p:sp>
        <p:nvSpPr>
          <p:cNvPr id="11" name="">
            <a:extLst xmlns:a="http://schemas.openxmlformats.org/drawingml/2006/main">
              <a:ext uri="{FF2B5EF4-FFF2-40B4-BE49-F238E27FC236}">
                <a16:creationId xmlns:a16="http://schemas.microsoft.com/office/drawing/2014/main" id="{90147526-9260-455A-B564-6AEBDD1FDF7F}"/>
              </a:ext>
            </a:extLst>
          </p:cNvPr>
          <p:cNvSpPr>
            <a:spLocks xmlns:a="http://schemas.openxmlformats.org/drawingml/2006/main" noGrp="1"/>
          </p:cNvSpPr>
          <p:nvPr/>
        </p:nvSpPr>
        <p:spPr>
          <a:xfrm xmlns:a="http://schemas.openxmlformats.org/drawingml/2006/main">
            <a:off x="4667250" y="2247900"/>
            <a:ext cx="17335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47705A"/>
                </a:solidFill>
                <a:latin typeface="Arial"/>
                <a:ea typeface="Arial"/>
                <a:cs typeface="Arial"/>
              </a:defRPr>
            </a:pPr>
            <a:r>
              <a:rPr sz="2100" b="1">
                <a:solidFill>
                  <a:srgbClr val="47705A"/>
                </a:solidFill>
                <a:latin typeface="Arial"/>
                <a:ea typeface="Arial"/>
                <a:cs typeface="Arial"/>
              </a:rPr>
              <a:t>Низкая</a:t>
            </a:r>
          </a:p>
          <a:p xmlns:a="http://schemas.openxmlformats.org/drawingml/2006/main">
            <a:pPr algn="l">
              <a:defRPr sz="2100" b="1">
                <a:solidFill>
                  <a:srgbClr val="47705A"/>
                </a:solidFill>
                <a:latin typeface="Arial"/>
                <a:ea typeface="Arial"/>
                <a:cs typeface="Arial"/>
              </a:defRPr>
            </a:pPr>
            <a:r>
              <a:rPr sz="2100" b="1">
                <a:solidFill>
                  <a:srgbClr val="47705A"/>
                </a:solidFill>
                <a:latin typeface="Arial"/>
                <a:ea typeface="Arial"/>
                <a:cs typeface="Arial"/>
              </a:rPr>
              <a:t>частота</a:t>
            </a:r>
          </a:p>
        </p:txBody>
      </p:sp>
      <p:sp>
        <p:nvSpPr>
          <p:cNvPr id="12" name="">
            <a:extLst xmlns:a="http://schemas.openxmlformats.org/drawingml/2006/main">
              <a:ext uri="{FF2B5EF4-FFF2-40B4-BE49-F238E27FC236}">
                <a16:creationId xmlns:a16="http://schemas.microsoft.com/office/drawing/2014/main" id="{95A65F56-3FFF-414F-9E5D-09D495DE6AA5}"/>
              </a:ext>
            </a:extLst>
          </p:cNvPr>
          <p:cNvSpPr>
            <a:spLocks xmlns:a="http://schemas.openxmlformats.org/drawingml/2006/main" noGrp="1"/>
          </p:cNvSpPr>
          <p:nvPr/>
        </p:nvSpPr>
        <p:spPr>
          <a:xfrm xmlns:a="http://schemas.openxmlformats.org/drawingml/2006/main">
            <a:off x="666750" y="5391150"/>
            <a:ext cx="24479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Основание</a:t>
            </a:r>
          </a:p>
        </p:txBody>
      </p:sp>
      <p:sp>
        <p:nvSpPr>
          <p:cNvPr id="13" name="">
            <a:extLst xmlns:a="http://schemas.openxmlformats.org/drawingml/2006/main">
              <a:ext uri="{FF2B5EF4-FFF2-40B4-BE49-F238E27FC236}">
                <a16:creationId xmlns:a16="http://schemas.microsoft.com/office/drawing/2014/main" id="{FBA3DB3C-9E52-4968-B33F-A405D6DC275F}"/>
              </a:ext>
            </a:extLst>
          </p:cNvPr>
          <p:cNvSpPr>
            <a:spLocks xmlns:a="http://schemas.openxmlformats.org/drawingml/2006/main" noGrp="1"/>
          </p:cNvSpPr>
          <p:nvPr/>
        </p:nvSpPr>
        <p:spPr>
          <a:xfrm xmlns:a="http://schemas.openxmlformats.org/drawingml/2006/main">
            <a:off x="4876800" y="5391150"/>
            <a:ext cx="17811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263B31"/>
                </a:solidFill>
                <a:latin typeface="Arial"/>
                <a:ea typeface="Arial"/>
                <a:cs typeface="Arial"/>
              </a:defRPr>
            </a:pPr>
            <a:r>
              <a:rPr sz="2175" b="0">
                <a:solidFill>
                  <a:srgbClr val="263B31"/>
                </a:solidFill>
                <a:latin typeface="Arial"/>
                <a:ea typeface="Arial"/>
                <a:cs typeface="Arial"/>
              </a:rPr>
              <a:t>Вершина</a:t>
            </a:r>
          </a:p>
        </p:txBody>
      </p:sp>
      <p:sp>
        <p:nvSpPr>
          <p:cNvPr id="14" name="">
            <a:extLst xmlns:a="http://schemas.openxmlformats.org/drawingml/2006/main">
              <a:ext uri="{FF2B5EF4-FFF2-40B4-BE49-F238E27FC236}">
                <a16:creationId xmlns:a16="http://schemas.microsoft.com/office/drawing/2014/main" id="{D8A7AFA1-99D2-4F4F-81F2-7F52BB531950}"/>
              </a:ext>
            </a:extLst>
          </p:cNvPr>
          <p:cNvSpPr>
            <a:spLocks xmlns:a="http://schemas.openxmlformats.org/drawingml/2006/main" noGrp="1"/>
          </p:cNvSpPr>
          <p:nvPr/>
        </p:nvSpPr>
        <p:spPr>
          <a:xfrm xmlns:a="http://schemas.openxmlformats.org/drawingml/2006/main">
            <a:off x="990600" y="5915025"/>
            <a:ext cx="557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Положение вдоль мембраны →</a:t>
            </a:r>
          </a:p>
        </p:txBody>
      </p:sp>
    </p:spTree>
    <p:extLst>
      <p:ext uri="{BB962C8B-B14F-4D97-AF65-F5344CB8AC3E}">
        <p14:creationId xmlns:p14="http://schemas.microsoft.com/office/powerpoint/2010/main" val="34234243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6D16C91-30A3-4F50-84BA-909F49423422}"/>
              </a:ext>
            </a:extLst>
          </p:cNvPr>
          <p:cNvSpPr>
            <a:spLocks xmlns:a="http://schemas.openxmlformats.org/drawingml/2006/main" noGrp="1"/>
          </p:cNvSpPr>
          <p:nvPr/>
        </p:nvSpPr>
        <p:spPr>
          <a:xfrm xmlns:a="http://schemas.openxmlformats.org/drawingml/2006/main">
            <a:off x="609600" y="40005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263B31"/>
                </a:solidFill>
                <a:latin typeface="Arial"/>
                <a:ea typeface="Arial"/>
                <a:cs typeface="Arial"/>
              </a:defRPr>
            </a:pPr>
            <a:r>
              <a:rPr sz="3450" b="1">
                <a:solidFill>
                  <a:srgbClr val="263B31"/>
                </a:solidFill>
                <a:latin typeface="Arial"/>
                <a:ea typeface="Arial"/>
                <a:cs typeface="Arial"/>
              </a:rPr>
              <a:t>Один пуск — последовательная серия</a:t>
            </a:r>
          </a:p>
        </p:txBody>
      </p:sp>
      <p:sp>
        <p:nvSpPr>
          <p:cNvPr id="2" name="">
            <a:extLst xmlns:a="http://schemas.openxmlformats.org/drawingml/2006/main">
              <a:ext uri="{FF2B5EF4-FFF2-40B4-BE49-F238E27FC236}">
                <a16:creationId xmlns:a16="http://schemas.microsoft.com/office/drawing/2014/main" id="{045A7C14-3B3A-4658-9385-7F978FCEBE27}"/>
              </a:ext>
            </a:extLst>
          </p:cNvPr>
          <p:cNvSpPr>
            <a:spLocks xmlns:a="http://schemas.openxmlformats.org/drawingml/2006/main" noGrp="1"/>
          </p:cNvSpPr>
          <p:nvPr/>
        </p:nvSpPr>
        <p:spPr>
          <a:xfrm xmlns:a="http://schemas.openxmlformats.org/drawingml/2006/main">
            <a:off x="10953750" y="644842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800" b="0">
                <a:solidFill>
                  <a:srgbClr val="47705A"/>
                </a:solidFill>
                <a:latin typeface="Arial"/>
                <a:ea typeface="Arial"/>
                <a:cs typeface="Arial"/>
              </a:defRPr>
            </a:pPr>
            <a:r>
              <a:rPr sz="1800" b="0">
                <a:solidFill>
                  <a:srgbClr val="47705A"/>
                </a:solidFill>
                <a:latin typeface="Arial"/>
                <a:ea typeface="Arial"/>
                <a:cs typeface="Arial"/>
              </a:rPr>
              <a:t>56</a:t>
            </a:r>
          </a:p>
        </p:txBody>
      </p:sp>
      <p:sp>
        <p:nvSpPr>
          <p:cNvPr id="3" name="">
            <a:extLst xmlns:a="http://schemas.openxmlformats.org/drawingml/2006/main">
              <a:ext uri="{FF2B5EF4-FFF2-40B4-BE49-F238E27FC236}">
                <a16:creationId xmlns:a16="http://schemas.microsoft.com/office/drawing/2014/main" id="{8BA282E2-59D3-4F1C-A02D-8C6FC566DA51}"/>
              </a:ext>
            </a:extLst>
          </p:cNvPr>
          <p:cNvSpPr>
            <a:spLocks xmlns:a="http://schemas.openxmlformats.org/drawingml/2006/main" noGrp="1"/>
          </p:cNvSpPr>
          <p:nvPr/>
        </p:nvSpPr>
        <p:spPr>
          <a:xfrm xmlns:a="http://schemas.openxmlformats.org/drawingml/2006/main">
            <a:off x="609600" y="143827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263B31"/>
                </a:solidFill>
                <a:latin typeface="Arial"/>
                <a:ea typeface="Arial"/>
                <a:cs typeface="Arial"/>
              </a:defRPr>
            </a:pPr>
            <a:r>
              <a:rPr sz="2325" b="0">
                <a:solidFill>
                  <a:srgbClr val="263B31"/>
                </a:solidFill>
                <a:latin typeface="Arial"/>
                <a:ea typeface="Arial"/>
                <a:cs typeface="Arial"/>
              </a:rPr>
              <a:t>Волна проходит вдоль узла. Каждый выбранный прицветник щёлкает один раз.</a:t>
            </a:r>
          </a:p>
        </p:txBody>
      </p:sp>
      <p:sp>
        <p:nvSpPr>
          <p:cNvPr id="4" name="">
            <a:extLst xmlns:a="http://schemas.openxmlformats.org/drawingml/2006/main">
              <a:ext uri="{FF2B5EF4-FFF2-40B4-BE49-F238E27FC236}">
                <a16:creationId xmlns:a16="http://schemas.microsoft.com/office/drawing/2014/main" id="{46650936-CA40-4712-8148-F5075D60F50F}"/>
              </a:ext>
            </a:extLst>
          </p:cNvPr>
          <p:cNvSpPr>
            <a:spLocks xmlns:a="http://schemas.openxmlformats.org/drawingml/2006/main" noGrp="1"/>
          </p:cNvSpPr>
          <p:nvPr/>
        </p:nvSpPr>
        <p:spPr>
          <a:xfrm xmlns:a="http://schemas.openxmlformats.org/drawingml/2006/main">
            <a:off x="819150" y="2571750"/>
            <a:ext cx="1219200" cy="695325"/>
          </a:xfrm>
          <a:prstGeom xmlns:a="http://schemas.openxmlformats.org/drawingml/2006/main" prst="ellipse">
            <a:avLst/>
          </a:prstGeom>
          <a:solidFill xmlns:a="http://schemas.openxmlformats.org/drawingml/2006/main">
            <a:srgbClr val="EDF3EB"/>
          </a:solidFill>
          <a:ln xmlns:a="http://schemas.openxmlformats.org/drawingml/2006/main" w="28575">
            <a:solidFill>
              <a:srgbClr val="47705A"/>
            </a:solidFill>
          </a:ln>
        </p:spPr>
      </p:sp>
      <p:sp>
        <p:nvSpPr>
          <p:cNvPr id="5" name="">
            <a:extLst xmlns:a="http://schemas.openxmlformats.org/drawingml/2006/main">
              <a:ext uri="{FF2B5EF4-FFF2-40B4-BE49-F238E27FC236}">
                <a16:creationId xmlns:a16="http://schemas.microsoft.com/office/drawing/2014/main" id="{A623CB8D-415A-416B-9CBE-E0BB1A786940}"/>
              </a:ext>
            </a:extLst>
          </p:cNvPr>
          <p:cNvSpPr>
            <a:spLocks xmlns:a="http://schemas.openxmlformats.org/drawingml/2006/main" noGrp="1"/>
          </p:cNvSpPr>
          <p:nvPr/>
        </p:nvSpPr>
        <p:spPr>
          <a:xfrm xmlns:a="http://schemas.openxmlformats.org/drawingml/2006/main">
            <a:off x="1428750" y="3257550"/>
            <a:ext cx="9525" cy="561975"/>
          </a:xfrm>
          <a:custGeom xmlns:a="http://schemas.openxmlformats.org/drawingml/2006/main">
            <a:pathLst>
              <a:path w="9525" h="561975">
                <a:moveTo>
                  <a:pt x="0" y="0"/>
                </a:moveTo>
                <a:lnTo>
                  <a:pt x="0" y="561975"/>
                </a:lnTo>
              </a:path>
            </a:pathLst>
          </a:custGeom>
          <a:noFill xmlns:a="http://schemas.openxmlformats.org/drawingml/2006/main"/>
          <a:ln xmlns:a="http://schemas.openxmlformats.org/drawingml/2006/main" w="38100">
            <a:solidFill>
              <a:srgbClr val="A96743"/>
            </a:solidFill>
          </a:ln>
        </p:spPr>
      </p:sp>
      <p:sp>
        <p:nvSpPr>
          <p:cNvPr id="6" name="">
            <a:extLst xmlns:a="http://schemas.openxmlformats.org/drawingml/2006/main">
              <a:ext uri="{FF2B5EF4-FFF2-40B4-BE49-F238E27FC236}">
                <a16:creationId xmlns:a16="http://schemas.microsoft.com/office/drawing/2014/main" id="{94F168DD-B357-426E-83B5-B0B57ACA2D2B}"/>
              </a:ext>
            </a:extLst>
          </p:cNvPr>
          <p:cNvSpPr>
            <a:spLocks xmlns:a="http://schemas.openxmlformats.org/drawingml/2006/main" noGrp="1"/>
          </p:cNvSpPr>
          <p:nvPr/>
        </p:nvSpPr>
        <p:spPr>
          <a:xfrm xmlns:a="http://schemas.openxmlformats.org/drawingml/2006/main">
            <a:off x="1228725" y="2657475"/>
            <a:ext cx="40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1">
                <a:solidFill>
                  <a:srgbClr val="47705A"/>
                </a:solidFill>
                <a:latin typeface="Arial"/>
                <a:ea typeface="Arial"/>
                <a:cs typeface="Arial"/>
              </a:defRPr>
            </a:pPr>
            <a:r>
              <a:rPr sz="2475" b="1">
                <a:solidFill>
                  <a:srgbClr val="47705A"/>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21AAE469-1065-4D9F-9439-8F85212F9535}"/>
              </a:ext>
            </a:extLst>
          </p:cNvPr>
          <p:cNvSpPr>
            <a:spLocks xmlns:a="http://schemas.openxmlformats.org/drawingml/2006/main" noGrp="1"/>
          </p:cNvSpPr>
          <p:nvPr/>
        </p:nvSpPr>
        <p:spPr>
          <a:xfrm xmlns:a="http://schemas.openxmlformats.org/drawingml/2006/main">
            <a:off x="676275" y="4476750"/>
            <a:ext cx="158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25" b="1">
                <a:solidFill>
                  <a:srgbClr val="39667D"/>
                </a:solidFill>
                <a:latin typeface="Arial"/>
                <a:ea typeface="Arial"/>
                <a:cs typeface="Arial"/>
              </a:defRPr>
            </a:pPr>
            <a:r>
              <a:rPr sz="2325" b="1">
                <a:solidFill>
                  <a:srgbClr val="39667D"/>
                </a:solidFill>
                <a:latin typeface="Arial"/>
                <a:ea typeface="Arial"/>
                <a:cs typeface="Arial"/>
              </a:rPr>
              <a:t>0 с</a:t>
            </a:r>
          </a:p>
        </p:txBody>
      </p:sp>
      <p:sp>
        <p:nvSpPr>
          <p:cNvPr id="8" name="">
            <a:extLst xmlns:a="http://schemas.openxmlformats.org/drawingml/2006/main">
              <a:ext uri="{FF2B5EF4-FFF2-40B4-BE49-F238E27FC236}">
                <a16:creationId xmlns:a16="http://schemas.microsoft.com/office/drawing/2014/main" id="{8B0B7FAC-F857-4668-A44E-37F08017EC8E}"/>
              </a:ext>
            </a:extLst>
          </p:cNvPr>
          <p:cNvSpPr>
            <a:spLocks xmlns:a="http://schemas.openxmlformats.org/drawingml/2006/main" noGrp="1"/>
          </p:cNvSpPr>
          <p:nvPr/>
        </p:nvSpPr>
        <p:spPr>
          <a:xfrm xmlns:a="http://schemas.openxmlformats.org/drawingml/2006/main">
            <a:off x="762000" y="3871371"/>
            <a:ext cx="1457325" cy="403710"/>
          </a:xfrm>
          <a:custGeom xmlns:a="http://schemas.openxmlformats.org/drawingml/2006/main">
            <a:pathLst>
              <a:path w="1457325" h="403710">
                <a:moveTo>
                  <a:pt x="0" y="176754"/>
                </a:moveTo>
                <a:lnTo>
                  <a:pt x="12144" y="254263"/>
                </a:lnTo>
                <a:lnTo>
                  <a:pt x="24289" y="320545"/>
                </a:lnTo>
                <a:lnTo>
                  <a:pt x="36433" y="369779"/>
                </a:lnTo>
                <a:lnTo>
                  <a:pt x="48577" y="398066"/>
                </a:lnTo>
                <a:lnTo>
                  <a:pt x="60722" y="403710"/>
                </a:lnTo>
                <a:lnTo>
                  <a:pt x="72866" y="387272"/>
                </a:lnTo>
                <a:lnTo>
                  <a:pt x="85011" y="351410"/>
                </a:lnTo>
                <a:lnTo>
                  <a:pt x="97155" y="300516"/>
                </a:lnTo>
                <a:lnTo>
                  <a:pt x="109299" y="240213"/>
                </a:lnTo>
                <a:lnTo>
                  <a:pt x="121444" y="176754"/>
                </a:lnTo>
                <a:lnTo>
                  <a:pt x="133588" y="116389"/>
                </a:lnTo>
                <a:lnTo>
                  <a:pt x="145732" y="64769"/>
                </a:lnTo>
                <a:lnTo>
                  <a:pt x="157877" y="26425"/>
                </a:lnTo>
                <a:lnTo>
                  <a:pt x="170021" y="4395"/>
                </a:lnTo>
                <a:lnTo>
                  <a:pt x="182166" y="0"/>
                </a:lnTo>
                <a:lnTo>
                  <a:pt x="194310" y="12801"/>
                </a:lnTo>
                <a:lnTo>
                  <a:pt x="206454" y="40731"/>
                </a:lnTo>
                <a:lnTo>
                  <a:pt x="218599" y="80367"/>
                </a:lnTo>
                <a:lnTo>
                  <a:pt x="230743" y="127332"/>
                </a:lnTo>
                <a:lnTo>
                  <a:pt x="242888" y="176754"/>
                </a:lnTo>
                <a:lnTo>
                  <a:pt x="255032" y="223765"/>
                </a:lnTo>
                <a:lnTo>
                  <a:pt x="267176" y="263967"/>
                </a:lnTo>
                <a:lnTo>
                  <a:pt x="279321" y="293829"/>
                </a:lnTo>
                <a:lnTo>
                  <a:pt x="291465" y="310986"/>
                </a:lnTo>
                <a:lnTo>
                  <a:pt x="303609" y="314409"/>
                </a:lnTo>
                <a:lnTo>
                  <a:pt x="315754" y="304440"/>
                </a:lnTo>
                <a:lnTo>
                  <a:pt x="327898" y="282688"/>
                </a:lnTo>
                <a:lnTo>
                  <a:pt x="340043" y="251819"/>
                </a:lnTo>
                <a:lnTo>
                  <a:pt x="352187" y="215244"/>
                </a:lnTo>
                <a:lnTo>
                  <a:pt x="364331" y="176754"/>
                </a:lnTo>
                <a:lnTo>
                  <a:pt x="376476" y="140141"/>
                </a:lnTo>
                <a:lnTo>
                  <a:pt x="388620" y="108831"/>
                </a:lnTo>
                <a:lnTo>
                  <a:pt x="400764" y="85575"/>
                </a:lnTo>
                <a:lnTo>
                  <a:pt x="412909" y="72213"/>
                </a:lnTo>
                <a:lnTo>
                  <a:pt x="425053" y="69547"/>
                </a:lnTo>
                <a:lnTo>
                  <a:pt x="437198" y="77312"/>
                </a:lnTo>
                <a:lnTo>
                  <a:pt x="449342" y="94252"/>
                </a:lnTo>
                <a:lnTo>
                  <a:pt x="461486" y="118292"/>
                </a:lnTo>
                <a:lnTo>
                  <a:pt x="473631" y="146778"/>
                </a:lnTo>
                <a:lnTo>
                  <a:pt x="485775" y="176754"/>
                </a:lnTo>
                <a:lnTo>
                  <a:pt x="497919" y="205268"/>
                </a:lnTo>
                <a:lnTo>
                  <a:pt x="510064" y="229651"/>
                </a:lnTo>
                <a:lnTo>
                  <a:pt x="522208" y="247764"/>
                </a:lnTo>
                <a:lnTo>
                  <a:pt x="534353" y="258170"/>
                </a:lnTo>
                <a:lnTo>
                  <a:pt x="546497" y="260246"/>
                </a:lnTo>
                <a:lnTo>
                  <a:pt x="558641" y="254199"/>
                </a:lnTo>
                <a:lnTo>
                  <a:pt x="570786" y="241006"/>
                </a:lnTo>
                <a:lnTo>
                  <a:pt x="582930" y="222283"/>
                </a:lnTo>
                <a:lnTo>
                  <a:pt x="595074" y="200099"/>
                </a:lnTo>
                <a:lnTo>
                  <a:pt x="607219" y="176754"/>
                </a:lnTo>
                <a:lnTo>
                  <a:pt x="619363" y="154547"/>
                </a:lnTo>
                <a:lnTo>
                  <a:pt x="631508" y="135557"/>
                </a:lnTo>
                <a:lnTo>
                  <a:pt x="643652" y="121451"/>
                </a:lnTo>
                <a:lnTo>
                  <a:pt x="655796" y="113347"/>
                </a:lnTo>
                <a:lnTo>
                  <a:pt x="667941" y="111730"/>
                </a:lnTo>
                <a:lnTo>
                  <a:pt x="680085" y="116439"/>
                </a:lnTo>
                <a:lnTo>
                  <a:pt x="692229" y="126714"/>
                </a:lnTo>
                <a:lnTo>
                  <a:pt x="704374" y="141295"/>
                </a:lnTo>
                <a:lnTo>
                  <a:pt x="716518" y="158572"/>
                </a:lnTo>
                <a:lnTo>
                  <a:pt x="728663" y="176754"/>
                </a:lnTo>
                <a:lnTo>
                  <a:pt x="740807" y="194048"/>
                </a:lnTo>
                <a:lnTo>
                  <a:pt x="752951" y="208838"/>
                </a:lnTo>
                <a:lnTo>
                  <a:pt x="765096" y="219823"/>
                </a:lnTo>
                <a:lnTo>
                  <a:pt x="777240" y="226135"/>
                </a:lnTo>
                <a:lnTo>
                  <a:pt x="789384" y="227394"/>
                </a:lnTo>
                <a:lnTo>
                  <a:pt x="801529" y="223727"/>
                </a:lnTo>
                <a:lnTo>
                  <a:pt x="813673" y="215725"/>
                </a:lnTo>
                <a:lnTo>
                  <a:pt x="825817" y="204369"/>
                </a:lnTo>
                <a:lnTo>
                  <a:pt x="837962" y="190913"/>
                </a:lnTo>
                <a:lnTo>
                  <a:pt x="850106" y="176754"/>
                </a:lnTo>
                <a:lnTo>
                  <a:pt x="862251" y="163285"/>
                </a:lnTo>
                <a:lnTo>
                  <a:pt x="874395" y="151766"/>
                </a:lnTo>
                <a:lnTo>
                  <a:pt x="886539" y="143211"/>
                </a:lnTo>
                <a:lnTo>
                  <a:pt x="898684" y="138295"/>
                </a:lnTo>
                <a:lnTo>
                  <a:pt x="910828" y="137315"/>
                </a:lnTo>
                <a:lnTo>
                  <a:pt x="922972" y="140171"/>
                </a:lnTo>
                <a:lnTo>
                  <a:pt x="935117" y="146403"/>
                </a:lnTo>
                <a:lnTo>
                  <a:pt x="947261" y="155247"/>
                </a:lnTo>
                <a:lnTo>
                  <a:pt x="959406" y="165726"/>
                </a:lnTo>
                <a:lnTo>
                  <a:pt x="971550" y="176754"/>
                </a:lnTo>
                <a:lnTo>
                  <a:pt x="983694" y="187243"/>
                </a:lnTo>
                <a:lnTo>
                  <a:pt x="995839" y="196214"/>
                </a:lnTo>
                <a:lnTo>
                  <a:pt x="1007983" y="202877"/>
                </a:lnTo>
                <a:lnTo>
                  <a:pt x="1020128" y="206705"/>
                </a:lnTo>
                <a:lnTo>
                  <a:pt x="1032272" y="207469"/>
                </a:lnTo>
                <a:lnTo>
                  <a:pt x="1044416" y="205244"/>
                </a:lnTo>
                <a:lnTo>
                  <a:pt x="1056561" y="200391"/>
                </a:lnTo>
                <a:lnTo>
                  <a:pt x="1068705" y="193503"/>
                </a:lnTo>
                <a:lnTo>
                  <a:pt x="1080849" y="185342"/>
                </a:lnTo>
                <a:lnTo>
                  <a:pt x="1092994" y="176754"/>
                </a:lnTo>
                <a:lnTo>
                  <a:pt x="1105138" y="168584"/>
                </a:lnTo>
                <a:lnTo>
                  <a:pt x="1117283" y="161598"/>
                </a:lnTo>
                <a:lnTo>
                  <a:pt x="1129427" y="156409"/>
                </a:lnTo>
                <a:lnTo>
                  <a:pt x="1141571" y="153427"/>
                </a:lnTo>
                <a:lnTo>
                  <a:pt x="1153716" y="152833"/>
                </a:lnTo>
                <a:lnTo>
                  <a:pt x="1165860" y="154565"/>
                </a:lnTo>
                <a:lnTo>
                  <a:pt x="1178004" y="158345"/>
                </a:lnTo>
                <a:lnTo>
                  <a:pt x="1190149" y="163709"/>
                </a:lnTo>
                <a:lnTo>
                  <a:pt x="1202293" y="170065"/>
                </a:lnTo>
                <a:lnTo>
                  <a:pt x="1214438" y="176754"/>
                </a:lnTo>
                <a:lnTo>
                  <a:pt x="1226582" y="183116"/>
                </a:lnTo>
                <a:lnTo>
                  <a:pt x="1238726" y="188557"/>
                </a:lnTo>
                <a:lnTo>
                  <a:pt x="1250871" y="192598"/>
                </a:lnTo>
                <a:lnTo>
                  <a:pt x="1263015" y="194920"/>
                </a:lnTo>
                <a:lnTo>
                  <a:pt x="1275159" y="195383"/>
                </a:lnTo>
                <a:lnTo>
                  <a:pt x="1287304" y="194034"/>
                </a:lnTo>
                <a:lnTo>
                  <a:pt x="1299448" y="191090"/>
                </a:lnTo>
                <a:lnTo>
                  <a:pt x="1311593" y="186913"/>
                </a:lnTo>
                <a:lnTo>
                  <a:pt x="1323737" y="181963"/>
                </a:lnTo>
                <a:lnTo>
                  <a:pt x="1335881" y="176754"/>
                </a:lnTo>
                <a:lnTo>
                  <a:pt x="1348026" y="171799"/>
                </a:lnTo>
                <a:lnTo>
                  <a:pt x="1360170" y="167561"/>
                </a:lnTo>
                <a:lnTo>
                  <a:pt x="1372314" y="164414"/>
                </a:lnTo>
                <a:lnTo>
                  <a:pt x="1384459" y="162606"/>
                </a:lnTo>
                <a:lnTo>
                  <a:pt x="1396603" y="162245"/>
                </a:lnTo>
                <a:lnTo>
                  <a:pt x="1408748" y="163296"/>
                </a:lnTo>
                <a:lnTo>
                  <a:pt x="1420892" y="165588"/>
                </a:lnTo>
                <a:lnTo>
                  <a:pt x="1433036" y="168842"/>
                </a:lnTo>
                <a:lnTo>
                  <a:pt x="1445181" y="172697"/>
                </a:lnTo>
                <a:lnTo>
                  <a:pt x="1457325" y="176754"/>
                </a:lnTo>
              </a:path>
            </a:pathLst>
          </a:custGeom>
          <a:noFill xmlns:a="http://schemas.openxmlformats.org/drawingml/2006/main"/>
          <a:ln xmlns:a="http://schemas.openxmlformats.org/drawingml/2006/main" w="28575">
            <a:solidFill>
              <a:srgbClr val="47705A"/>
            </a:solidFill>
          </a:ln>
        </p:spPr>
      </p:sp>
      <p:sp>
        <p:nvSpPr>
          <p:cNvPr id="9" name="">
            <a:extLst xmlns:a="http://schemas.openxmlformats.org/drawingml/2006/main">
              <a:ext uri="{FF2B5EF4-FFF2-40B4-BE49-F238E27FC236}">
                <a16:creationId xmlns:a16="http://schemas.microsoft.com/office/drawing/2014/main" id="{A84EEBE8-89D4-4E16-BA60-5832AA042A46}"/>
              </a:ext>
            </a:extLst>
          </p:cNvPr>
          <p:cNvSpPr>
            <a:spLocks xmlns:a="http://schemas.openxmlformats.org/drawingml/2006/main" noGrp="1"/>
          </p:cNvSpPr>
          <p:nvPr/>
        </p:nvSpPr>
        <p:spPr>
          <a:xfrm xmlns:a="http://schemas.openxmlformats.org/drawingml/2006/main">
            <a:off x="2286000" y="3238500"/>
            <a:ext cx="11334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0">
                <a:solidFill>
                  <a:srgbClr val="263B31"/>
                </a:solidFill>
                <a:latin typeface="Arial"/>
                <a:ea typeface="Arial"/>
                <a:cs typeface="Arial"/>
              </a:defRPr>
            </a:pPr>
            <a:r>
              <a:rPr sz="2100" b="0">
                <a:solidFill>
                  <a:srgbClr val="263B31"/>
                </a:solidFill>
                <a:latin typeface="Arial"/>
                <a:ea typeface="Arial"/>
                <a:cs typeface="Arial"/>
              </a:rPr>
              <a:t>пауза</a:t>
            </a:r>
          </a:p>
          <a:p xmlns:a="http://schemas.openxmlformats.org/drawingml/2006/main">
            <a:pPr algn="ctr">
              <a:defRPr sz="2100" b="0">
                <a:solidFill>
                  <a:srgbClr val="263B31"/>
                </a:solidFill>
                <a:latin typeface="Arial"/>
                <a:ea typeface="Arial"/>
                <a:cs typeface="Arial"/>
              </a:defRPr>
            </a:pPr>
            <a:r>
              <a:rPr sz="2100" b="0">
                <a:solidFill>
                  <a:srgbClr val="263B31"/>
                </a:solidFill>
                <a:latin typeface="Arial"/>
                <a:ea typeface="Arial"/>
                <a:cs typeface="Arial"/>
              </a:rPr>
              <a:t>0,5 с</a:t>
            </a:r>
          </a:p>
        </p:txBody>
      </p:sp>
      <p:sp>
        <p:nvSpPr>
          <p:cNvPr id="10" name="">
            <a:extLst xmlns:a="http://schemas.openxmlformats.org/drawingml/2006/main">
              <a:ext uri="{FF2B5EF4-FFF2-40B4-BE49-F238E27FC236}">
                <a16:creationId xmlns:a16="http://schemas.microsoft.com/office/drawing/2014/main" id="{8D76AB2B-C454-4AA9-8712-58FE50D39B5A}"/>
              </a:ext>
            </a:extLst>
          </p:cNvPr>
          <p:cNvSpPr>
            <a:spLocks xmlns:a="http://schemas.openxmlformats.org/drawingml/2006/main" noGrp="1"/>
          </p:cNvSpPr>
          <p:nvPr/>
        </p:nvSpPr>
        <p:spPr>
          <a:xfrm xmlns:a="http://schemas.openxmlformats.org/drawingml/2006/main">
            <a:off x="3695700" y="2571750"/>
            <a:ext cx="1219200" cy="695325"/>
          </a:xfrm>
          <a:prstGeom xmlns:a="http://schemas.openxmlformats.org/drawingml/2006/main" prst="ellipse">
            <a:avLst/>
          </a:prstGeom>
          <a:solidFill xmlns:a="http://schemas.openxmlformats.org/drawingml/2006/main">
            <a:srgbClr val="EDF3EB"/>
          </a:solidFill>
          <a:ln xmlns:a="http://schemas.openxmlformats.org/drawingml/2006/main" w="28575">
            <a:solidFill>
              <a:srgbClr val="47705A"/>
            </a:solidFill>
          </a:ln>
        </p:spPr>
      </p:sp>
      <p:sp>
        <p:nvSpPr>
          <p:cNvPr id="11" name="">
            <a:extLst xmlns:a="http://schemas.openxmlformats.org/drawingml/2006/main">
              <a:ext uri="{FF2B5EF4-FFF2-40B4-BE49-F238E27FC236}">
                <a16:creationId xmlns:a16="http://schemas.microsoft.com/office/drawing/2014/main" id="{D7FC17D1-8852-456A-903B-2EAF1F592908}"/>
              </a:ext>
            </a:extLst>
          </p:cNvPr>
          <p:cNvSpPr>
            <a:spLocks xmlns:a="http://schemas.openxmlformats.org/drawingml/2006/main" noGrp="1"/>
          </p:cNvSpPr>
          <p:nvPr/>
        </p:nvSpPr>
        <p:spPr>
          <a:xfrm xmlns:a="http://schemas.openxmlformats.org/drawingml/2006/main">
            <a:off x="4305300" y="3257550"/>
            <a:ext cx="9525" cy="561975"/>
          </a:xfrm>
          <a:custGeom xmlns:a="http://schemas.openxmlformats.org/drawingml/2006/main">
            <a:pathLst>
              <a:path w="9525" h="561975">
                <a:moveTo>
                  <a:pt x="0" y="0"/>
                </a:moveTo>
                <a:lnTo>
                  <a:pt x="0" y="561975"/>
                </a:lnTo>
              </a:path>
            </a:pathLst>
          </a:custGeom>
          <a:noFill xmlns:a="http://schemas.openxmlformats.org/drawingml/2006/main"/>
          <a:ln xmlns:a="http://schemas.openxmlformats.org/drawingml/2006/main" w="38100">
            <a:solidFill>
              <a:srgbClr val="A96743"/>
            </a:solidFill>
          </a:ln>
        </p:spPr>
      </p:sp>
      <p:sp>
        <p:nvSpPr>
          <p:cNvPr id="12" name="">
            <a:extLst xmlns:a="http://schemas.openxmlformats.org/drawingml/2006/main">
              <a:ext uri="{FF2B5EF4-FFF2-40B4-BE49-F238E27FC236}">
                <a16:creationId xmlns:a16="http://schemas.microsoft.com/office/drawing/2014/main" id="{17975BC1-158F-43F8-BF63-4ACFE91DC2AE}"/>
              </a:ext>
            </a:extLst>
          </p:cNvPr>
          <p:cNvSpPr>
            <a:spLocks xmlns:a="http://schemas.openxmlformats.org/drawingml/2006/main" noGrp="1"/>
          </p:cNvSpPr>
          <p:nvPr/>
        </p:nvSpPr>
        <p:spPr>
          <a:xfrm xmlns:a="http://schemas.openxmlformats.org/drawingml/2006/main">
            <a:off x="4105275" y="2657475"/>
            <a:ext cx="40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1">
                <a:solidFill>
                  <a:srgbClr val="47705A"/>
                </a:solidFill>
                <a:latin typeface="Arial"/>
                <a:ea typeface="Arial"/>
                <a:cs typeface="Arial"/>
              </a:defRPr>
            </a:pPr>
            <a:r>
              <a:rPr sz="2475" b="1">
                <a:solidFill>
                  <a:srgbClr val="47705A"/>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720BC356-4BF4-40CF-A505-9EEDB9E89B0A}"/>
              </a:ext>
            </a:extLst>
          </p:cNvPr>
          <p:cNvSpPr>
            <a:spLocks xmlns:a="http://schemas.openxmlformats.org/drawingml/2006/main" noGrp="1"/>
          </p:cNvSpPr>
          <p:nvPr/>
        </p:nvSpPr>
        <p:spPr>
          <a:xfrm xmlns:a="http://schemas.openxmlformats.org/drawingml/2006/main">
            <a:off x="3552825" y="4476750"/>
            <a:ext cx="158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25" b="1">
                <a:solidFill>
                  <a:srgbClr val="39667D"/>
                </a:solidFill>
                <a:latin typeface="Arial"/>
                <a:ea typeface="Arial"/>
                <a:cs typeface="Arial"/>
              </a:defRPr>
            </a:pPr>
            <a:r>
              <a:rPr sz="2325" b="1">
                <a:solidFill>
                  <a:srgbClr val="39667D"/>
                </a:solidFill>
                <a:latin typeface="Arial"/>
                <a:ea typeface="Arial"/>
                <a:cs typeface="Arial"/>
              </a:rPr>
              <a:t>0,51 с</a:t>
            </a:r>
          </a:p>
        </p:txBody>
      </p:sp>
      <p:sp>
        <p:nvSpPr>
          <p:cNvPr id="14" name="">
            <a:extLst xmlns:a="http://schemas.openxmlformats.org/drawingml/2006/main">
              <a:ext uri="{FF2B5EF4-FFF2-40B4-BE49-F238E27FC236}">
                <a16:creationId xmlns:a16="http://schemas.microsoft.com/office/drawing/2014/main" id="{2D83B985-F026-4EA4-BB8F-C64430E92018}"/>
              </a:ext>
            </a:extLst>
          </p:cNvPr>
          <p:cNvSpPr>
            <a:spLocks xmlns:a="http://schemas.openxmlformats.org/drawingml/2006/main" noGrp="1"/>
          </p:cNvSpPr>
          <p:nvPr/>
        </p:nvSpPr>
        <p:spPr>
          <a:xfrm xmlns:a="http://schemas.openxmlformats.org/drawingml/2006/main">
            <a:off x="3638550" y="3871371"/>
            <a:ext cx="1457325" cy="403710"/>
          </a:xfrm>
          <a:custGeom xmlns:a="http://schemas.openxmlformats.org/drawingml/2006/main">
            <a:pathLst>
              <a:path w="1457325" h="403710">
                <a:moveTo>
                  <a:pt x="0" y="176754"/>
                </a:moveTo>
                <a:lnTo>
                  <a:pt x="12144" y="254263"/>
                </a:lnTo>
                <a:lnTo>
                  <a:pt x="24289" y="320545"/>
                </a:lnTo>
                <a:lnTo>
                  <a:pt x="36433" y="369779"/>
                </a:lnTo>
                <a:lnTo>
                  <a:pt x="48578" y="398066"/>
                </a:lnTo>
                <a:lnTo>
                  <a:pt x="60722" y="403710"/>
                </a:lnTo>
                <a:lnTo>
                  <a:pt x="72866" y="387272"/>
                </a:lnTo>
                <a:lnTo>
                  <a:pt x="85011" y="351410"/>
                </a:lnTo>
                <a:lnTo>
                  <a:pt x="97155" y="300516"/>
                </a:lnTo>
                <a:lnTo>
                  <a:pt x="109299" y="240213"/>
                </a:lnTo>
                <a:lnTo>
                  <a:pt x="121444" y="176754"/>
                </a:lnTo>
                <a:lnTo>
                  <a:pt x="133588" y="116389"/>
                </a:lnTo>
                <a:lnTo>
                  <a:pt x="145733" y="64769"/>
                </a:lnTo>
                <a:lnTo>
                  <a:pt x="157877" y="26425"/>
                </a:lnTo>
                <a:lnTo>
                  <a:pt x="170021" y="4395"/>
                </a:lnTo>
                <a:lnTo>
                  <a:pt x="182166" y="0"/>
                </a:lnTo>
                <a:lnTo>
                  <a:pt x="194310" y="12801"/>
                </a:lnTo>
                <a:lnTo>
                  <a:pt x="206454" y="40731"/>
                </a:lnTo>
                <a:lnTo>
                  <a:pt x="218599" y="80367"/>
                </a:lnTo>
                <a:lnTo>
                  <a:pt x="230743" y="127332"/>
                </a:lnTo>
                <a:lnTo>
                  <a:pt x="242888" y="176754"/>
                </a:lnTo>
                <a:lnTo>
                  <a:pt x="255032" y="223765"/>
                </a:lnTo>
                <a:lnTo>
                  <a:pt x="267176" y="263967"/>
                </a:lnTo>
                <a:lnTo>
                  <a:pt x="279321" y="293829"/>
                </a:lnTo>
                <a:lnTo>
                  <a:pt x="291465" y="310986"/>
                </a:lnTo>
                <a:lnTo>
                  <a:pt x="303609" y="314409"/>
                </a:lnTo>
                <a:lnTo>
                  <a:pt x="315754" y="304440"/>
                </a:lnTo>
                <a:lnTo>
                  <a:pt x="327898" y="282688"/>
                </a:lnTo>
                <a:lnTo>
                  <a:pt x="340042" y="251819"/>
                </a:lnTo>
                <a:lnTo>
                  <a:pt x="352187" y="215244"/>
                </a:lnTo>
                <a:lnTo>
                  <a:pt x="364331" y="176754"/>
                </a:lnTo>
                <a:lnTo>
                  <a:pt x="376476" y="140141"/>
                </a:lnTo>
                <a:lnTo>
                  <a:pt x="388620" y="108831"/>
                </a:lnTo>
                <a:lnTo>
                  <a:pt x="400764" y="85575"/>
                </a:lnTo>
                <a:lnTo>
                  <a:pt x="412909" y="72213"/>
                </a:lnTo>
                <a:lnTo>
                  <a:pt x="425053" y="69547"/>
                </a:lnTo>
                <a:lnTo>
                  <a:pt x="437197" y="77312"/>
                </a:lnTo>
                <a:lnTo>
                  <a:pt x="449342" y="94252"/>
                </a:lnTo>
                <a:lnTo>
                  <a:pt x="461486" y="118292"/>
                </a:lnTo>
                <a:lnTo>
                  <a:pt x="473631" y="146778"/>
                </a:lnTo>
                <a:lnTo>
                  <a:pt x="485775" y="176754"/>
                </a:lnTo>
                <a:lnTo>
                  <a:pt x="497919" y="205268"/>
                </a:lnTo>
                <a:lnTo>
                  <a:pt x="510064" y="229651"/>
                </a:lnTo>
                <a:lnTo>
                  <a:pt x="522208" y="247764"/>
                </a:lnTo>
                <a:lnTo>
                  <a:pt x="534353" y="258170"/>
                </a:lnTo>
                <a:lnTo>
                  <a:pt x="546497" y="260246"/>
                </a:lnTo>
                <a:lnTo>
                  <a:pt x="558641" y="254199"/>
                </a:lnTo>
                <a:lnTo>
                  <a:pt x="570786" y="241006"/>
                </a:lnTo>
                <a:lnTo>
                  <a:pt x="582930" y="222283"/>
                </a:lnTo>
                <a:lnTo>
                  <a:pt x="595074" y="200099"/>
                </a:lnTo>
                <a:lnTo>
                  <a:pt x="607219" y="176754"/>
                </a:lnTo>
                <a:lnTo>
                  <a:pt x="619363" y="154547"/>
                </a:lnTo>
                <a:lnTo>
                  <a:pt x="631508" y="135557"/>
                </a:lnTo>
                <a:lnTo>
                  <a:pt x="643652" y="121451"/>
                </a:lnTo>
                <a:lnTo>
                  <a:pt x="655796" y="113347"/>
                </a:lnTo>
                <a:lnTo>
                  <a:pt x="667941" y="111730"/>
                </a:lnTo>
                <a:lnTo>
                  <a:pt x="680085" y="116439"/>
                </a:lnTo>
                <a:lnTo>
                  <a:pt x="692229" y="126714"/>
                </a:lnTo>
                <a:lnTo>
                  <a:pt x="704374" y="141295"/>
                </a:lnTo>
                <a:lnTo>
                  <a:pt x="716518" y="158572"/>
                </a:lnTo>
                <a:lnTo>
                  <a:pt x="728663" y="176754"/>
                </a:lnTo>
                <a:lnTo>
                  <a:pt x="740807" y="194048"/>
                </a:lnTo>
                <a:lnTo>
                  <a:pt x="752951" y="208838"/>
                </a:lnTo>
                <a:lnTo>
                  <a:pt x="765096" y="219823"/>
                </a:lnTo>
                <a:lnTo>
                  <a:pt x="777240" y="226135"/>
                </a:lnTo>
                <a:lnTo>
                  <a:pt x="789384" y="227394"/>
                </a:lnTo>
                <a:lnTo>
                  <a:pt x="801529" y="223727"/>
                </a:lnTo>
                <a:lnTo>
                  <a:pt x="813673" y="215725"/>
                </a:lnTo>
                <a:lnTo>
                  <a:pt x="825817" y="204369"/>
                </a:lnTo>
                <a:lnTo>
                  <a:pt x="837962" y="190913"/>
                </a:lnTo>
                <a:lnTo>
                  <a:pt x="850106" y="176754"/>
                </a:lnTo>
                <a:lnTo>
                  <a:pt x="862251" y="163285"/>
                </a:lnTo>
                <a:lnTo>
                  <a:pt x="874395" y="151766"/>
                </a:lnTo>
                <a:lnTo>
                  <a:pt x="886539" y="143211"/>
                </a:lnTo>
                <a:lnTo>
                  <a:pt x="898684" y="138295"/>
                </a:lnTo>
                <a:lnTo>
                  <a:pt x="910828" y="137315"/>
                </a:lnTo>
                <a:lnTo>
                  <a:pt x="922972" y="140171"/>
                </a:lnTo>
                <a:lnTo>
                  <a:pt x="935117" y="146403"/>
                </a:lnTo>
                <a:lnTo>
                  <a:pt x="947261" y="155247"/>
                </a:lnTo>
                <a:lnTo>
                  <a:pt x="959406" y="165726"/>
                </a:lnTo>
                <a:lnTo>
                  <a:pt x="971550" y="176754"/>
                </a:lnTo>
                <a:lnTo>
                  <a:pt x="983694" y="187243"/>
                </a:lnTo>
                <a:lnTo>
                  <a:pt x="995839" y="196214"/>
                </a:lnTo>
                <a:lnTo>
                  <a:pt x="1007983" y="202877"/>
                </a:lnTo>
                <a:lnTo>
                  <a:pt x="1020128" y="206705"/>
                </a:lnTo>
                <a:lnTo>
                  <a:pt x="1032272" y="207469"/>
                </a:lnTo>
                <a:lnTo>
                  <a:pt x="1044416" y="205244"/>
                </a:lnTo>
                <a:lnTo>
                  <a:pt x="1056561" y="200391"/>
                </a:lnTo>
                <a:lnTo>
                  <a:pt x="1068705" y="193503"/>
                </a:lnTo>
                <a:lnTo>
                  <a:pt x="1080849" y="185342"/>
                </a:lnTo>
                <a:lnTo>
                  <a:pt x="1092994" y="176754"/>
                </a:lnTo>
                <a:lnTo>
                  <a:pt x="1105138" y="168584"/>
                </a:lnTo>
                <a:lnTo>
                  <a:pt x="1117283" y="161598"/>
                </a:lnTo>
                <a:lnTo>
                  <a:pt x="1129427" y="156409"/>
                </a:lnTo>
                <a:lnTo>
                  <a:pt x="1141571" y="153427"/>
                </a:lnTo>
                <a:lnTo>
                  <a:pt x="1153716" y="152833"/>
                </a:lnTo>
                <a:lnTo>
                  <a:pt x="1165860" y="154565"/>
                </a:lnTo>
                <a:lnTo>
                  <a:pt x="1178004" y="158345"/>
                </a:lnTo>
                <a:lnTo>
                  <a:pt x="1190149" y="163709"/>
                </a:lnTo>
                <a:lnTo>
                  <a:pt x="1202293" y="170065"/>
                </a:lnTo>
                <a:lnTo>
                  <a:pt x="1214438" y="176754"/>
                </a:lnTo>
                <a:lnTo>
                  <a:pt x="1226582" y="183116"/>
                </a:lnTo>
                <a:lnTo>
                  <a:pt x="1238726" y="188557"/>
                </a:lnTo>
                <a:lnTo>
                  <a:pt x="1250871" y="192598"/>
                </a:lnTo>
                <a:lnTo>
                  <a:pt x="1263015" y="194920"/>
                </a:lnTo>
                <a:lnTo>
                  <a:pt x="1275159" y="195383"/>
                </a:lnTo>
                <a:lnTo>
                  <a:pt x="1287304" y="194034"/>
                </a:lnTo>
                <a:lnTo>
                  <a:pt x="1299448" y="191090"/>
                </a:lnTo>
                <a:lnTo>
                  <a:pt x="1311593" y="186913"/>
                </a:lnTo>
                <a:lnTo>
                  <a:pt x="1323737" y="181963"/>
                </a:lnTo>
                <a:lnTo>
                  <a:pt x="1335881" y="176754"/>
                </a:lnTo>
                <a:lnTo>
                  <a:pt x="1348026" y="171799"/>
                </a:lnTo>
                <a:lnTo>
                  <a:pt x="1360170" y="167561"/>
                </a:lnTo>
                <a:lnTo>
                  <a:pt x="1372314" y="164414"/>
                </a:lnTo>
                <a:lnTo>
                  <a:pt x="1384459" y="162606"/>
                </a:lnTo>
                <a:lnTo>
                  <a:pt x="1396603" y="162245"/>
                </a:lnTo>
                <a:lnTo>
                  <a:pt x="1408747" y="163296"/>
                </a:lnTo>
                <a:lnTo>
                  <a:pt x="1420892" y="165588"/>
                </a:lnTo>
                <a:lnTo>
                  <a:pt x="1433036" y="168842"/>
                </a:lnTo>
                <a:lnTo>
                  <a:pt x="1445181" y="172697"/>
                </a:lnTo>
                <a:lnTo>
                  <a:pt x="1457325" y="176754"/>
                </a:lnTo>
              </a:path>
            </a:pathLst>
          </a:custGeom>
          <a:noFill xmlns:a="http://schemas.openxmlformats.org/drawingml/2006/main"/>
          <a:ln xmlns:a="http://schemas.openxmlformats.org/drawingml/2006/main" w="28575">
            <a:solidFill>
              <a:srgbClr val="47705A"/>
            </a:solidFill>
          </a:ln>
        </p:spPr>
      </p:sp>
      <p:sp>
        <p:nvSpPr>
          <p:cNvPr id="15" name="">
            <a:extLst xmlns:a="http://schemas.openxmlformats.org/drawingml/2006/main">
              <a:ext uri="{FF2B5EF4-FFF2-40B4-BE49-F238E27FC236}">
                <a16:creationId xmlns:a16="http://schemas.microsoft.com/office/drawing/2014/main" id="{A004FB73-1C57-4555-8A19-E795CFD70F2C}"/>
              </a:ext>
            </a:extLst>
          </p:cNvPr>
          <p:cNvSpPr>
            <a:spLocks xmlns:a="http://schemas.openxmlformats.org/drawingml/2006/main" noGrp="1"/>
          </p:cNvSpPr>
          <p:nvPr/>
        </p:nvSpPr>
        <p:spPr>
          <a:xfrm xmlns:a="http://schemas.openxmlformats.org/drawingml/2006/main">
            <a:off x="5162550" y="3238500"/>
            <a:ext cx="11334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0">
                <a:solidFill>
                  <a:srgbClr val="263B31"/>
                </a:solidFill>
                <a:latin typeface="Arial"/>
                <a:ea typeface="Arial"/>
                <a:cs typeface="Arial"/>
              </a:defRPr>
            </a:pPr>
            <a:r>
              <a:rPr sz="2100" b="0">
                <a:solidFill>
                  <a:srgbClr val="263B31"/>
                </a:solidFill>
                <a:latin typeface="Arial"/>
                <a:ea typeface="Arial"/>
                <a:cs typeface="Arial"/>
              </a:rPr>
              <a:t>пауза</a:t>
            </a:r>
          </a:p>
          <a:p xmlns:a="http://schemas.openxmlformats.org/drawingml/2006/main">
            <a:pPr algn="ctr">
              <a:defRPr sz="2100" b="0">
                <a:solidFill>
                  <a:srgbClr val="263B31"/>
                </a:solidFill>
                <a:latin typeface="Arial"/>
                <a:ea typeface="Arial"/>
                <a:cs typeface="Arial"/>
              </a:defRPr>
            </a:pPr>
            <a:r>
              <a:rPr sz="2100" b="0">
                <a:solidFill>
                  <a:srgbClr val="263B31"/>
                </a:solidFill>
                <a:latin typeface="Arial"/>
                <a:ea typeface="Arial"/>
                <a:cs typeface="Arial"/>
              </a:rPr>
              <a:t>0,5 с</a:t>
            </a:r>
          </a:p>
        </p:txBody>
      </p:sp>
      <p:sp>
        <p:nvSpPr>
          <p:cNvPr id="16" name="">
            <a:extLst xmlns:a="http://schemas.openxmlformats.org/drawingml/2006/main">
              <a:ext uri="{FF2B5EF4-FFF2-40B4-BE49-F238E27FC236}">
                <a16:creationId xmlns:a16="http://schemas.microsoft.com/office/drawing/2014/main" id="{CDE9E6E7-8003-4AE5-BC1D-C03031F5532C}"/>
              </a:ext>
            </a:extLst>
          </p:cNvPr>
          <p:cNvSpPr>
            <a:spLocks xmlns:a="http://schemas.openxmlformats.org/drawingml/2006/main" noGrp="1"/>
          </p:cNvSpPr>
          <p:nvPr/>
        </p:nvSpPr>
        <p:spPr>
          <a:xfrm xmlns:a="http://schemas.openxmlformats.org/drawingml/2006/main">
            <a:off x="6572250" y="2571750"/>
            <a:ext cx="1219200" cy="695325"/>
          </a:xfrm>
          <a:prstGeom xmlns:a="http://schemas.openxmlformats.org/drawingml/2006/main" prst="ellipse">
            <a:avLst/>
          </a:prstGeom>
          <a:solidFill xmlns:a="http://schemas.openxmlformats.org/drawingml/2006/main">
            <a:srgbClr val="EDF3EB"/>
          </a:solidFill>
          <a:ln xmlns:a="http://schemas.openxmlformats.org/drawingml/2006/main" w="28575">
            <a:solidFill>
              <a:srgbClr val="47705A"/>
            </a:solidFill>
          </a:ln>
        </p:spPr>
      </p:sp>
      <p:sp>
        <p:nvSpPr>
          <p:cNvPr id="17" name="">
            <a:extLst xmlns:a="http://schemas.openxmlformats.org/drawingml/2006/main">
              <a:ext uri="{FF2B5EF4-FFF2-40B4-BE49-F238E27FC236}">
                <a16:creationId xmlns:a16="http://schemas.microsoft.com/office/drawing/2014/main" id="{F9DDB57E-54B7-48CE-AE11-EC1445EC2C62}"/>
              </a:ext>
            </a:extLst>
          </p:cNvPr>
          <p:cNvSpPr>
            <a:spLocks xmlns:a="http://schemas.openxmlformats.org/drawingml/2006/main" noGrp="1"/>
          </p:cNvSpPr>
          <p:nvPr/>
        </p:nvSpPr>
        <p:spPr>
          <a:xfrm xmlns:a="http://schemas.openxmlformats.org/drawingml/2006/main">
            <a:off x="7181850" y="3257550"/>
            <a:ext cx="9525" cy="561975"/>
          </a:xfrm>
          <a:custGeom xmlns:a="http://schemas.openxmlformats.org/drawingml/2006/main">
            <a:pathLst>
              <a:path w="9525" h="561975">
                <a:moveTo>
                  <a:pt x="0" y="0"/>
                </a:moveTo>
                <a:lnTo>
                  <a:pt x="0" y="561975"/>
                </a:lnTo>
              </a:path>
            </a:pathLst>
          </a:custGeom>
          <a:noFill xmlns:a="http://schemas.openxmlformats.org/drawingml/2006/main"/>
          <a:ln xmlns:a="http://schemas.openxmlformats.org/drawingml/2006/main" w="38100">
            <a:solidFill>
              <a:srgbClr val="A96743"/>
            </a:solidFill>
          </a:ln>
        </p:spPr>
      </p:sp>
      <p:sp>
        <p:nvSpPr>
          <p:cNvPr id="18" name="">
            <a:extLst xmlns:a="http://schemas.openxmlformats.org/drawingml/2006/main">
              <a:ext uri="{FF2B5EF4-FFF2-40B4-BE49-F238E27FC236}">
                <a16:creationId xmlns:a16="http://schemas.microsoft.com/office/drawing/2014/main" id="{88039ECC-E556-4AA7-91C0-724DF992AFE8}"/>
              </a:ext>
            </a:extLst>
          </p:cNvPr>
          <p:cNvSpPr>
            <a:spLocks xmlns:a="http://schemas.openxmlformats.org/drawingml/2006/main" noGrp="1"/>
          </p:cNvSpPr>
          <p:nvPr/>
        </p:nvSpPr>
        <p:spPr>
          <a:xfrm xmlns:a="http://schemas.openxmlformats.org/drawingml/2006/main">
            <a:off x="6981825" y="2657475"/>
            <a:ext cx="40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1">
                <a:solidFill>
                  <a:srgbClr val="47705A"/>
                </a:solidFill>
                <a:latin typeface="Arial"/>
                <a:ea typeface="Arial"/>
                <a:cs typeface="Arial"/>
              </a:defRPr>
            </a:pPr>
            <a:r>
              <a:rPr sz="2475" b="1">
                <a:solidFill>
                  <a:srgbClr val="47705A"/>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3B2DF2B4-F049-4822-A1B1-EE2F6CCC6D82}"/>
              </a:ext>
            </a:extLst>
          </p:cNvPr>
          <p:cNvSpPr>
            <a:spLocks xmlns:a="http://schemas.openxmlformats.org/drawingml/2006/main" noGrp="1"/>
          </p:cNvSpPr>
          <p:nvPr/>
        </p:nvSpPr>
        <p:spPr>
          <a:xfrm xmlns:a="http://schemas.openxmlformats.org/drawingml/2006/main">
            <a:off x="6429375" y="4476750"/>
            <a:ext cx="158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25" b="1">
                <a:solidFill>
                  <a:srgbClr val="39667D"/>
                </a:solidFill>
                <a:latin typeface="Arial"/>
                <a:ea typeface="Arial"/>
                <a:cs typeface="Arial"/>
              </a:defRPr>
            </a:pPr>
            <a:r>
              <a:rPr sz="2325" b="1">
                <a:solidFill>
                  <a:srgbClr val="39667D"/>
                </a:solidFill>
                <a:latin typeface="Arial"/>
                <a:ea typeface="Arial"/>
                <a:cs typeface="Arial"/>
              </a:rPr>
              <a:t>1,02 с</a:t>
            </a:r>
          </a:p>
        </p:txBody>
      </p:sp>
      <p:sp>
        <p:nvSpPr>
          <p:cNvPr id="20" name="">
            <a:extLst xmlns:a="http://schemas.openxmlformats.org/drawingml/2006/main">
              <a:ext uri="{FF2B5EF4-FFF2-40B4-BE49-F238E27FC236}">
                <a16:creationId xmlns:a16="http://schemas.microsoft.com/office/drawing/2014/main" id="{9E4CD85E-33C1-460D-9C60-0B065CE63FFA}"/>
              </a:ext>
            </a:extLst>
          </p:cNvPr>
          <p:cNvSpPr>
            <a:spLocks xmlns:a="http://schemas.openxmlformats.org/drawingml/2006/main" noGrp="1"/>
          </p:cNvSpPr>
          <p:nvPr/>
        </p:nvSpPr>
        <p:spPr>
          <a:xfrm xmlns:a="http://schemas.openxmlformats.org/drawingml/2006/main">
            <a:off x="6515100" y="3871371"/>
            <a:ext cx="1457325" cy="403710"/>
          </a:xfrm>
          <a:custGeom xmlns:a="http://schemas.openxmlformats.org/drawingml/2006/main">
            <a:pathLst>
              <a:path w="1457325" h="403710">
                <a:moveTo>
                  <a:pt x="0" y="176754"/>
                </a:moveTo>
                <a:lnTo>
                  <a:pt x="12144" y="254263"/>
                </a:lnTo>
                <a:lnTo>
                  <a:pt x="24289" y="320545"/>
                </a:lnTo>
                <a:lnTo>
                  <a:pt x="36433" y="369779"/>
                </a:lnTo>
                <a:lnTo>
                  <a:pt x="48578" y="398066"/>
                </a:lnTo>
                <a:lnTo>
                  <a:pt x="60722" y="403710"/>
                </a:lnTo>
                <a:lnTo>
                  <a:pt x="72866" y="387272"/>
                </a:lnTo>
                <a:lnTo>
                  <a:pt x="85011" y="351410"/>
                </a:lnTo>
                <a:lnTo>
                  <a:pt x="97155" y="300516"/>
                </a:lnTo>
                <a:lnTo>
                  <a:pt x="109299" y="240213"/>
                </a:lnTo>
                <a:lnTo>
                  <a:pt x="121444" y="176754"/>
                </a:lnTo>
                <a:lnTo>
                  <a:pt x="133588" y="116389"/>
                </a:lnTo>
                <a:lnTo>
                  <a:pt x="145732" y="64769"/>
                </a:lnTo>
                <a:lnTo>
                  <a:pt x="157877" y="26425"/>
                </a:lnTo>
                <a:lnTo>
                  <a:pt x="170021" y="4395"/>
                </a:lnTo>
                <a:lnTo>
                  <a:pt x="182166" y="0"/>
                </a:lnTo>
                <a:lnTo>
                  <a:pt x="194310" y="12801"/>
                </a:lnTo>
                <a:lnTo>
                  <a:pt x="206454" y="40731"/>
                </a:lnTo>
                <a:lnTo>
                  <a:pt x="218599" y="80367"/>
                </a:lnTo>
                <a:lnTo>
                  <a:pt x="230743" y="127332"/>
                </a:lnTo>
                <a:lnTo>
                  <a:pt x="242888" y="176754"/>
                </a:lnTo>
                <a:lnTo>
                  <a:pt x="255032" y="223765"/>
                </a:lnTo>
                <a:lnTo>
                  <a:pt x="267176" y="263967"/>
                </a:lnTo>
                <a:lnTo>
                  <a:pt x="279321" y="293829"/>
                </a:lnTo>
                <a:lnTo>
                  <a:pt x="291465" y="310986"/>
                </a:lnTo>
                <a:lnTo>
                  <a:pt x="303609" y="314409"/>
                </a:lnTo>
                <a:lnTo>
                  <a:pt x="315754" y="304440"/>
                </a:lnTo>
                <a:lnTo>
                  <a:pt x="327898" y="282688"/>
                </a:lnTo>
                <a:lnTo>
                  <a:pt x="340043" y="251819"/>
                </a:lnTo>
                <a:lnTo>
                  <a:pt x="352187" y="215244"/>
                </a:lnTo>
                <a:lnTo>
                  <a:pt x="364331" y="176754"/>
                </a:lnTo>
                <a:lnTo>
                  <a:pt x="376476" y="140141"/>
                </a:lnTo>
                <a:lnTo>
                  <a:pt x="388620" y="108831"/>
                </a:lnTo>
                <a:lnTo>
                  <a:pt x="400764" y="85575"/>
                </a:lnTo>
                <a:lnTo>
                  <a:pt x="412909" y="72213"/>
                </a:lnTo>
                <a:lnTo>
                  <a:pt x="425053" y="69547"/>
                </a:lnTo>
                <a:lnTo>
                  <a:pt x="437197" y="77312"/>
                </a:lnTo>
                <a:lnTo>
                  <a:pt x="449342" y="94252"/>
                </a:lnTo>
                <a:lnTo>
                  <a:pt x="461486" y="118292"/>
                </a:lnTo>
                <a:lnTo>
                  <a:pt x="473631" y="146778"/>
                </a:lnTo>
                <a:lnTo>
                  <a:pt x="485775" y="176754"/>
                </a:lnTo>
                <a:lnTo>
                  <a:pt x="497919" y="205268"/>
                </a:lnTo>
                <a:lnTo>
                  <a:pt x="510064" y="229651"/>
                </a:lnTo>
                <a:lnTo>
                  <a:pt x="522208" y="247764"/>
                </a:lnTo>
                <a:lnTo>
                  <a:pt x="534353" y="258170"/>
                </a:lnTo>
                <a:lnTo>
                  <a:pt x="546497" y="260246"/>
                </a:lnTo>
                <a:lnTo>
                  <a:pt x="558641" y="254199"/>
                </a:lnTo>
                <a:lnTo>
                  <a:pt x="570786" y="241006"/>
                </a:lnTo>
                <a:lnTo>
                  <a:pt x="582930" y="222283"/>
                </a:lnTo>
                <a:lnTo>
                  <a:pt x="595074" y="200099"/>
                </a:lnTo>
                <a:lnTo>
                  <a:pt x="607219" y="176754"/>
                </a:lnTo>
                <a:lnTo>
                  <a:pt x="619363" y="154547"/>
                </a:lnTo>
                <a:lnTo>
                  <a:pt x="631507" y="135557"/>
                </a:lnTo>
                <a:lnTo>
                  <a:pt x="643652" y="121451"/>
                </a:lnTo>
                <a:lnTo>
                  <a:pt x="655796" y="113347"/>
                </a:lnTo>
                <a:lnTo>
                  <a:pt x="667941" y="111730"/>
                </a:lnTo>
                <a:lnTo>
                  <a:pt x="680085" y="116439"/>
                </a:lnTo>
                <a:lnTo>
                  <a:pt x="692229" y="126714"/>
                </a:lnTo>
                <a:lnTo>
                  <a:pt x="704374" y="141295"/>
                </a:lnTo>
                <a:lnTo>
                  <a:pt x="716518" y="158572"/>
                </a:lnTo>
                <a:lnTo>
                  <a:pt x="728663" y="176754"/>
                </a:lnTo>
                <a:lnTo>
                  <a:pt x="740807" y="194048"/>
                </a:lnTo>
                <a:lnTo>
                  <a:pt x="752951" y="208838"/>
                </a:lnTo>
                <a:lnTo>
                  <a:pt x="765096" y="219823"/>
                </a:lnTo>
                <a:lnTo>
                  <a:pt x="777240" y="226135"/>
                </a:lnTo>
                <a:lnTo>
                  <a:pt x="789384" y="227394"/>
                </a:lnTo>
                <a:lnTo>
                  <a:pt x="801529" y="223727"/>
                </a:lnTo>
                <a:lnTo>
                  <a:pt x="813673" y="215725"/>
                </a:lnTo>
                <a:lnTo>
                  <a:pt x="825818" y="204369"/>
                </a:lnTo>
                <a:lnTo>
                  <a:pt x="837962" y="190913"/>
                </a:lnTo>
                <a:lnTo>
                  <a:pt x="850106" y="176754"/>
                </a:lnTo>
                <a:lnTo>
                  <a:pt x="862251" y="163285"/>
                </a:lnTo>
                <a:lnTo>
                  <a:pt x="874395" y="151766"/>
                </a:lnTo>
                <a:lnTo>
                  <a:pt x="886539" y="143211"/>
                </a:lnTo>
                <a:lnTo>
                  <a:pt x="898684" y="138295"/>
                </a:lnTo>
                <a:lnTo>
                  <a:pt x="910828" y="137315"/>
                </a:lnTo>
                <a:lnTo>
                  <a:pt x="922972" y="140171"/>
                </a:lnTo>
                <a:lnTo>
                  <a:pt x="935117" y="146403"/>
                </a:lnTo>
                <a:lnTo>
                  <a:pt x="947261" y="155247"/>
                </a:lnTo>
                <a:lnTo>
                  <a:pt x="959406" y="165726"/>
                </a:lnTo>
                <a:lnTo>
                  <a:pt x="971550" y="176754"/>
                </a:lnTo>
                <a:lnTo>
                  <a:pt x="983694" y="187243"/>
                </a:lnTo>
                <a:lnTo>
                  <a:pt x="995839" y="196214"/>
                </a:lnTo>
                <a:lnTo>
                  <a:pt x="1007983" y="202877"/>
                </a:lnTo>
                <a:lnTo>
                  <a:pt x="1020128" y="206705"/>
                </a:lnTo>
                <a:lnTo>
                  <a:pt x="1032272" y="207469"/>
                </a:lnTo>
                <a:lnTo>
                  <a:pt x="1044416" y="205244"/>
                </a:lnTo>
                <a:lnTo>
                  <a:pt x="1056561" y="200391"/>
                </a:lnTo>
                <a:lnTo>
                  <a:pt x="1068705" y="193503"/>
                </a:lnTo>
                <a:lnTo>
                  <a:pt x="1080849" y="185342"/>
                </a:lnTo>
                <a:lnTo>
                  <a:pt x="1092994" y="176754"/>
                </a:lnTo>
                <a:lnTo>
                  <a:pt x="1105138" y="168584"/>
                </a:lnTo>
                <a:lnTo>
                  <a:pt x="1117282" y="161598"/>
                </a:lnTo>
                <a:lnTo>
                  <a:pt x="1129427" y="156409"/>
                </a:lnTo>
                <a:lnTo>
                  <a:pt x="1141571" y="153427"/>
                </a:lnTo>
                <a:lnTo>
                  <a:pt x="1153716" y="152833"/>
                </a:lnTo>
                <a:lnTo>
                  <a:pt x="1165860" y="154565"/>
                </a:lnTo>
                <a:lnTo>
                  <a:pt x="1178004" y="158345"/>
                </a:lnTo>
                <a:lnTo>
                  <a:pt x="1190149" y="163709"/>
                </a:lnTo>
                <a:lnTo>
                  <a:pt x="1202293" y="170065"/>
                </a:lnTo>
                <a:lnTo>
                  <a:pt x="1214438" y="176754"/>
                </a:lnTo>
                <a:lnTo>
                  <a:pt x="1226582" y="183116"/>
                </a:lnTo>
                <a:lnTo>
                  <a:pt x="1238726" y="188557"/>
                </a:lnTo>
                <a:lnTo>
                  <a:pt x="1250871" y="192598"/>
                </a:lnTo>
                <a:lnTo>
                  <a:pt x="1263015" y="194920"/>
                </a:lnTo>
                <a:lnTo>
                  <a:pt x="1275159" y="195383"/>
                </a:lnTo>
                <a:lnTo>
                  <a:pt x="1287304" y="194034"/>
                </a:lnTo>
                <a:lnTo>
                  <a:pt x="1299448" y="191090"/>
                </a:lnTo>
                <a:lnTo>
                  <a:pt x="1311593" y="186913"/>
                </a:lnTo>
                <a:lnTo>
                  <a:pt x="1323737" y="181963"/>
                </a:lnTo>
                <a:lnTo>
                  <a:pt x="1335881" y="176754"/>
                </a:lnTo>
                <a:lnTo>
                  <a:pt x="1348026" y="171799"/>
                </a:lnTo>
                <a:lnTo>
                  <a:pt x="1360170" y="167561"/>
                </a:lnTo>
                <a:lnTo>
                  <a:pt x="1372314" y="164414"/>
                </a:lnTo>
                <a:lnTo>
                  <a:pt x="1384459" y="162606"/>
                </a:lnTo>
                <a:lnTo>
                  <a:pt x="1396603" y="162245"/>
                </a:lnTo>
                <a:lnTo>
                  <a:pt x="1408747" y="163296"/>
                </a:lnTo>
                <a:lnTo>
                  <a:pt x="1420892" y="165588"/>
                </a:lnTo>
                <a:lnTo>
                  <a:pt x="1433036" y="168842"/>
                </a:lnTo>
                <a:lnTo>
                  <a:pt x="1445181" y="172697"/>
                </a:lnTo>
                <a:lnTo>
                  <a:pt x="1457325" y="176754"/>
                </a:lnTo>
              </a:path>
            </a:pathLst>
          </a:custGeom>
          <a:noFill xmlns:a="http://schemas.openxmlformats.org/drawingml/2006/main"/>
          <a:ln xmlns:a="http://schemas.openxmlformats.org/drawingml/2006/main" w="28575">
            <a:solidFill>
              <a:srgbClr val="47705A"/>
            </a:solidFill>
          </a:ln>
        </p:spPr>
      </p:sp>
      <p:sp>
        <p:nvSpPr>
          <p:cNvPr id="21" name="">
            <a:extLst xmlns:a="http://schemas.openxmlformats.org/drawingml/2006/main">
              <a:ext uri="{FF2B5EF4-FFF2-40B4-BE49-F238E27FC236}">
                <a16:creationId xmlns:a16="http://schemas.microsoft.com/office/drawing/2014/main" id="{95CC4F4F-3982-470E-8DAA-D608EECEA626}"/>
              </a:ext>
            </a:extLst>
          </p:cNvPr>
          <p:cNvSpPr>
            <a:spLocks xmlns:a="http://schemas.openxmlformats.org/drawingml/2006/main" noGrp="1"/>
          </p:cNvSpPr>
          <p:nvPr/>
        </p:nvSpPr>
        <p:spPr>
          <a:xfrm xmlns:a="http://schemas.openxmlformats.org/drawingml/2006/main">
            <a:off x="8039100" y="3238500"/>
            <a:ext cx="11334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0">
                <a:solidFill>
                  <a:srgbClr val="263B31"/>
                </a:solidFill>
                <a:latin typeface="Arial"/>
                <a:ea typeface="Arial"/>
                <a:cs typeface="Arial"/>
              </a:defRPr>
            </a:pPr>
            <a:r>
              <a:rPr sz="2100" b="0">
                <a:solidFill>
                  <a:srgbClr val="263B31"/>
                </a:solidFill>
                <a:latin typeface="Arial"/>
                <a:ea typeface="Arial"/>
                <a:cs typeface="Arial"/>
              </a:rPr>
              <a:t>пауза</a:t>
            </a:r>
          </a:p>
          <a:p xmlns:a="http://schemas.openxmlformats.org/drawingml/2006/main">
            <a:pPr algn="ctr">
              <a:defRPr sz="2100" b="0">
                <a:solidFill>
                  <a:srgbClr val="263B31"/>
                </a:solidFill>
                <a:latin typeface="Arial"/>
                <a:ea typeface="Arial"/>
                <a:cs typeface="Arial"/>
              </a:defRPr>
            </a:pPr>
            <a:r>
              <a:rPr sz="2100" b="0">
                <a:solidFill>
                  <a:srgbClr val="263B31"/>
                </a:solidFill>
                <a:latin typeface="Arial"/>
                <a:ea typeface="Arial"/>
                <a:cs typeface="Arial"/>
              </a:rPr>
              <a:t>0,5 с</a:t>
            </a:r>
          </a:p>
        </p:txBody>
      </p:sp>
      <p:sp>
        <p:nvSpPr>
          <p:cNvPr id="22" name="">
            <a:extLst xmlns:a="http://schemas.openxmlformats.org/drawingml/2006/main">
              <a:ext uri="{FF2B5EF4-FFF2-40B4-BE49-F238E27FC236}">
                <a16:creationId xmlns:a16="http://schemas.microsoft.com/office/drawing/2014/main" id="{D18ADD7B-5CAD-4CF9-B9FD-6F12CD78AF1C}"/>
              </a:ext>
            </a:extLst>
          </p:cNvPr>
          <p:cNvSpPr>
            <a:spLocks xmlns:a="http://schemas.openxmlformats.org/drawingml/2006/main" noGrp="1"/>
          </p:cNvSpPr>
          <p:nvPr/>
        </p:nvSpPr>
        <p:spPr>
          <a:xfrm xmlns:a="http://schemas.openxmlformats.org/drawingml/2006/main">
            <a:off x="9448800" y="2571750"/>
            <a:ext cx="1219200" cy="695325"/>
          </a:xfrm>
          <a:prstGeom xmlns:a="http://schemas.openxmlformats.org/drawingml/2006/main" prst="ellipse">
            <a:avLst/>
          </a:prstGeom>
          <a:solidFill xmlns:a="http://schemas.openxmlformats.org/drawingml/2006/main">
            <a:srgbClr val="EDF3EB"/>
          </a:solidFill>
          <a:ln xmlns:a="http://schemas.openxmlformats.org/drawingml/2006/main" w="28575">
            <a:solidFill>
              <a:srgbClr val="47705A"/>
            </a:solidFill>
          </a:ln>
        </p:spPr>
      </p:sp>
      <p:sp>
        <p:nvSpPr>
          <p:cNvPr id="23" name="">
            <a:extLst xmlns:a="http://schemas.openxmlformats.org/drawingml/2006/main">
              <a:ext uri="{FF2B5EF4-FFF2-40B4-BE49-F238E27FC236}">
                <a16:creationId xmlns:a16="http://schemas.microsoft.com/office/drawing/2014/main" id="{A7F80406-476C-4E37-AEE8-F20A5AFD56D8}"/>
              </a:ext>
            </a:extLst>
          </p:cNvPr>
          <p:cNvSpPr>
            <a:spLocks xmlns:a="http://schemas.openxmlformats.org/drawingml/2006/main" noGrp="1"/>
          </p:cNvSpPr>
          <p:nvPr/>
        </p:nvSpPr>
        <p:spPr>
          <a:xfrm xmlns:a="http://schemas.openxmlformats.org/drawingml/2006/main">
            <a:off x="10058400" y="3257550"/>
            <a:ext cx="9525" cy="561975"/>
          </a:xfrm>
          <a:custGeom xmlns:a="http://schemas.openxmlformats.org/drawingml/2006/main">
            <a:pathLst>
              <a:path w="9525" h="561975">
                <a:moveTo>
                  <a:pt x="0" y="0"/>
                </a:moveTo>
                <a:lnTo>
                  <a:pt x="0" y="561975"/>
                </a:lnTo>
              </a:path>
            </a:pathLst>
          </a:custGeom>
          <a:noFill xmlns:a="http://schemas.openxmlformats.org/drawingml/2006/main"/>
          <a:ln xmlns:a="http://schemas.openxmlformats.org/drawingml/2006/main" w="38100">
            <a:solidFill>
              <a:srgbClr val="A96743"/>
            </a:solidFill>
          </a:ln>
        </p:spPr>
      </p:sp>
      <p:sp>
        <p:nvSpPr>
          <p:cNvPr id="24" name="">
            <a:extLst xmlns:a="http://schemas.openxmlformats.org/drawingml/2006/main">
              <a:ext uri="{FF2B5EF4-FFF2-40B4-BE49-F238E27FC236}">
                <a16:creationId xmlns:a16="http://schemas.microsoft.com/office/drawing/2014/main" id="{1CA33867-7139-4B8B-A5C7-E5331CFFEED6}"/>
              </a:ext>
            </a:extLst>
          </p:cNvPr>
          <p:cNvSpPr>
            <a:spLocks xmlns:a="http://schemas.openxmlformats.org/drawingml/2006/main" noGrp="1"/>
          </p:cNvSpPr>
          <p:nvPr/>
        </p:nvSpPr>
        <p:spPr>
          <a:xfrm xmlns:a="http://schemas.openxmlformats.org/drawingml/2006/main">
            <a:off x="9858375" y="2657475"/>
            <a:ext cx="40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1">
                <a:solidFill>
                  <a:srgbClr val="47705A"/>
                </a:solidFill>
                <a:latin typeface="Arial"/>
                <a:ea typeface="Arial"/>
                <a:cs typeface="Arial"/>
              </a:defRPr>
            </a:pPr>
            <a:r>
              <a:rPr sz="2475" b="1">
                <a:solidFill>
                  <a:srgbClr val="47705A"/>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B068291D-4F4F-4958-A832-40580187C4DF}"/>
              </a:ext>
            </a:extLst>
          </p:cNvPr>
          <p:cNvSpPr>
            <a:spLocks xmlns:a="http://schemas.openxmlformats.org/drawingml/2006/main" noGrp="1"/>
          </p:cNvSpPr>
          <p:nvPr/>
        </p:nvSpPr>
        <p:spPr>
          <a:xfrm xmlns:a="http://schemas.openxmlformats.org/drawingml/2006/main">
            <a:off x="9305925" y="4476750"/>
            <a:ext cx="158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325" b="1">
                <a:solidFill>
                  <a:srgbClr val="39667D"/>
                </a:solidFill>
                <a:latin typeface="Arial"/>
                <a:ea typeface="Arial"/>
                <a:cs typeface="Arial"/>
              </a:defRPr>
            </a:pPr>
            <a:r>
              <a:rPr sz="2325" b="1">
                <a:solidFill>
                  <a:srgbClr val="39667D"/>
                </a:solidFill>
                <a:latin typeface="Arial"/>
                <a:ea typeface="Arial"/>
                <a:cs typeface="Arial"/>
              </a:rPr>
              <a:t>1,53 с</a:t>
            </a:r>
          </a:p>
        </p:txBody>
      </p:sp>
      <p:sp>
        <p:nvSpPr>
          <p:cNvPr id="26" name="">
            <a:extLst xmlns:a="http://schemas.openxmlformats.org/drawingml/2006/main">
              <a:ext uri="{FF2B5EF4-FFF2-40B4-BE49-F238E27FC236}">
                <a16:creationId xmlns:a16="http://schemas.microsoft.com/office/drawing/2014/main" id="{0757088D-15B5-4D99-BE05-E83B1E2EF44A}"/>
              </a:ext>
            </a:extLst>
          </p:cNvPr>
          <p:cNvSpPr>
            <a:spLocks xmlns:a="http://schemas.openxmlformats.org/drawingml/2006/main" noGrp="1"/>
          </p:cNvSpPr>
          <p:nvPr/>
        </p:nvSpPr>
        <p:spPr>
          <a:xfrm xmlns:a="http://schemas.openxmlformats.org/drawingml/2006/main">
            <a:off x="9391650" y="3871371"/>
            <a:ext cx="1457325" cy="403710"/>
          </a:xfrm>
          <a:custGeom xmlns:a="http://schemas.openxmlformats.org/drawingml/2006/main">
            <a:pathLst>
              <a:path w="1457325" h="403710">
                <a:moveTo>
                  <a:pt x="0" y="176754"/>
                </a:moveTo>
                <a:lnTo>
                  <a:pt x="12144" y="254263"/>
                </a:lnTo>
                <a:lnTo>
                  <a:pt x="24289" y="320545"/>
                </a:lnTo>
                <a:lnTo>
                  <a:pt x="36433" y="369779"/>
                </a:lnTo>
                <a:lnTo>
                  <a:pt x="48578" y="398066"/>
                </a:lnTo>
                <a:lnTo>
                  <a:pt x="60722" y="403710"/>
                </a:lnTo>
                <a:lnTo>
                  <a:pt x="72866" y="387272"/>
                </a:lnTo>
                <a:lnTo>
                  <a:pt x="85011" y="351410"/>
                </a:lnTo>
                <a:lnTo>
                  <a:pt x="97155" y="300516"/>
                </a:lnTo>
                <a:lnTo>
                  <a:pt x="109299" y="240213"/>
                </a:lnTo>
                <a:lnTo>
                  <a:pt x="121444" y="176754"/>
                </a:lnTo>
                <a:lnTo>
                  <a:pt x="133588" y="116389"/>
                </a:lnTo>
                <a:lnTo>
                  <a:pt x="145732" y="64769"/>
                </a:lnTo>
                <a:lnTo>
                  <a:pt x="157877" y="26425"/>
                </a:lnTo>
                <a:lnTo>
                  <a:pt x="170021" y="4395"/>
                </a:lnTo>
                <a:lnTo>
                  <a:pt x="182166" y="0"/>
                </a:lnTo>
                <a:lnTo>
                  <a:pt x="194310" y="12801"/>
                </a:lnTo>
                <a:lnTo>
                  <a:pt x="206454" y="40731"/>
                </a:lnTo>
                <a:lnTo>
                  <a:pt x="218599" y="80367"/>
                </a:lnTo>
                <a:lnTo>
                  <a:pt x="230743" y="127332"/>
                </a:lnTo>
                <a:lnTo>
                  <a:pt x="242888" y="176754"/>
                </a:lnTo>
                <a:lnTo>
                  <a:pt x="255032" y="223765"/>
                </a:lnTo>
                <a:lnTo>
                  <a:pt x="267176" y="263967"/>
                </a:lnTo>
                <a:lnTo>
                  <a:pt x="279321" y="293829"/>
                </a:lnTo>
                <a:lnTo>
                  <a:pt x="291465" y="310986"/>
                </a:lnTo>
                <a:lnTo>
                  <a:pt x="303609" y="314409"/>
                </a:lnTo>
                <a:lnTo>
                  <a:pt x="315754" y="304440"/>
                </a:lnTo>
                <a:lnTo>
                  <a:pt x="327898" y="282688"/>
                </a:lnTo>
                <a:lnTo>
                  <a:pt x="340043" y="251819"/>
                </a:lnTo>
                <a:lnTo>
                  <a:pt x="352187" y="215244"/>
                </a:lnTo>
                <a:lnTo>
                  <a:pt x="364331" y="176754"/>
                </a:lnTo>
                <a:lnTo>
                  <a:pt x="376476" y="140141"/>
                </a:lnTo>
                <a:lnTo>
                  <a:pt x="388620" y="108831"/>
                </a:lnTo>
                <a:lnTo>
                  <a:pt x="400764" y="85575"/>
                </a:lnTo>
                <a:lnTo>
                  <a:pt x="412909" y="72213"/>
                </a:lnTo>
                <a:lnTo>
                  <a:pt x="425053" y="69547"/>
                </a:lnTo>
                <a:lnTo>
                  <a:pt x="437198" y="77312"/>
                </a:lnTo>
                <a:lnTo>
                  <a:pt x="449342" y="94252"/>
                </a:lnTo>
                <a:lnTo>
                  <a:pt x="461486" y="118292"/>
                </a:lnTo>
                <a:lnTo>
                  <a:pt x="473631" y="146778"/>
                </a:lnTo>
                <a:lnTo>
                  <a:pt x="485775" y="176754"/>
                </a:lnTo>
                <a:lnTo>
                  <a:pt x="497919" y="205268"/>
                </a:lnTo>
                <a:lnTo>
                  <a:pt x="510064" y="229651"/>
                </a:lnTo>
                <a:lnTo>
                  <a:pt x="522208" y="247764"/>
                </a:lnTo>
                <a:lnTo>
                  <a:pt x="534352" y="258170"/>
                </a:lnTo>
                <a:lnTo>
                  <a:pt x="546497" y="260246"/>
                </a:lnTo>
                <a:lnTo>
                  <a:pt x="558641" y="254199"/>
                </a:lnTo>
                <a:lnTo>
                  <a:pt x="570786" y="241006"/>
                </a:lnTo>
                <a:lnTo>
                  <a:pt x="582930" y="222283"/>
                </a:lnTo>
                <a:lnTo>
                  <a:pt x="595074" y="200099"/>
                </a:lnTo>
                <a:lnTo>
                  <a:pt x="607219" y="176754"/>
                </a:lnTo>
                <a:lnTo>
                  <a:pt x="619363" y="154547"/>
                </a:lnTo>
                <a:lnTo>
                  <a:pt x="631507" y="135557"/>
                </a:lnTo>
                <a:lnTo>
                  <a:pt x="643652" y="121451"/>
                </a:lnTo>
                <a:lnTo>
                  <a:pt x="655796" y="113347"/>
                </a:lnTo>
                <a:lnTo>
                  <a:pt x="667941" y="111730"/>
                </a:lnTo>
                <a:lnTo>
                  <a:pt x="680085" y="116439"/>
                </a:lnTo>
                <a:lnTo>
                  <a:pt x="692229" y="126714"/>
                </a:lnTo>
                <a:lnTo>
                  <a:pt x="704374" y="141295"/>
                </a:lnTo>
                <a:lnTo>
                  <a:pt x="716518" y="158572"/>
                </a:lnTo>
                <a:lnTo>
                  <a:pt x="728663" y="176754"/>
                </a:lnTo>
                <a:lnTo>
                  <a:pt x="740807" y="194048"/>
                </a:lnTo>
                <a:lnTo>
                  <a:pt x="752951" y="208838"/>
                </a:lnTo>
                <a:lnTo>
                  <a:pt x="765096" y="219823"/>
                </a:lnTo>
                <a:lnTo>
                  <a:pt x="777240" y="226135"/>
                </a:lnTo>
                <a:lnTo>
                  <a:pt x="789384" y="227394"/>
                </a:lnTo>
                <a:lnTo>
                  <a:pt x="801529" y="223727"/>
                </a:lnTo>
                <a:lnTo>
                  <a:pt x="813673" y="215725"/>
                </a:lnTo>
                <a:lnTo>
                  <a:pt x="825818" y="204369"/>
                </a:lnTo>
                <a:lnTo>
                  <a:pt x="837962" y="190913"/>
                </a:lnTo>
                <a:lnTo>
                  <a:pt x="850106" y="176754"/>
                </a:lnTo>
                <a:lnTo>
                  <a:pt x="862251" y="163285"/>
                </a:lnTo>
                <a:lnTo>
                  <a:pt x="874395" y="151766"/>
                </a:lnTo>
                <a:lnTo>
                  <a:pt x="886539" y="143211"/>
                </a:lnTo>
                <a:lnTo>
                  <a:pt x="898684" y="138295"/>
                </a:lnTo>
                <a:lnTo>
                  <a:pt x="910828" y="137315"/>
                </a:lnTo>
                <a:lnTo>
                  <a:pt x="922973" y="140171"/>
                </a:lnTo>
                <a:lnTo>
                  <a:pt x="935117" y="146403"/>
                </a:lnTo>
                <a:lnTo>
                  <a:pt x="947261" y="155247"/>
                </a:lnTo>
                <a:lnTo>
                  <a:pt x="959406" y="165726"/>
                </a:lnTo>
                <a:lnTo>
                  <a:pt x="971550" y="176754"/>
                </a:lnTo>
                <a:lnTo>
                  <a:pt x="983694" y="187243"/>
                </a:lnTo>
                <a:lnTo>
                  <a:pt x="995839" y="196214"/>
                </a:lnTo>
                <a:lnTo>
                  <a:pt x="1007983" y="202877"/>
                </a:lnTo>
                <a:lnTo>
                  <a:pt x="1020127" y="206705"/>
                </a:lnTo>
                <a:lnTo>
                  <a:pt x="1032272" y="207469"/>
                </a:lnTo>
                <a:lnTo>
                  <a:pt x="1044416" y="205244"/>
                </a:lnTo>
                <a:lnTo>
                  <a:pt x="1056561" y="200391"/>
                </a:lnTo>
                <a:lnTo>
                  <a:pt x="1068705" y="193503"/>
                </a:lnTo>
                <a:lnTo>
                  <a:pt x="1080849" y="185342"/>
                </a:lnTo>
                <a:lnTo>
                  <a:pt x="1092994" y="176754"/>
                </a:lnTo>
                <a:lnTo>
                  <a:pt x="1105138" y="168584"/>
                </a:lnTo>
                <a:lnTo>
                  <a:pt x="1117282" y="161598"/>
                </a:lnTo>
                <a:lnTo>
                  <a:pt x="1129427" y="156409"/>
                </a:lnTo>
                <a:lnTo>
                  <a:pt x="1141571" y="153427"/>
                </a:lnTo>
                <a:lnTo>
                  <a:pt x="1153716" y="152833"/>
                </a:lnTo>
                <a:lnTo>
                  <a:pt x="1165860" y="154565"/>
                </a:lnTo>
                <a:lnTo>
                  <a:pt x="1178004" y="158345"/>
                </a:lnTo>
                <a:lnTo>
                  <a:pt x="1190149" y="163709"/>
                </a:lnTo>
                <a:lnTo>
                  <a:pt x="1202293" y="170065"/>
                </a:lnTo>
                <a:lnTo>
                  <a:pt x="1214438" y="176754"/>
                </a:lnTo>
                <a:lnTo>
                  <a:pt x="1226582" y="183116"/>
                </a:lnTo>
                <a:lnTo>
                  <a:pt x="1238726" y="188557"/>
                </a:lnTo>
                <a:lnTo>
                  <a:pt x="1250871" y="192598"/>
                </a:lnTo>
                <a:lnTo>
                  <a:pt x="1263015" y="194920"/>
                </a:lnTo>
                <a:lnTo>
                  <a:pt x="1275159" y="195383"/>
                </a:lnTo>
                <a:lnTo>
                  <a:pt x="1287304" y="194034"/>
                </a:lnTo>
                <a:lnTo>
                  <a:pt x="1299448" y="191090"/>
                </a:lnTo>
                <a:lnTo>
                  <a:pt x="1311593" y="186913"/>
                </a:lnTo>
                <a:lnTo>
                  <a:pt x="1323737" y="181963"/>
                </a:lnTo>
                <a:lnTo>
                  <a:pt x="1335881" y="176754"/>
                </a:lnTo>
                <a:lnTo>
                  <a:pt x="1348026" y="171799"/>
                </a:lnTo>
                <a:lnTo>
                  <a:pt x="1360170" y="167561"/>
                </a:lnTo>
                <a:lnTo>
                  <a:pt x="1372314" y="164414"/>
                </a:lnTo>
                <a:lnTo>
                  <a:pt x="1384459" y="162606"/>
                </a:lnTo>
                <a:lnTo>
                  <a:pt x="1396603" y="162245"/>
                </a:lnTo>
                <a:lnTo>
                  <a:pt x="1408748" y="163296"/>
                </a:lnTo>
                <a:lnTo>
                  <a:pt x="1420892" y="165588"/>
                </a:lnTo>
                <a:lnTo>
                  <a:pt x="1433036" y="168842"/>
                </a:lnTo>
                <a:lnTo>
                  <a:pt x="1445181" y="172697"/>
                </a:lnTo>
                <a:lnTo>
                  <a:pt x="1457325" y="176754"/>
                </a:lnTo>
              </a:path>
            </a:pathLst>
          </a:custGeom>
          <a:noFill xmlns:a="http://schemas.openxmlformats.org/drawingml/2006/main"/>
          <a:ln xmlns:a="http://schemas.openxmlformats.org/drawingml/2006/main" w="28575">
            <a:solidFill>
              <a:srgbClr val="47705A"/>
            </a:solidFill>
          </a:ln>
        </p:spPr>
      </p:sp>
      <p:sp>
        <p:nvSpPr>
          <p:cNvPr id="27" name="">
            <a:extLst xmlns:a="http://schemas.openxmlformats.org/drawingml/2006/main">
              <a:ext uri="{FF2B5EF4-FFF2-40B4-BE49-F238E27FC236}">
                <a16:creationId xmlns:a16="http://schemas.microsoft.com/office/drawing/2014/main" id="{EDE2E50C-102E-4732-898F-5F92049F9E06}"/>
              </a:ext>
            </a:extLst>
          </p:cNvPr>
          <p:cNvSpPr>
            <a:spLocks xmlns:a="http://schemas.openxmlformats.org/drawingml/2006/main" noGrp="1"/>
          </p:cNvSpPr>
          <p:nvPr/>
        </p:nvSpPr>
        <p:spPr>
          <a:xfrm xmlns:a="http://schemas.openxmlformats.org/drawingml/2006/main">
            <a:off x="609600" y="51911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3B31"/>
                </a:solidFill>
                <a:latin typeface="Arial"/>
                <a:ea typeface="Arial"/>
                <a:cs typeface="Arial"/>
              </a:defRPr>
            </a:pPr>
            <a:r>
              <a:rPr sz="2250" b="1">
                <a:solidFill>
                  <a:srgbClr val="263B31"/>
                </a:solidFill>
                <a:latin typeface="Arial"/>
                <a:ea typeface="Arial"/>
                <a:cs typeface="Arial"/>
              </a:rPr>
              <a:t>Один щелчок — около 0,01 с. Вся серия — около 1,54 с.</a:t>
            </a:r>
          </a:p>
        </p:txBody>
      </p:sp>
      <p:sp>
        <p:nvSpPr>
          <p:cNvPr id="28" name="">
            <a:extLst xmlns:a="http://schemas.openxmlformats.org/drawingml/2006/main">
              <a:ext uri="{FF2B5EF4-FFF2-40B4-BE49-F238E27FC236}">
                <a16:creationId xmlns:a16="http://schemas.microsoft.com/office/drawing/2014/main" id="{CFAC3130-8E4C-4834-874B-F1FFCF6E393A}"/>
              </a:ext>
            </a:extLst>
          </p:cNvPr>
          <p:cNvSpPr>
            <a:spLocks xmlns:a="http://schemas.openxmlformats.org/drawingml/2006/main" noGrp="1"/>
          </p:cNvSpPr>
          <p:nvPr/>
        </p:nvSpPr>
        <p:spPr>
          <a:xfrm xmlns:a="http://schemas.openxmlformats.org/drawingml/2006/main">
            <a:off x="609600" y="5772150"/>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Новая серия: пауза ≥3 с и готовность нужных органов.</a:t>
            </a:r>
          </a:p>
          <a:p xmlns:a="http://schemas.openxmlformats.org/drawingml/2006/main">
            <a:pPr algn="l">
              <a:defRPr sz="2100" b="0">
                <a:solidFill>
                  <a:srgbClr val="263B31"/>
                </a:solidFill>
                <a:latin typeface="Arial"/>
                <a:ea typeface="Arial"/>
                <a:cs typeface="Arial"/>
              </a:defRPr>
            </a:pPr>
            <a:r>
              <a:rPr sz="2100" b="0">
                <a:solidFill>
                  <a:srgbClr val="263B31"/>
                </a:solidFill>
                <a:latin typeface="Arial"/>
                <a:ea typeface="Arial"/>
                <a:cs typeface="Arial"/>
              </a:rPr>
              <a:t>Один пуск, четыре последовательных ответвления.</a:t>
            </a:r>
          </a:p>
        </p:txBody>
      </p:sp>
    </p:spTree>
    <p:extLst>
      <p:ext uri="{BB962C8B-B14F-4D97-AF65-F5344CB8AC3E}">
        <p14:creationId xmlns:p14="http://schemas.microsoft.com/office/powerpoint/2010/main" val="134230563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f7eac651df5497d"/>
          <a:stretch xmlns:a="http://schemas.openxmlformats.org/drawingml/2006/main"/>
        </p:blipFill>
        <p:spPr>
          <a:xfrm xmlns:a="http://schemas.openxmlformats.org/drawingml/2006/main">
            <a:off x="2857500" y="190500"/>
            <a:ext cx="6477000" cy="6477000"/>
          </a:xfrm>
          <a:prstGeom xmlns:a="http://schemas.openxmlformats.org/drawingml/2006/main" prst="rect">
            <a:avLst/>
          </a:prstGeom>
        </p:spPr>
      </p:pic>
    </p:spTree>
    <p:extLst>
      <p:ext uri="{BB962C8B-B14F-4D97-AF65-F5344CB8AC3E}">
        <p14:creationId xmlns:p14="http://schemas.microsoft.com/office/powerpoint/2010/main" val="132499867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97ad647200c4785"/>
          <a:stretch xmlns:a="http://schemas.openxmlformats.org/drawingml/2006/main"/>
        </p:blipFill>
        <p:spPr>
          <a:xfrm xmlns:a="http://schemas.openxmlformats.org/drawingml/2006/main">
            <a:off x="2857500" y="190500"/>
            <a:ext cx="6477000" cy="6477000"/>
          </a:xfrm>
          <a:prstGeom xmlns:a="http://schemas.openxmlformats.org/drawingml/2006/main" prst="rect">
            <a:avLst/>
          </a:prstGeom>
        </p:spPr>
      </p:pic>
    </p:spTree>
    <p:extLst>
      <p:ext uri="{BB962C8B-B14F-4D97-AF65-F5344CB8AC3E}">
        <p14:creationId xmlns:p14="http://schemas.microsoft.com/office/powerpoint/2010/main" val="106446649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13fd53a834f49c8"/>
          <a:stretch xmlns:a="http://schemas.openxmlformats.org/drawingml/2006/main"/>
        </p:blipFill>
        <p:spPr>
          <a:xfrm xmlns:a="http://schemas.openxmlformats.org/drawingml/2006/main">
            <a:off x="2857500" y="190500"/>
            <a:ext cx="6477000" cy="6477000"/>
          </a:xfrm>
          <a:prstGeom xmlns:a="http://schemas.openxmlformats.org/drawingml/2006/main" prst="rect">
            <a:avLst/>
          </a:prstGeom>
        </p:spPr>
      </p:pic>
    </p:spTree>
    <p:extLst>
      <p:ext uri="{BB962C8B-B14F-4D97-AF65-F5344CB8AC3E}">
        <p14:creationId xmlns:p14="http://schemas.microsoft.com/office/powerpoint/2010/main" val="72850808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8ac0a72236f4fde"/>
          <a:stretch xmlns:a="http://schemas.openxmlformats.org/drawingml/2006/main"/>
        </p:blipFill>
        <p:spPr>
          <a:xfrm xmlns:a="http://schemas.openxmlformats.org/drawingml/2006/main">
            <a:off x="2857500" y="190500"/>
            <a:ext cx="6477000" cy="6477000"/>
          </a:xfrm>
          <a:prstGeom xmlns:a="http://schemas.openxmlformats.org/drawingml/2006/main" prst="rect">
            <a:avLst/>
          </a:prstGeom>
        </p:spPr>
      </p:pic>
    </p:spTree>
    <p:extLst>
      <p:ext uri="{BB962C8B-B14F-4D97-AF65-F5344CB8AC3E}">
        <p14:creationId xmlns:p14="http://schemas.microsoft.com/office/powerpoint/2010/main" val="1522034844"/>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e1cf3f8d8eb4035"/>
          <a:stretch xmlns:a="http://schemas.openxmlformats.org/drawingml/2006/main"/>
        </p:blipFill>
        <p:spPr>
          <a:xfrm xmlns:a="http://schemas.openxmlformats.org/drawingml/2006/main">
            <a:off x="2857500" y="190500"/>
            <a:ext cx="6477000" cy="6477000"/>
          </a:xfrm>
          <a:prstGeom xmlns:a="http://schemas.openxmlformats.org/drawingml/2006/main" prst="rect">
            <a:avLst/>
          </a:prstGeom>
        </p:spPr>
      </p:pic>
    </p:spTree>
    <p:extLst>
      <p:ext uri="{BB962C8B-B14F-4D97-AF65-F5344CB8AC3E}">
        <p14:creationId xmlns:p14="http://schemas.microsoft.com/office/powerpoint/2010/main" val="85644608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e1670a534104404"/>
          <a:stretch xmlns:a="http://schemas.openxmlformats.org/drawingml/2006/main"/>
        </p:blipFill>
        <p:spPr>
          <a:xfrm xmlns:a="http://schemas.openxmlformats.org/drawingml/2006/main">
            <a:off x="2857500" y="190500"/>
            <a:ext cx="6477000" cy="6477000"/>
          </a:xfrm>
          <a:prstGeom xmlns:a="http://schemas.openxmlformats.org/drawingml/2006/main" prst="rect">
            <a:avLst/>
          </a:prstGeom>
        </p:spPr>
      </p:pic>
    </p:spTree>
    <p:extLst>
      <p:ext uri="{BB962C8B-B14F-4D97-AF65-F5344CB8AC3E}">
        <p14:creationId xmlns:p14="http://schemas.microsoft.com/office/powerpoint/2010/main" val="511389679"/>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2a7e6abf71146ce"/>
          <a:stretch xmlns:a="http://schemas.openxmlformats.org/drawingml/2006/main"/>
        </p:blipFill>
        <p:spPr>
          <a:xfrm xmlns:a="http://schemas.openxmlformats.org/drawingml/2006/main">
            <a:off x="2857500" y="190500"/>
            <a:ext cx="6477000" cy="6477000"/>
          </a:xfrm>
          <a:prstGeom xmlns:a="http://schemas.openxmlformats.org/drawingml/2006/main" prst="rect">
            <a:avLst/>
          </a:prstGeom>
        </p:spPr>
      </p:pic>
    </p:spTree>
    <p:extLst>
      <p:ext uri="{BB962C8B-B14F-4D97-AF65-F5344CB8AC3E}">
        <p14:creationId xmlns:p14="http://schemas.microsoft.com/office/powerpoint/2010/main" val="107855688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9e9a91617df4e61"/>
          <a:stretch xmlns:a="http://schemas.openxmlformats.org/drawingml/2006/main"/>
        </p:blipFill>
        <p:spPr>
          <a:xfrm xmlns:a="http://schemas.openxmlformats.org/drawingml/2006/main">
            <a:off x="2857500" y="190500"/>
            <a:ext cx="6477000" cy="6477000"/>
          </a:xfrm>
          <a:prstGeom xmlns:a="http://schemas.openxmlformats.org/drawingml/2006/main" prst="rect">
            <a:avLst/>
          </a:prstGeom>
        </p:spPr>
      </p:pic>
    </p:spTree>
    <p:extLst>
      <p:ext uri="{BB962C8B-B14F-4D97-AF65-F5344CB8AC3E}">
        <p14:creationId xmlns:p14="http://schemas.microsoft.com/office/powerpoint/2010/main" val="11173013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2026-09-25T13:17:15.4770000Z</dcterms:created>
  <dcterms:modified xsi:type="dcterms:W3CDTF">2026-09-25T13:17:15.4770000Z</dcterms:modified>
</coreProperties>
</file>